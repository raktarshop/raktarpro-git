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A_F9E96AB3.xml" ContentType="application/vnd.ms-powerpoint.comments+xml"/>
  <Override PartName="/ppt/notesSlides/notesSlide4.xml" ContentType="application/vnd.openxmlformats-officedocument.presentationml.notesSlide+xml"/>
  <Override PartName="/ppt/comments/modernComment_102_0.xml" ContentType="application/vnd.ms-powerpoint.comments+xml"/>
  <Override PartName="/ppt/notesSlides/notesSlide5.xml" ContentType="application/vnd.openxmlformats-officedocument.presentationml.notesSlide+xml"/>
  <Override PartName="/ppt/comments/modernComment_103_0.xml" ContentType="application/vnd.ms-powerpoint.comments+xml"/>
  <Override PartName="/ppt/notesSlides/notesSlide6.xml" ContentType="application/vnd.openxmlformats-officedocument.presentationml.notesSlide+xml"/>
  <Override PartName="/ppt/comments/modernComment_104_0.xml" ContentType="application/vnd.ms-powerpoint.comments+xml"/>
  <Override PartName="/ppt/notesSlides/notesSlide7.xml" ContentType="application/vnd.openxmlformats-officedocument.presentationml.notesSlide+xml"/>
  <Override PartName="/ppt/comments/modernComment_105_0.xml" ContentType="application/vnd.ms-powerpoint.comments+xml"/>
  <Override PartName="/ppt/notesSlides/notesSlide8.xml" ContentType="application/vnd.openxmlformats-officedocument.presentationml.notesSlide+xml"/>
  <Override PartName="/ppt/comments/modernComment_106_0.xml" ContentType="application/vnd.ms-powerpoint.comments+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omments/modernComment_107_0.xml" ContentType="application/vnd.ms-powerpoint.comments+xml"/>
  <Override PartName="/ppt/notesSlides/notesSlide11.xml" ContentType="application/vnd.openxmlformats-officedocument.presentationml.notesSlide+xml"/>
  <Override PartName="/ppt/comments/modernComment_108_0.xml" ContentType="application/vnd.ms-powerpoint.comments+xml"/>
  <Override PartName="/ppt/notesSlides/notesSlide12.xml" ContentType="application/vnd.openxmlformats-officedocument.presentationml.notesSlide+xml"/>
  <Override PartName="/ppt/comments/modernComment_109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66" r:id="rId4"/>
    <p:sldId id="258" r:id="rId5"/>
    <p:sldId id="259" r:id="rId6"/>
    <p:sldId id="260" r:id="rId7"/>
    <p:sldId id="261" r:id="rId8"/>
    <p:sldId id="262" r:id="rId9"/>
    <p:sldId id="267" r:id="rId10"/>
    <p:sldId id="268" r:id="rId11"/>
    <p:sldId id="263" r:id="rId12"/>
    <p:sldId id="269" r:id="rId13"/>
    <p:sldId id="264" r:id="rId14"/>
    <p:sldId id="265" r:id="rId15"/>
    <p:sldId id="270" r:id="rId16"/>
  </p:sldIdLst>
  <p:sldSz cx="14630400" cy="8229600"/>
  <p:notesSz cx="8229600" cy="14630400"/>
  <p:embeddedFontLst>
    <p:embeddedFont>
      <p:font typeface="Instrument Sans Medium" panose="020B0604020202020204" charset="0"/>
      <p:regular r:id="rId18"/>
    </p:embeddedFont>
    <p:embeddedFont>
      <p:font typeface="Inter" panose="020B0604020202020204" charset="0"/>
      <p:regular r:id="rId19"/>
    </p:embeddedFont>
  </p:embeddedFontLst>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44541B-691A-29BA-FA72-941396CE8F9F}" name="O365 felhasználó" initials="Of" userId="S::f6930181-8774-4902-8da4-0a7f7efe998e@m365.edu.hu::690c30f9-ab6e-4163-bb01-a4d228755b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D5FA"/>
    <a:srgbClr val="242429"/>
    <a:srgbClr val="EBDA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err="1">
                <a:solidFill>
                  <a:srgbClr val="EFD5FA"/>
                </a:solidFill>
              </a:rPr>
              <a:t>Idő</a:t>
            </a:r>
            <a:endParaRPr lang="en-US" dirty="0">
              <a:solidFill>
                <a:srgbClr val="EFD5FA"/>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u-HU"/>
        </a:p>
      </c:txPr>
    </c:title>
    <c:autoTitleDeleted val="0"/>
    <c:plotArea>
      <c:layout/>
      <c:pieChart>
        <c:varyColors val="1"/>
        <c:ser>
          <c:idx val="0"/>
          <c:order val="0"/>
          <c:tx>
            <c:strRef>
              <c:f>Munka1!$B$1</c:f>
              <c:strCache>
                <c:ptCount val="1"/>
                <c:pt idx="0">
                  <c:v>Idő</c:v>
                </c:pt>
              </c:strCache>
            </c:strRef>
          </c:tx>
          <c:dPt>
            <c:idx val="0"/>
            <c:bubble3D val="0"/>
            <c:spPr>
              <a:solidFill>
                <a:schemeClr val="accent2"/>
              </a:solidFill>
              <a:ln w="19050">
                <a:solidFill>
                  <a:schemeClr val="lt1"/>
                </a:solidFill>
              </a:ln>
              <a:effectLst/>
            </c:spPr>
          </c:dPt>
          <c:dPt>
            <c:idx val="1"/>
            <c:bubble3D val="0"/>
            <c:spPr>
              <a:solidFill>
                <a:schemeClr val="accent4"/>
              </a:solidFill>
              <a:ln w="19050">
                <a:solidFill>
                  <a:schemeClr val="lt1"/>
                </a:solidFill>
              </a:ln>
              <a:effectLst/>
            </c:spPr>
          </c:dPt>
          <c:dPt>
            <c:idx val="2"/>
            <c:bubble3D val="0"/>
            <c:spPr>
              <a:solidFill>
                <a:schemeClr val="accent6"/>
              </a:solidFill>
              <a:ln w="19050">
                <a:solidFill>
                  <a:schemeClr val="lt1"/>
                </a:solidFill>
              </a:ln>
              <a:effectLst/>
            </c:spPr>
          </c:dPt>
          <c:dPt>
            <c:idx val="3"/>
            <c:bubble3D val="0"/>
            <c:spPr>
              <a:solidFill>
                <a:schemeClr val="accent2">
                  <a:lumMod val="60000"/>
                </a:schemeClr>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Munka1!$A$2:$A$5</c:f>
              <c:strCache>
                <c:ptCount val="3"/>
                <c:pt idx="0">
                  <c:v>Molnár Dániel</c:v>
                </c:pt>
                <c:pt idx="1">
                  <c:v>Molnár Máté</c:v>
                </c:pt>
                <c:pt idx="2">
                  <c:v>Trubics Gorán</c:v>
                </c:pt>
              </c:strCache>
            </c:strRef>
          </c:cat>
          <c:val>
            <c:numRef>
              <c:f>Munka1!$B$2:$B$5</c:f>
              <c:numCache>
                <c:formatCode>[h]:mm:ss</c:formatCode>
                <c:ptCount val="4"/>
                <c:pt idx="0">
                  <c:v>2.5479166666666666</c:v>
                </c:pt>
                <c:pt idx="1">
                  <c:v>2.4923611111111112</c:v>
                </c:pt>
                <c:pt idx="2">
                  <c:v>2.411111111111111</c:v>
                </c:pt>
              </c:numCache>
            </c:numRef>
          </c:val>
          <c:extLst>
            <c:ext xmlns:c16="http://schemas.microsoft.com/office/drawing/2014/chart" uri="{C3380CC4-5D6E-409C-BE32-E72D297353CC}">
              <c16:uniqueId val="{00000000-5FDB-4BF0-B775-95E9369C0E39}"/>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layout>
        <c:manualLayout>
          <c:xMode val="edge"/>
          <c:yMode val="edge"/>
          <c:x val="0.30173320620078742"/>
          <c:y val="0.9014376230314961"/>
          <c:w val="0.41736681840551176"/>
          <c:h val="9.8562376968503937E-2"/>
        </c:manualLayout>
      </c:layout>
      <c:overlay val="0"/>
      <c:spPr>
        <a:noFill/>
        <a:ln>
          <a:noFill/>
        </a:ln>
        <a:effectLst/>
      </c:spPr>
      <c:txPr>
        <a:bodyPr rot="0" spcFirstLastPara="1" vertOverflow="ellipsis" vert="horz" wrap="square" anchor="ctr" anchorCtr="1"/>
        <a:lstStyle/>
        <a:p>
          <a:pPr>
            <a:defRPr sz="1400" b="0" i="0" u="none" strike="noStrike" kern="1200" baseline="0">
              <a:solidFill>
                <a:srgbClr val="EFD5FA"/>
              </a:solidFill>
              <a:latin typeface="+mn-lt"/>
              <a:ea typeface="+mn-ea"/>
              <a:cs typeface="+mn-cs"/>
            </a:defRPr>
          </a:pPr>
          <a:endParaRPr lang="hu-H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F9E96AB3.xml><?xml version="1.0" encoding="utf-8"?>
<p188:cmLst xmlns:a="http://schemas.openxmlformats.org/drawingml/2006/main" xmlns:r="http://schemas.openxmlformats.org/officeDocument/2006/relationships" xmlns:p188="http://schemas.microsoft.com/office/powerpoint/2018/8/main">
  <p188:cm id="{3D7B2DC0-E779-43D5-A882-08457D4F576B}" authorId="{F444541B-691A-29BA-FA72-941396CE8F9F}" created="2026-02-18T12:42:54.428">
    <pc:sldMkLst xmlns:pc="http://schemas.microsoft.com/office/powerpoint/2013/main/command">
      <pc:docMk/>
      <pc:sldMk cId="4192823987" sldId="266"/>
    </pc:sldMkLst>
    <p188:txBody>
      <a:bodyPr/>
      <a:lstStyle/>
      <a:p>
        <a:r>
          <a:rPr lang="hu-HU"/>
          <a:t>"RaktarPro is a price comparison system.
Its main purpose is to help users find the best available price for a product.
The system collects product data and displays the optimal offer in a clear and easy-to-use interface."</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FAED5EEA-A5E7-4C6A-B6FC-BB0DBE79083B}" authorId="{F444541B-691A-29BA-FA72-941396CE8F9F}" created="2026-02-18T12:42:45.221">
    <pc:sldMkLst xmlns:pc="http://schemas.microsoft.com/office/powerpoint/2013/main/command">
      <pc:docMk/>
      <pc:sldMk cId="0" sldId="257"/>
    </pc:sldMkLst>
    <p188:txBody>
      <a:bodyPr/>
      <a:lstStyle/>
      <a:p>
        <a:r>
          <a:rPr lang="hu-HU"/>
          <a:t>"In this presentation, we will first introduce the system and the problem it solves.
Then we will show how we developed it, starting with the database, followed by the backend, and finally the frontend.
At the end, we will present the key features and future improvements."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6D0DCC1A-33DD-4ACF-899B-6F40437A55FC}" authorId="{F444541B-691A-29BA-FA72-941396CE8F9F}" created="2026-02-18T12:43:03.562">
    <pc:sldMkLst xmlns:pc="http://schemas.microsoft.com/office/powerpoint/2013/main/command">
      <pc:docMk/>
      <pc:sldMk cId="0" sldId="258"/>
    </pc:sldMkLst>
    <p188:txBody>
      <a:bodyPr/>
      <a:lstStyle/>
      <a:p>
        <a:r>
          <a:rPr lang="hu-HU"/>
          <a:t>"One of the main problems in online shopping is that users need to search many websites to find the best price.
This process takes time and is inefficient.
Our goal was to create a system that simplifies this process and provides better results."
</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DDC6890D-7FC0-446C-B731-E403638D23B4}" authorId="{F444541B-691A-29BA-FA72-941396CE8F9F}" created="2026-02-18T12:43:12.470">
    <pc:sldMkLst xmlns:pc="http://schemas.microsoft.com/office/powerpoint/2013/main/command">
      <pc:docMk/>
      <pc:sldMk cId="0" sldId="259"/>
    </pc:sldMkLst>
    <p188:txBody>
      <a:bodyPr/>
      <a:lstStyle/>
      <a:p>
        <a:r>
          <a:rPr lang="hu-HU"/>
          <a:t>"We developed the system in three main stages.
First, we designed the database structure, which serves as the foundation of the system.
Then the backend was developed to handle logic and communication.
Finally, the frontend was built to allow users to interact with the system."</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5466D0D7-D820-474B-BF66-7A45489DDB3E}" authorId="{F444541B-691A-29BA-FA72-941396CE8F9F}" created="2026-02-18T12:43:22.045">
    <pc:sldMkLst xmlns:pc="http://schemas.microsoft.com/office/powerpoint/2013/main/command">
      <pc:docMk/>
      <pc:sldMk cId="0" sldId="260"/>
    </pc:sldMkLst>
    <p188:txBody>
      <a:bodyPr/>
      <a:lstStyle/>
      <a:p>
        <a:r>
          <a:rPr lang="hu-HU"/>
          <a:t>"This is the frontend part of the system.
It allows users to browse products, view prices, and interact with the application.
We focused on creating a responsive and user-friendly interface."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F72F16EA-2E33-4DA5-B78D-1BC91F240EE9}" authorId="{F444541B-691A-29BA-FA72-941396CE8F9F}" created="2026-02-18T12:43:44.091">
    <pc:sldMkLst xmlns:pc="http://schemas.microsoft.com/office/powerpoint/2013/main/command">
      <pc:docMk/>
      <pc:sldMk cId="0" sldId="261"/>
    </pc:sldMkLst>
    <p188:txBody>
      <a:bodyPr/>
      <a:lstStyle/>
      <a:p>
        <a:r>
          <a:rPr lang="hu-HU"/>
          <a:t>"The backend connects the frontend and the database.
It receives requests from the frontend, processes the data, and retrieves product information.
It also handles authentication and ensures secure communication."</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4EB20667-BAA0-45AC-BAE3-3ED84A8F0DA6}" authorId="{F444541B-691A-29BA-FA72-941396CE8F9F}" created="2026-02-18T12:43:31.446">
    <pc:sldMkLst xmlns:pc="http://schemas.microsoft.com/office/powerpoint/2013/main/command">
      <pc:docMk/>
      <pc:sldMk cId="0" sldId="262"/>
    </pc:sldMkLst>
    <p188:txBody>
      <a:bodyPr/>
      <a:lstStyle/>
      <a:p>
        <a:r>
          <a:rPr lang="hu-HU"/>
          <a:t>"This slide shows our MySQL relational database.
It stores all important data such as products, users, and orders.
We used primary and foreign keys to ensure data consistency and a clear structure.
This database supports the entire application."</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3161A7AD-010E-4D60-8278-9C631980FD0F}" authorId="{F444541B-691A-29BA-FA72-941396CE8F9F}" created="2026-02-18T12:43:56.812">
    <pc:sldMkLst xmlns:pc="http://schemas.microsoft.com/office/powerpoint/2013/main/command">
      <pc:docMk/>
      <pc:sldMk cId="0" sldId="263"/>
    </pc:sldMkLst>
    <p188:txBody>
      <a:bodyPr/>
      <a:lstStyle/>
      <a:p>
        <a:r>
          <a:rPr lang="hu-HU"/>
          <a:t>"The admin panel allows administrators to manage products and system data.
A very important feature is strong admin support.
Administrators can quickly respond and provide accurate assistance to improve the user experience."</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EC873AF2-4BEF-45F1-A6CD-638D3545F4BB}" authorId="{F444541B-691A-29BA-FA72-941396CE8F9F}" created="2026-02-18T12:44:06.289">
    <pc:sldMkLst xmlns:pc="http://schemas.microsoft.com/office/powerpoint/2013/main/command">
      <pc:docMk/>
      <pc:sldMk cId="0" sldId="264"/>
    </pc:sldMkLst>
    <p188:txBody>
      <a:bodyPr/>
      <a:lstStyle/>
      <a:p>
        <a:r>
          <a:rPr lang="hu-HU"/>
          <a:t>"Our goal was to create a modern and intuitive design.
Users can quickly find products and view the best available prices.
The system also supports dark and light mode."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B95DFC3C-91C6-4609-99B3-3CA673848329}" authorId="{F444541B-691A-29BA-FA72-941396CE8F9F}" created="2026-02-18T12:44:27.372">
    <pc:sldMkLst xmlns:pc="http://schemas.microsoft.com/office/powerpoint/2013/main/command">
      <pc:docMk/>
      <pc:sldMk cId="0" sldId="265"/>
    </pc:sldMkLst>
    <p188:txBody>
      <a:bodyPr/>
      <a:lstStyle/>
      <a:p>
        <a:r>
          <a:rPr lang="hu-HU"/>
          <a:t>"In conclusion, we developed a full-stack price comparison system.
It includes a structured database, secure backend, and modern frontend.
In the future, we plan to expand the system and improve its functionality.
Thank you for your attention."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935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r>
              <a:rPr lang="hu-HU" dirty="0" err="1"/>
              <a:t>Today</a:t>
            </a:r>
            <a:r>
              <a:rPr lang="hu-HU" dirty="0"/>
              <a:t> </a:t>
            </a:r>
            <a:r>
              <a:rPr lang="en-US" dirty="0"/>
              <a:t>we would like to present our project called </a:t>
            </a:r>
            <a:r>
              <a:rPr lang="en-US" dirty="0" err="1"/>
              <a:t>RaktarPro</a:t>
            </a:r>
            <a:r>
              <a:rPr lang="en-US" dirty="0"/>
              <a:t>.</a:t>
            </a:r>
          </a:p>
          <a:p>
            <a:r>
              <a:rPr lang="en-US" dirty="0"/>
              <a:t>This project is a customer-focused warehouse and online store system.</a:t>
            </a:r>
          </a:p>
          <a:p>
            <a:r>
              <a:rPr lang="en-US" dirty="0"/>
              <a:t>Our goal was to create a modern platform where warehouse management and customer service work together efficiently.</a:t>
            </a:r>
          </a:p>
          <a:p>
            <a:r>
              <a:rPr lang="en-US" dirty="0"/>
              <a:t>In this presentation, we will show the problem, our solution, the system architecture, and the main features.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r>
              <a:rPr lang="en-US" dirty="0"/>
              <a:t>First, we will introduce what </a:t>
            </a:r>
            <a:r>
              <a:rPr lang="en-US" dirty="0" err="1"/>
              <a:t>RaktarPro</a:t>
            </a:r>
            <a:r>
              <a:rPr lang="en-US" dirty="0"/>
              <a:t> is and who it is designed for.</a:t>
            </a:r>
          </a:p>
          <a:p>
            <a:r>
              <a:rPr lang="en-US" dirty="0"/>
              <a:t>Then, we will explain the main problem that our system solves.</a:t>
            </a:r>
          </a:p>
          <a:p>
            <a:r>
              <a:rPr lang="en-US" dirty="0"/>
              <a:t>After that, we will present our project goals and the development process, including frontend, backend, and database.</a:t>
            </a:r>
          </a:p>
          <a:p>
            <a:r>
              <a:rPr lang="en-US" dirty="0"/>
              <a:t>Finally, we will show the key features, user experience, future plans, and conclude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Jegyzetek helye 2"/>
          <p:cNvSpPr>
            <a:spLocks noGrp="1"/>
          </p:cNvSpPr>
          <p:nvPr>
            <p:ph type="body" idx="1"/>
          </p:nvPr>
        </p:nvSpPr>
        <p:spPr>
          <a:xfrm>
            <a:off x="822325" y="7040563"/>
            <a:ext cx="6584950" cy="5761037"/>
          </a:xfrm>
          <a:prstGeom prst="rect">
            <a:avLst/>
          </a:prstGeom>
        </p:spPr>
        <p:txBody>
          <a:bodyPr/>
          <a:lstStyle/>
          <a:p>
            <a:r>
              <a:rPr lang="hu-HU" dirty="0"/>
              <a:t>Dani</a:t>
            </a:r>
          </a:p>
          <a:p>
            <a:endParaRPr lang="hu-HU" dirty="0"/>
          </a:p>
          <a:p>
            <a:r>
              <a:rPr lang="en-US" dirty="0" err="1"/>
              <a:t>RaktarPro</a:t>
            </a:r>
            <a:r>
              <a:rPr lang="en-US" dirty="0"/>
              <a:t> is a modern warehouse and online store management system.</a:t>
            </a:r>
          </a:p>
          <a:p>
            <a:r>
              <a:rPr lang="en-US" dirty="0"/>
              <a:t>Our main philosophy is customer-first.</a:t>
            </a:r>
          </a:p>
          <a:p>
            <a:r>
              <a:rPr lang="en-US" dirty="0"/>
              <a:t>We aim to provide as many products as possible while keeping prices competitive.</a:t>
            </a:r>
          </a:p>
          <a:p>
            <a:r>
              <a:rPr lang="en-US" dirty="0"/>
              <a:t>The system ensures fast product access, reliable stock management, and a smooth customer experience.</a:t>
            </a:r>
          </a:p>
        </p:txBody>
      </p:sp>
    </p:spTree>
    <p:extLst>
      <p:ext uri="{BB962C8B-B14F-4D97-AF65-F5344CB8AC3E}">
        <p14:creationId xmlns:p14="http://schemas.microsoft.com/office/powerpoint/2010/main" val="907370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"One of the main problems in online shopping is that users need to search many websites to find the best price.</a:t>
            </a:r>
          </a:p>
          <a:p>
            <a:r>
              <a:rPr lang="en-US" dirty="0"/>
              <a:t>This process takes time and is inefficient.</a:t>
            </a:r>
          </a:p>
          <a:p>
            <a:r>
              <a:rPr lang="en-US" dirty="0"/>
              <a:t>Our goal was to create a system that simplifies this process and provides better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"We developed the system in three main stages.</a:t>
            </a:r>
          </a:p>
          <a:p>
            <a:r>
              <a:rPr lang="en-US" dirty="0"/>
              <a:t>First, we designed the database structure, which serves as the foundation of the system.</a:t>
            </a:r>
          </a:p>
          <a:p>
            <a:r>
              <a:rPr lang="en-US" dirty="0"/>
              <a:t>Then the backend was developed to handle logic and communication.</a:t>
            </a:r>
          </a:p>
          <a:p>
            <a:r>
              <a:rPr lang="en-US" dirty="0"/>
              <a:t>Finally, the frontend was built to allow users to interact with the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a:t>
            </a:r>
          </a:p>
          <a:p>
            <a:endParaRPr lang="hu-HU" dirty="0"/>
          </a:p>
          <a:p>
            <a:r>
              <a:rPr lang="en-US" dirty="0"/>
              <a:t>"This is the frontend part of the system.</a:t>
            </a:r>
          </a:p>
          <a:p>
            <a:r>
              <a:rPr lang="en-US" dirty="0"/>
              <a:t>It allows users to browse products, view prices, and interact with the application.</a:t>
            </a:r>
          </a:p>
          <a:p>
            <a:r>
              <a:rPr lang="en-US" dirty="0"/>
              <a:t>We focused on creating a responsive and user-friendly interface.„</a:t>
            </a:r>
            <a:endParaRPr lang="hu-HU" dirty="0"/>
          </a:p>
          <a:p>
            <a:endParaRPr lang="hu-HU" dirty="0"/>
          </a:p>
          <a:p>
            <a:endParaRPr lang="hu-HU" dirty="0"/>
          </a:p>
          <a:p>
            <a:r>
              <a:rPr lang="hu-HU" dirty="0"/>
              <a:t>Frontend </a:t>
            </a:r>
            <a:r>
              <a:rPr lang="hu-HU" dirty="0" err="1"/>
              <a:t>connects</a:t>
            </a:r>
            <a:r>
              <a:rPr lang="hu-HU" dirty="0"/>
              <a:t> </a:t>
            </a:r>
            <a:r>
              <a:rPr lang="hu-HU" dirty="0" err="1"/>
              <a:t>the</a:t>
            </a:r>
            <a:r>
              <a:rPr lang="hu-HU" dirty="0"/>
              <a:t> backend </a:t>
            </a:r>
            <a:r>
              <a:rPr lang="hu-HU" dirty="0" err="1"/>
              <a:t>trhu</a:t>
            </a:r>
            <a:r>
              <a:rPr lang="hu-HU" dirty="0"/>
              <a:t> </a:t>
            </a:r>
            <a:r>
              <a:rPr lang="hu-HU" dirty="0" err="1"/>
              <a:t>restapi</a:t>
            </a:r>
            <a:r>
              <a:rPr lang="hu-HU" dirty="0"/>
              <a:t>, </a:t>
            </a:r>
            <a:r>
              <a:rPr lang="hu-HU" dirty="0" err="1"/>
              <a:t>the</a:t>
            </a:r>
            <a:r>
              <a:rPr lang="hu-HU" dirty="0"/>
              <a:t> frontend </a:t>
            </a:r>
            <a:r>
              <a:rPr lang="hu-HU" dirty="0" err="1"/>
              <a:t>send</a:t>
            </a:r>
            <a:r>
              <a:rPr lang="hu-HU" dirty="0"/>
              <a:t> a </a:t>
            </a:r>
            <a:r>
              <a:rPr lang="hu-HU" dirty="0" err="1"/>
              <a:t>request</a:t>
            </a:r>
            <a:r>
              <a:rPr lang="hu-HU" dirty="0"/>
              <a:t> and </a:t>
            </a:r>
            <a:r>
              <a:rPr lang="hu-HU" dirty="0" err="1"/>
              <a:t>the</a:t>
            </a:r>
            <a:r>
              <a:rPr lang="hu-HU" dirty="0"/>
              <a:t> backend </a:t>
            </a:r>
            <a:r>
              <a:rPr lang="hu-HU" dirty="0" err="1"/>
              <a:t>send</a:t>
            </a:r>
            <a:r>
              <a:rPr lang="hu-HU" dirty="0"/>
              <a:t> </a:t>
            </a:r>
            <a:r>
              <a:rPr lang="hu-HU" dirty="0" err="1"/>
              <a:t>the</a:t>
            </a:r>
            <a:r>
              <a:rPr lang="hu-HU" dirty="0"/>
              <a:t> </a:t>
            </a:r>
            <a:r>
              <a:rPr lang="hu-HU" dirty="0" err="1"/>
              <a:t>data</a:t>
            </a:r>
            <a:r>
              <a:rPr lang="hu-HU" dirty="0"/>
              <a:t> back </a:t>
            </a:r>
            <a:r>
              <a:rPr lang="hu-HU" dirty="0" err="1"/>
              <a:t>using</a:t>
            </a:r>
            <a:r>
              <a:rPr lang="hu-HU" dirty="0"/>
              <a:t> a </a:t>
            </a:r>
            <a:r>
              <a:rPr lang="hu-HU" dirty="0" err="1"/>
              <a:t>json</a:t>
            </a:r>
            <a:r>
              <a:rPr lang="hu-HU" dirty="0"/>
              <a:t> </a:t>
            </a:r>
            <a:r>
              <a:rPr lang="hu-HU" dirty="0" err="1"/>
              <a:t>formatum</a:t>
            </a:r>
            <a:endParaRPr lang="hu-HU"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endParaRPr lang="hu-HU" dirty="0"/>
          </a:p>
          <a:p>
            <a:r>
              <a:rPr lang="en-US" dirty="0"/>
              <a:t>The backend is the system core.</a:t>
            </a:r>
          </a:p>
          <a:p>
            <a:r>
              <a:rPr lang="en-US" dirty="0"/>
              <a:t>It handles product data, users, and system logic.</a:t>
            </a:r>
          </a:p>
          <a:p>
            <a:r>
              <a:rPr lang="en-US" dirty="0"/>
              <a:t>It ensures smooth communication between all system parts.</a:t>
            </a:r>
            <a:endParaRPr lang="hu-HU" dirty="0"/>
          </a:p>
          <a:p>
            <a:endParaRPr lang="hu-HU" dirty="0"/>
          </a:p>
          <a:p>
            <a:r>
              <a:rPr lang="hu-HU" dirty="0"/>
              <a:t>(mondj el meg par dolgot a </a:t>
            </a:r>
            <a:r>
              <a:rPr lang="hu-HU" dirty="0" err="1"/>
              <a:t>diarol</a:t>
            </a:r>
            <a:r>
              <a:rPr lang="hu-HU" dirty="0"/>
              <a:t> melle, es hogy milyen sorrendbe </a:t>
            </a:r>
            <a:r>
              <a:rPr lang="hu-HU" dirty="0" err="1"/>
              <a:t>csinaltad</a:t>
            </a:r>
            <a:r>
              <a:rPr lang="hu-HU"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b="0" i="0" kern="1200" dirty="0">
                <a:solidFill>
                  <a:schemeClr val="tx1"/>
                </a:solidFill>
                <a:effectLst/>
                <a:latin typeface="+mn-lt"/>
                <a:ea typeface="+mn-ea"/>
                <a:cs typeface="+mn-cs"/>
              </a:rPr>
              <a:t>Máté</a:t>
            </a:r>
          </a:p>
          <a:p>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use SQL to store and manage data in a database</a:t>
            </a:r>
            <a:r>
              <a:rPr lang="hu-HU"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Columns show what kind of data I store, for example name, price, or date.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Rows show one piece of data, like one product or one user.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connect tables with keys. A primary key identifies one record. A foreign key connects different tables.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With stored procedure, I can create, insert, select, update, and delete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Jegyzetek helye 2"/>
          <p:cNvSpPr>
            <a:spLocks noGrp="1"/>
          </p:cNvSpPr>
          <p:nvPr>
            <p:ph type="body" idx="1"/>
          </p:nvPr>
        </p:nvSpPr>
        <p:spPr>
          <a:xfrm>
            <a:off x="822325" y="7040563"/>
            <a:ext cx="6584950" cy="5761037"/>
          </a:xfrm>
          <a:prstGeom prst="rect">
            <a:avLst/>
          </a:prstGeom>
        </p:spPr>
        <p:txBody>
          <a:bodyPr/>
          <a:lstStyle/>
          <a:p>
            <a:r>
              <a:rPr lang="hu-HU" dirty="0"/>
              <a:t>Gorán</a:t>
            </a:r>
          </a:p>
          <a:p>
            <a:endParaRPr lang="hu-HU" dirty="0"/>
          </a:p>
        </p:txBody>
      </p:sp>
    </p:spTree>
    <p:extLst>
      <p:ext uri="{BB962C8B-B14F-4D97-AF65-F5344CB8AC3E}">
        <p14:creationId xmlns:p14="http://schemas.microsoft.com/office/powerpoint/2010/main" val="21820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 </a:t>
            </a:r>
          </a:p>
          <a:p>
            <a:endParaRPr lang="hu-HU" dirty="0"/>
          </a:p>
          <a:p>
            <a:r>
              <a:rPr lang="en-US" dirty="0"/>
              <a:t>"The admin panel allows administrators to manage products and system data.</a:t>
            </a:r>
          </a:p>
          <a:p>
            <a:r>
              <a:rPr lang="en-US" dirty="0"/>
              <a:t>A very important feature is strong admin support.</a:t>
            </a:r>
          </a:p>
          <a:p>
            <a:r>
              <a:rPr lang="en-US" dirty="0"/>
              <a:t>Administrators can quickly respond and provide accurate assistance to improve the user experience."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When designing the system, our main focus was the customer experience.</a:t>
            </a:r>
          </a:p>
          <a:p>
            <a:r>
              <a:rPr lang="en-US" dirty="0"/>
              <a:t>We wanted users to easily find products, view important information, and navigate without confusion.</a:t>
            </a:r>
          </a:p>
          <a:p>
            <a:r>
              <a:rPr lang="en-US" dirty="0"/>
              <a:t>The interface is fast, clear, and intuitive.</a:t>
            </a:r>
          </a:p>
          <a:p>
            <a:r>
              <a:rPr lang="en-US" dirty="0"/>
              <a:t>Customers can see product availability, details, and make decisions quickly.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a:t>
            </a:r>
          </a:p>
          <a:p>
            <a:endParaRPr lang="hu-HU" dirty="0"/>
          </a:p>
          <a:p>
            <a:r>
              <a:rPr lang="en-US" dirty="0"/>
              <a:t>"In conclusion, we developed a full-stack price comparison system.</a:t>
            </a:r>
          </a:p>
          <a:p>
            <a:r>
              <a:rPr lang="en-US" dirty="0"/>
              <a:t>It includes a structured database, secure backend, and modern frontend.</a:t>
            </a:r>
          </a:p>
          <a:p>
            <a:r>
              <a:rPr lang="en-US" dirty="0"/>
              <a:t>In the future, we plan to expand the system and improve its functionality.</a:t>
            </a:r>
          </a:p>
          <a:p>
            <a:r>
              <a:rPr lang="en-US" dirty="0"/>
              <a:t>Thank you for your attention."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A_F9E96AB3.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microsoft.com/office/2018/10/relationships/comments" Target="../comments/modernComment_105_0.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RaktarPro — Warehouse Management Web App</a:t>
            </a:r>
            <a:endParaRPr lang="en-US" sz="4450" dirty="0"/>
          </a:p>
        </p:txBody>
      </p:sp>
      <p:sp>
        <p:nvSpPr>
          <p:cNvPr id="4" name="Text 1"/>
          <p:cNvSpPr/>
          <p:nvPr/>
        </p:nvSpPr>
        <p:spPr>
          <a:xfrm>
            <a:off x="6227313" y="4301967"/>
            <a:ext cx="7556421" cy="1451610"/>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5" name="Téglalap 4">
            <a:extLst>
              <a:ext uri="{FF2B5EF4-FFF2-40B4-BE49-F238E27FC236}">
                <a16:creationId xmlns:a16="http://schemas.microsoft.com/office/drawing/2014/main" id="{ED278161-CEE3-75DC-5F0F-5D85D774279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29" name="Kép 28" descr="A képen szimbólum, embléma, Grafika, kör látható&#10;&#10;Előfordulhat, hogy az AI által létrehozott tartalom helytelen.">
            <a:extLst>
              <a:ext uri="{FF2B5EF4-FFF2-40B4-BE49-F238E27FC236}">
                <a16:creationId xmlns:a16="http://schemas.microsoft.com/office/drawing/2014/main" id="{5B0B1350-7057-7A3C-ED24-92E485060FC2}"/>
              </a:ext>
            </a:extLst>
          </p:cNvPr>
          <p:cNvPicPr>
            <a:picLocks noChangeAspect="1"/>
          </p:cNvPicPr>
          <p:nvPr/>
        </p:nvPicPr>
        <p:blipFill>
          <a:blip r:embed="rId4"/>
          <a:stretch>
            <a:fillRect/>
          </a:stretch>
        </p:blipFill>
        <p:spPr>
          <a:xfrm>
            <a:off x="12598400" y="6059566"/>
            <a:ext cx="1913467" cy="1913467"/>
          </a:xfrm>
          <a:prstGeom prst="rect">
            <a:avLst/>
          </a:prstGeom>
        </p:spPr>
      </p:pic>
      <p:sp>
        <p:nvSpPr>
          <p:cNvPr id="6" name="Szövegdoboz 5">
            <a:extLst>
              <a:ext uri="{FF2B5EF4-FFF2-40B4-BE49-F238E27FC236}">
                <a16:creationId xmlns:a16="http://schemas.microsoft.com/office/drawing/2014/main" id="{844393F5-8952-7E36-6BFB-3B2C87029B9F}"/>
              </a:ext>
            </a:extLst>
          </p:cNvPr>
          <p:cNvSpPr txBox="1"/>
          <p:nvPr/>
        </p:nvSpPr>
        <p:spPr>
          <a:xfrm>
            <a:off x="6280190" y="4264635"/>
            <a:ext cx="6608154" cy="1477328"/>
          </a:xfrm>
          <a:prstGeom prst="rect">
            <a:avLst/>
          </a:prstGeom>
          <a:noFill/>
        </p:spPr>
        <p:txBody>
          <a:bodyPr wrap="square" rtlCol="0">
            <a:spAutoFit/>
          </a:bodyPr>
          <a:lstStyle/>
          <a:p>
            <a:r>
              <a:rPr lang="hu-HU" dirty="0" err="1">
                <a:solidFill>
                  <a:schemeClr val="bg1"/>
                </a:solidFill>
              </a:rPr>
              <a:t>Made</a:t>
            </a:r>
            <a:r>
              <a:rPr lang="hu-HU" dirty="0">
                <a:solidFill>
                  <a:schemeClr val="bg1"/>
                </a:solidFill>
              </a:rPr>
              <a:t> </a:t>
            </a:r>
            <a:r>
              <a:rPr lang="hu-HU" dirty="0" err="1">
                <a:solidFill>
                  <a:schemeClr val="bg1"/>
                </a:solidFill>
              </a:rPr>
              <a:t>by</a:t>
            </a:r>
            <a:r>
              <a:rPr lang="hu-HU" dirty="0">
                <a:solidFill>
                  <a:schemeClr val="bg1"/>
                </a:solidFill>
              </a:rPr>
              <a:t> -</a:t>
            </a:r>
          </a:p>
          <a:p>
            <a:endParaRPr lang="hu-HU" dirty="0">
              <a:solidFill>
                <a:schemeClr val="bg1"/>
              </a:solidFill>
            </a:endParaRPr>
          </a:p>
          <a:p>
            <a:r>
              <a:rPr lang="hu-HU" dirty="0">
                <a:solidFill>
                  <a:schemeClr val="bg1"/>
                </a:solidFill>
              </a:rPr>
              <a:t>Molnár Dániel</a:t>
            </a:r>
          </a:p>
          <a:p>
            <a:r>
              <a:rPr lang="hu-HU" dirty="0">
                <a:solidFill>
                  <a:schemeClr val="bg1"/>
                </a:solidFill>
              </a:rPr>
              <a:t>Molnár Máté</a:t>
            </a:r>
          </a:p>
          <a:p>
            <a:r>
              <a:rPr lang="hu-HU" dirty="0" err="1">
                <a:solidFill>
                  <a:schemeClr val="bg1"/>
                </a:solidFill>
              </a:rPr>
              <a:t>Trubics</a:t>
            </a:r>
            <a:r>
              <a:rPr lang="hu-HU" dirty="0">
                <a:solidFill>
                  <a:schemeClr val="bg1"/>
                </a:solidFill>
              </a:rPr>
              <a:t> Gorán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66174" y="1230055"/>
            <a:ext cx="3135868" cy="391954"/>
          </a:xfrm>
          <a:prstGeom prst="rect">
            <a:avLst/>
          </a:prstGeom>
          <a:noFill/>
          <a:ln/>
        </p:spPr>
        <p:txBody>
          <a:bodyPr wrap="none" lIns="0" tIns="0" rIns="0" bIns="0" rtlCol="0" anchor="t"/>
          <a:lstStyle/>
          <a:p>
            <a:pPr>
              <a:lnSpc>
                <a:spcPts val="3050"/>
              </a:lnSpc>
            </a:pPr>
            <a:r>
              <a:rPr lang="hu-HU" sz="4400" u="sng" dirty="0" err="1">
                <a:solidFill>
                  <a:srgbClr val="EFD5FA"/>
                </a:solidFill>
                <a:latin typeface="Instrument Sans Medium" pitchFamily="34" charset="0"/>
                <a:ea typeface="Instrument Sans Medium" pitchFamily="34" charset="-122"/>
                <a:cs typeface="Instrument Sans Medium" pitchFamily="34" charset="-120"/>
              </a:rPr>
              <a:t>Presentation</a:t>
            </a:r>
            <a:r>
              <a:rPr lang="hu-HU" sz="4400" u="sng" dirty="0">
                <a:solidFill>
                  <a:srgbClr val="EFD5FA"/>
                </a:solidFill>
                <a:latin typeface="Instrument Sans Medium" pitchFamily="34" charset="0"/>
                <a:ea typeface="Instrument Sans Medium" pitchFamily="34" charset="-122"/>
                <a:cs typeface="Instrument Sans Medium" pitchFamily="34" charset="-120"/>
              </a:rPr>
              <a:t> </a:t>
            </a:r>
            <a:r>
              <a:rPr lang="hu-HU" sz="4400" u="sng" dirty="0" err="1">
                <a:solidFill>
                  <a:srgbClr val="EFD5FA"/>
                </a:solidFill>
                <a:latin typeface="Instrument Sans Medium" pitchFamily="34" charset="0"/>
                <a:ea typeface="Instrument Sans Medium" pitchFamily="34" charset="-122"/>
                <a:cs typeface="Instrument Sans Medium" pitchFamily="34" charset="-120"/>
              </a:rPr>
              <a:t>overview</a:t>
            </a:r>
            <a:endParaRPr lang="en-US" sz="4400" u="sng" dirty="0"/>
          </a:p>
        </p:txBody>
      </p:sp>
      <p:sp>
        <p:nvSpPr>
          <p:cNvPr id="3" name="Shape 1"/>
          <p:cNvSpPr/>
          <p:nvPr/>
        </p:nvSpPr>
        <p:spPr>
          <a:xfrm>
            <a:off x="1238306" y="2474436"/>
            <a:ext cx="125373" cy="752594"/>
          </a:xfrm>
          <a:prstGeom prst="roundRect">
            <a:avLst>
              <a:gd name="adj" fmla="val 15007"/>
            </a:avLst>
          </a:prstGeom>
          <a:solidFill>
            <a:srgbClr val="434348"/>
          </a:solidFill>
          <a:ln/>
        </p:spPr>
        <p:txBody>
          <a:bodyPr/>
          <a:lstStyle/>
          <a:p>
            <a:endParaRPr lang="hu-HU"/>
          </a:p>
        </p:txBody>
      </p:sp>
      <p:sp>
        <p:nvSpPr>
          <p:cNvPr id="4" name="Text 2"/>
          <p:cNvSpPr/>
          <p:nvPr/>
        </p:nvSpPr>
        <p:spPr>
          <a:xfrm>
            <a:off x="1432974" y="2599809"/>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1 — Introduction</a:t>
            </a:r>
            <a:endParaRPr lang="en-US" dirty="0"/>
          </a:p>
        </p:txBody>
      </p:sp>
      <p:sp>
        <p:nvSpPr>
          <p:cNvPr id="5" name="Text 3"/>
          <p:cNvSpPr/>
          <p:nvPr/>
        </p:nvSpPr>
        <p:spPr>
          <a:xfrm>
            <a:off x="1432974" y="2905929"/>
            <a:ext cx="8460224"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What RaktarPro is and who it serves.</a:t>
            </a:r>
            <a:endParaRPr lang="en-US" dirty="0"/>
          </a:p>
        </p:txBody>
      </p:sp>
      <p:sp>
        <p:nvSpPr>
          <p:cNvPr id="6" name="Shape 4"/>
          <p:cNvSpPr/>
          <p:nvPr/>
        </p:nvSpPr>
        <p:spPr>
          <a:xfrm>
            <a:off x="1432974" y="3499622"/>
            <a:ext cx="125373" cy="752594"/>
          </a:xfrm>
          <a:prstGeom prst="roundRect">
            <a:avLst>
              <a:gd name="adj" fmla="val 15007"/>
            </a:avLst>
          </a:prstGeom>
          <a:solidFill>
            <a:srgbClr val="434348"/>
          </a:solidFill>
          <a:ln/>
        </p:spPr>
        <p:txBody>
          <a:bodyPr/>
          <a:lstStyle/>
          <a:p>
            <a:endParaRPr lang="hu-HU"/>
          </a:p>
        </p:txBody>
      </p:sp>
      <p:sp>
        <p:nvSpPr>
          <p:cNvPr id="7" name="Text 5"/>
          <p:cNvSpPr/>
          <p:nvPr/>
        </p:nvSpPr>
        <p:spPr>
          <a:xfrm>
            <a:off x="1627641" y="3624995"/>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2 — Problem</a:t>
            </a:r>
            <a:endParaRPr lang="en-US" dirty="0"/>
          </a:p>
        </p:txBody>
      </p:sp>
      <p:sp>
        <p:nvSpPr>
          <p:cNvPr id="8" name="Text 6"/>
          <p:cNvSpPr/>
          <p:nvPr/>
        </p:nvSpPr>
        <p:spPr>
          <a:xfrm>
            <a:off x="1627641" y="3964763"/>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Pain points in current warehouse operations.</a:t>
            </a:r>
            <a:endParaRPr lang="en-US" dirty="0"/>
          </a:p>
        </p:txBody>
      </p:sp>
      <p:sp>
        <p:nvSpPr>
          <p:cNvPr id="9" name="Shape 7"/>
          <p:cNvSpPr/>
          <p:nvPr/>
        </p:nvSpPr>
        <p:spPr>
          <a:xfrm>
            <a:off x="1677232" y="4484144"/>
            <a:ext cx="125373" cy="752594"/>
          </a:xfrm>
          <a:prstGeom prst="roundRect">
            <a:avLst>
              <a:gd name="adj" fmla="val 15007"/>
            </a:avLst>
          </a:prstGeom>
          <a:solidFill>
            <a:srgbClr val="434348"/>
          </a:solidFill>
          <a:ln/>
        </p:spPr>
        <p:txBody>
          <a:bodyPr/>
          <a:lstStyle/>
          <a:p>
            <a:endParaRPr lang="hu-HU"/>
          </a:p>
        </p:txBody>
      </p:sp>
      <p:sp>
        <p:nvSpPr>
          <p:cNvPr id="10" name="Text 8"/>
          <p:cNvSpPr/>
          <p:nvPr/>
        </p:nvSpPr>
        <p:spPr>
          <a:xfrm>
            <a:off x="1871899" y="4609516"/>
            <a:ext cx="1567934" cy="195977"/>
          </a:xfrm>
          <a:prstGeom prst="rect">
            <a:avLst/>
          </a:prstGeom>
          <a:noFill/>
          <a:ln/>
        </p:spPr>
        <p:txBody>
          <a:bodyPr wrap="none" lIns="0" tIns="0" rIns="0" bIns="0" rtlCol="0" anchor="t"/>
          <a:lstStyle/>
          <a:p>
            <a:pPr>
              <a:lnSpc>
                <a:spcPts val="1500"/>
              </a:lnSpc>
            </a:pPr>
            <a:r>
              <a:rPr lang="en-US" dirty="0">
                <a:solidFill>
                  <a:srgbClr val="C7CDD6"/>
                </a:solidFill>
                <a:latin typeface="Instrument Sans Medium" pitchFamily="34" charset="0"/>
                <a:ea typeface="Instrument Sans Medium" pitchFamily="34" charset="-122"/>
                <a:cs typeface="Instrument Sans Medium" pitchFamily="34" charset="-120"/>
              </a:rPr>
              <a:t>3 — </a:t>
            </a:r>
            <a:r>
              <a:rPr lang="hu-HU" dirty="0">
                <a:solidFill>
                  <a:srgbClr val="C7CDD6"/>
                </a:solidFill>
                <a:latin typeface="Instrument Sans Medium" pitchFamily="34" charset="0"/>
                <a:ea typeface="Instrument Sans Medium" pitchFamily="34" charset="-122"/>
                <a:cs typeface="Instrument Sans Medium" pitchFamily="34" charset="-120"/>
              </a:rPr>
              <a:t>Project </a:t>
            </a:r>
            <a:r>
              <a:rPr lang="hu-HU" dirty="0" err="1">
                <a:solidFill>
                  <a:srgbClr val="C7CDD6"/>
                </a:solidFill>
                <a:latin typeface="Instrument Sans Medium" pitchFamily="34" charset="0"/>
                <a:ea typeface="Instrument Sans Medium" pitchFamily="34" charset="-122"/>
                <a:cs typeface="Instrument Sans Medium" pitchFamily="34" charset="-120"/>
              </a:rPr>
              <a:t>goals</a:t>
            </a:r>
            <a:endParaRPr lang="hu-HU" dirty="0">
              <a:solidFill>
                <a:srgbClr val="C7CDD6"/>
              </a:solidFill>
              <a:latin typeface="Instrument Sans Medium" pitchFamily="34" charset="0"/>
              <a:ea typeface="Instrument Sans Medium" pitchFamily="34" charset="-122"/>
              <a:cs typeface="Instrument Sans Medium" pitchFamily="34" charset="-120"/>
            </a:endParaRPr>
          </a:p>
          <a:p>
            <a:pPr>
              <a:lnSpc>
                <a:spcPts val="1500"/>
              </a:lnSpc>
            </a:pPr>
            <a:endParaRPr lang="en-US" dirty="0"/>
          </a:p>
        </p:txBody>
      </p:sp>
      <p:sp>
        <p:nvSpPr>
          <p:cNvPr id="11" name="Text 9"/>
          <p:cNvSpPr/>
          <p:nvPr/>
        </p:nvSpPr>
        <p:spPr>
          <a:xfrm>
            <a:off x="1871899" y="4982392"/>
            <a:ext cx="8083987"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Project objectives and success criteria.</a:t>
            </a:r>
            <a:endParaRPr lang="en-US" dirty="0"/>
          </a:p>
        </p:txBody>
      </p:sp>
      <p:sp>
        <p:nvSpPr>
          <p:cNvPr id="12" name="Shape 10"/>
          <p:cNvSpPr/>
          <p:nvPr/>
        </p:nvSpPr>
        <p:spPr>
          <a:xfrm>
            <a:off x="1865351" y="5617797"/>
            <a:ext cx="125373" cy="752594"/>
          </a:xfrm>
          <a:prstGeom prst="roundRect">
            <a:avLst>
              <a:gd name="adj" fmla="val 15007"/>
            </a:avLst>
          </a:prstGeom>
          <a:solidFill>
            <a:srgbClr val="434348"/>
          </a:solidFill>
          <a:ln/>
        </p:spPr>
        <p:txBody>
          <a:bodyPr/>
          <a:lstStyle/>
          <a:p>
            <a:endParaRPr lang="hu-HU"/>
          </a:p>
        </p:txBody>
      </p:sp>
      <p:sp>
        <p:nvSpPr>
          <p:cNvPr id="13" name="Text 11"/>
          <p:cNvSpPr/>
          <p:nvPr/>
        </p:nvSpPr>
        <p:spPr>
          <a:xfrm>
            <a:off x="2060018" y="5743170"/>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4–6 — </a:t>
            </a:r>
            <a:r>
              <a:rPr lang="hu-HU" dirty="0" err="1">
                <a:solidFill>
                  <a:srgbClr val="C7CDD6"/>
                </a:solidFill>
                <a:latin typeface="Instrument Sans Medium" pitchFamily="34" charset="0"/>
                <a:ea typeface="Instrument Sans Medium" pitchFamily="34" charset="-122"/>
                <a:cs typeface="Instrument Sans Medium" pitchFamily="34" charset="-120"/>
              </a:rPr>
              <a:t>Development</a:t>
            </a:r>
            <a:r>
              <a:rPr lang="hu-HU" dirty="0">
                <a:solidFill>
                  <a:srgbClr val="C7CDD6"/>
                </a:solidFill>
                <a:latin typeface="Instrument Sans Medium" pitchFamily="34" charset="0"/>
                <a:ea typeface="Instrument Sans Medium" pitchFamily="34" charset="-122"/>
                <a:cs typeface="Instrument Sans Medium" pitchFamily="34" charset="-120"/>
              </a:rPr>
              <a:t> </a:t>
            </a:r>
            <a:r>
              <a:rPr lang="hu-HU" dirty="0" err="1">
                <a:solidFill>
                  <a:srgbClr val="C7CDD6"/>
                </a:solidFill>
                <a:latin typeface="Instrument Sans Medium" pitchFamily="34" charset="0"/>
                <a:ea typeface="Instrument Sans Medium" pitchFamily="34" charset="-122"/>
                <a:cs typeface="Instrument Sans Medium" pitchFamily="34" charset="-120"/>
              </a:rPr>
              <a:t>process</a:t>
            </a:r>
            <a:endParaRPr lang="en-US" dirty="0"/>
          </a:p>
        </p:txBody>
      </p:sp>
      <p:sp>
        <p:nvSpPr>
          <p:cNvPr id="14" name="Text 12"/>
          <p:cNvSpPr/>
          <p:nvPr/>
        </p:nvSpPr>
        <p:spPr>
          <a:xfrm>
            <a:off x="2060018" y="6058625"/>
            <a:ext cx="7895868"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Frontend, backend, database design.</a:t>
            </a:r>
            <a:endParaRPr lang="en-US" dirty="0"/>
          </a:p>
        </p:txBody>
      </p:sp>
      <p:sp>
        <p:nvSpPr>
          <p:cNvPr id="15" name="Shape 13"/>
          <p:cNvSpPr/>
          <p:nvPr/>
        </p:nvSpPr>
        <p:spPr>
          <a:xfrm>
            <a:off x="7460380" y="2567104"/>
            <a:ext cx="125373" cy="752594"/>
          </a:xfrm>
          <a:prstGeom prst="roundRect">
            <a:avLst>
              <a:gd name="adj" fmla="val 15007"/>
            </a:avLst>
          </a:prstGeom>
          <a:solidFill>
            <a:srgbClr val="434348"/>
          </a:solidFill>
          <a:ln/>
        </p:spPr>
        <p:txBody>
          <a:bodyPr/>
          <a:lstStyle/>
          <a:p>
            <a:endParaRPr lang="hu-HU"/>
          </a:p>
        </p:txBody>
      </p:sp>
      <p:sp>
        <p:nvSpPr>
          <p:cNvPr id="16" name="Text 14"/>
          <p:cNvSpPr/>
          <p:nvPr/>
        </p:nvSpPr>
        <p:spPr>
          <a:xfrm>
            <a:off x="7773872" y="2609768"/>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7 — Features</a:t>
            </a:r>
            <a:endParaRPr lang="en-US" dirty="0"/>
          </a:p>
        </p:txBody>
      </p:sp>
      <p:sp>
        <p:nvSpPr>
          <p:cNvPr id="17" name="Text 15"/>
          <p:cNvSpPr/>
          <p:nvPr/>
        </p:nvSpPr>
        <p:spPr>
          <a:xfrm>
            <a:off x="7836617" y="2983113"/>
            <a:ext cx="8083987"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Admin panel, inventory controls, UX highlights.</a:t>
            </a:r>
            <a:endParaRPr lang="en-US" dirty="0"/>
          </a:p>
        </p:txBody>
      </p:sp>
      <p:sp>
        <p:nvSpPr>
          <p:cNvPr id="18" name="Shape 16"/>
          <p:cNvSpPr/>
          <p:nvPr/>
        </p:nvSpPr>
        <p:spPr>
          <a:xfrm>
            <a:off x="7585753" y="3609420"/>
            <a:ext cx="125373" cy="752594"/>
          </a:xfrm>
          <a:prstGeom prst="roundRect">
            <a:avLst>
              <a:gd name="adj" fmla="val 15007"/>
            </a:avLst>
          </a:prstGeom>
          <a:solidFill>
            <a:srgbClr val="434348"/>
          </a:solidFill>
          <a:ln/>
        </p:spPr>
        <p:txBody>
          <a:bodyPr/>
          <a:lstStyle/>
          <a:p>
            <a:endParaRPr lang="hu-HU"/>
          </a:p>
        </p:txBody>
      </p:sp>
      <p:sp>
        <p:nvSpPr>
          <p:cNvPr id="19" name="Text 17"/>
          <p:cNvSpPr/>
          <p:nvPr/>
        </p:nvSpPr>
        <p:spPr>
          <a:xfrm>
            <a:off x="7780420" y="3734793"/>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8 — UX</a:t>
            </a:r>
            <a:endParaRPr lang="en-US" dirty="0"/>
          </a:p>
        </p:txBody>
      </p:sp>
      <p:sp>
        <p:nvSpPr>
          <p:cNvPr id="20" name="Text 18"/>
          <p:cNvSpPr/>
          <p:nvPr/>
        </p:nvSpPr>
        <p:spPr>
          <a:xfrm>
            <a:off x="7977933" y="4023092"/>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Design approach and accessibility notes.</a:t>
            </a:r>
            <a:endParaRPr lang="en-US" dirty="0"/>
          </a:p>
        </p:txBody>
      </p:sp>
      <p:sp>
        <p:nvSpPr>
          <p:cNvPr id="21" name="Shape 19"/>
          <p:cNvSpPr/>
          <p:nvPr/>
        </p:nvSpPr>
        <p:spPr>
          <a:xfrm>
            <a:off x="7852560" y="4481892"/>
            <a:ext cx="125373" cy="752594"/>
          </a:xfrm>
          <a:prstGeom prst="roundRect">
            <a:avLst>
              <a:gd name="adj" fmla="val 15007"/>
            </a:avLst>
          </a:prstGeom>
          <a:solidFill>
            <a:srgbClr val="434348"/>
          </a:solidFill>
          <a:ln/>
        </p:spPr>
        <p:txBody>
          <a:bodyPr/>
          <a:lstStyle/>
          <a:p>
            <a:endParaRPr lang="hu-HU"/>
          </a:p>
        </p:txBody>
      </p:sp>
      <p:sp>
        <p:nvSpPr>
          <p:cNvPr id="22" name="Text 20"/>
          <p:cNvSpPr/>
          <p:nvPr/>
        </p:nvSpPr>
        <p:spPr>
          <a:xfrm>
            <a:off x="8047228" y="4607265"/>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9 — Roadmap</a:t>
            </a:r>
            <a:endParaRPr lang="en-US" dirty="0"/>
          </a:p>
        </p:txBody>
      </p:sp>
      <p:sp>
        <p:nvSpPr>
          <p:cNvPr id="23" name="Text 21"/>
          <p:cNvSpPr/>
          <p:nvPr/>
        </p:nvSpPr>
        <p:spPr>
          <a:xfrm>
            <a:off x="8257822" y="4908569"/>
            <a:ext cx="8460224"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Planned improvements and scale considerations.</a:t>
            </a:r>
            <a:endParaRPr lang="en-US" dirty="0"/>
          </a:p>
        </p:txBody>
      </p:sp>
      <p:sp>
        <p:nvSpPr>
          <p:cNvPr id="24" name="Shape 22"/>
          <p:cNvSpPr/>
          <p:nvPr/>
        </p:nvSpPr>
        <p:spPr>
          <a:xfrm>
            <a:off x="8132449" y="5525459"/>
            <a:ext cx="125373" cy="752594"/>
          </a:xfrm>
          <a:prstGeom prst="roundRect">
            <a:avLst>
              <a:gd name="adj" fmla="val 15007"/>
            </a:avLst>
          </a:prstGeom>
          <a:solidFill>
            <a:srgbClr val="434348"/>
          </a:solidFill>
          <a:ln/>
        </p:spPr>
        <p:txBody>
          <a:bodyPr/>
          <a:lstStyle/>
          <a:p>
            <a:endParaRPr lang="hu-HU"/>
          </a:p>
        </p:txBody>
      </p:sp>
      <p:sp>
        <p:nvSpPr>
          <p:cNvPr id="25" name="Text 23"/>
          <p:cNvSpPr/>
          <p:nvPr/>
        </p:nvSpPr>
        <p:spPr>
          <a:xfrm>
            <a:off x="8327116" y="5650832"/>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10 — Conclusion</a:t>
            </a:r>
            <a:endParaRPr lang="en-US" dirty="0"/>
          </a:p>
        </p:txBody>
      </p:sp>
      <p:sp>
        <p:nvSpPr>
          <p:cNvPr id="26" name="Text 24"/>
          <p:cNvSpPr/>
          <p:nvPr/>
        </p:nvSpPr>
        <p:spPr>
          <a:xfrm>
            <a:off x="8515234" y="5980698"/>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Key takeaways and next steps.</a:t>
            </a:r>
            <a:endParaRPr lang="en-US" dirty="0"/>
          </a:p>
        </p:txBody>
      </p:sp>
      <p:sp>
        <p:nvSpPr>
          <p:cNvPr id="27" name="Téglalap 26">
            <a:extLst>
              <a:ext uri="{FF2B5EF4-FFF2-40B4-BE49-F238E27FC236}">
                <a16:creationId xmlns:a16="http://schemas.microsoft.com/office/drawing/2014/main" id="{DE080E58-6E9B-648B-89A0-D27072495DCE}"/>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DAC1"/>
        </a:solidFill>
        <a:effectLst/>
      </p:bgPr>
    </p:bg>
    <p:spTree>
      <p:nvGrpSpPr>
        <p:cNvPr id="1" name=""/>
        <p:cNvGrpSpPr/>
        <p:nvPr/>
      </p:nvGrpSpPr>
      <p:grpSpPr>
        <a:xfrm>
          <a:off x="0" y="0"/>
          <a:ext cx="0" cy="0"/>
          <a:chOff x="0" y="0"/>
          <a:chExt cx="0" cy="0"/>
        </a:xfrm>
      </p:grpSpPr>
      <p:pic>
        <p:nvPicPr>
          <p:cNvPr id="5" name="Kép 4" descr="A képen szöveg, képernyőkép, Webhely, tervezés látható&#10;&#10;Előfordulhat, hogy az AI által létrehozott tartalom helytelen.">
            <a:extLst>
              <a:ext uri="{FF2B5EF4-FFF2-40B4-BE49-F238E27FC236}">
                <a16:creationId xmlns:a16="http://schemas.microsoft.com/office/drawing/2014/main" id="{6FBAF758-E6BD-87B4-59CA-B8D4A5AD01B2}"/>
              </a:ext>
            </a:extLst>
          </p:cNvPr>
          <p:cNvPicPr>
            <a:picLocks noChangeAspect="1"/>
          </p:cNvPicPr>
          <p:nvPr/>
        </p:nvPicPr>
        <p:blipFill>
          <a:blip r:embed="rId4"/>
          <a:stretch>
            <a:fillRect/>
          </a:stretch>
        </p:blipFill>
        <p:spPr>
          <a:xfrm>
            <a:off x="351692" y="1412907"/>
            <a:ext cx="10006027" cy="6028267"/>
          </a:xfrm>
          <a:prstGeom prst="rect">
            <a:avLst/>
          </a:prstGeom>
        </p:spPr>
      </p:pic>
      <p:sp>
        <p:nvSpPr>
          <p:cNvPr id="6" name="Szövegdoboz 5">
            <a:extLst>
              <a:ext uri="{FF2B5EF4-FFF2-40B4-BE49-F238E27FC236}">
                <a16:creationId xmlns:a16="http://schemas.microsoft.com/office/drawing/2014/main" id="{53150C48-0137-75E7-034F-5EE769C72B90}"/>
              </a:ext>
            </a:extLst>
          </p:cNvPr>
          <p:cNvSpPr txBox="1"/>
          <p:nvPr/>
        </p:nvSpPr>
        <p:spPr>
          <a:xfrm>
            <a:off x="609599" y="788426"/>
            <a:ext cx="7552267" cy="769441"/>
          </a:xfrm>
          <a:prstGeom prst="rect">
            <a:avLst/>
          </a:prstGeom>
          <a:noFill/>
        </p:spPr>
        <p:txBody>
          <a:bodyPr wrap="square" rtlCol="0">
            <a:spAutoFit/>
          </a:bodyPr>
          <a:lstStyle/>
          <a:p>
            <a:r>
              <a:rPr lang="hu-HU" sz="4400" dirty="0" err="1">
                <a:solidFill>
                  <a:schemeClr val="bg1"/>
                </a:solidFill>
              </a:rPr>
              <a:t>What</a:t>
            </a:r>
            <a:r>
              <a:rPr lang="hu-HU" sz="4400" dirty="0">
                <a:solidFill>
                  <a:schemeClr val="bg1"/>
                </a:solidFill>
              </a:rPr>
              <a:t> is </a:t>
            </a:r>
            <a:r>
              <a:rPr lang="hu-HU" sz="4400" dirty="0" err="1">
                <a:solidFill>
                  <a:schemeClr val="bg1"/>
                </a:solidFill>
              </a:rPr>
              <a:t>RaktárPro</a:t>
            </a:r>
            <a:r>
              <a:rPr lang="hu-HU" sz="4400" dirty="0">
                <a:solidFill>
                  <a:schemeClr val="bg1"/>
                </a:solidFill>
              </a:rPr>
              <a:t>?</a:t>
            </a:r>
          </a:p>
        </p:txBody>
      </p:sp>
      <p:sp>
        <p:nvSpPr>
          <p:cNvPr id="8" name="Téglalap 7">
            <a:extLst>
              <a:ext uri="{FF2B5EF4-FFF2-40B4-BE49-F238E27FC236}">
                <a16:creationId xmlns:a16="http://schemas.microsoft.com/office/drawing/2014/main" id="{56777B2A-518C-9D6F-BFD6-2AE3001707C1}"/>
              </a:ext>
            </a:extLst>
          </p:cNvPr>
          <p:cNvSpPr/>
          <p:nvPr/>
        </p:nvSpPr>
        <p:spPr>
          <a:xfrm>
            <a:off x="-158262" y="-96716"/>
            <a:ext cx="14946923" cy="8423031"/>
          </a:xfrm>
          <a:prstGeom prst="rect">
            <a:avLst/>
          </a:prstGeom>
          <a:solidFill>
            <a:srgbClr val="EBDAC1"/>
          </a:solidFill>
          <a:ln>
            <a:solidFill>
              <a:srgbClr val="EBD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0" name="Kép 9" descr="A képen szöveg, képernyőkép, Webhely, tervezés látható&#10;&#10;Előfordulhat, hogy az AI által létrehozott tartalom helytelen.">
            <a:extLst>
              <a:ext uri="{FF2B5EF4-FFF2-40B4-BE49-F238E27FC236}">
                <a16:creationId xmlns:a16="http://schemas.microsoft.com/office/drawing/2014/main" id="{6CB2C5EE-16CC-701A-6631-5CC76FC4721E}"/>
              </a:ext>
            </a:extLst>
          </p:cNvPr>
          <p:cNvPicPr>
            <a:picLocks noChangeAspect="1"/>
          </p:cNvPicPr>
          <p:nvPr/>
        </p:nvPicPr>
        <p:blipFill>
          <a:blip r:embed="rId4"/>
          <a:stretch>
            <a:fillRect/>
          </a:stretch>
        </p:blipFill>
        <p:spPr>
          <a:xfrm>
            <a:off x="87923" y="1711756"/>
            <a:ext cx="9601200" cy="6273321"/>
          </a:xfrm>
          <a:prstGeom prst="rect">
            <a:avLst/>
          </a:prstGeom>
          <a:ln w="28575">
            <a:solidFill>
              <a:schemeClr val="accent1">
                <a:shade val="15000"/>
              </a:schemeClr>
            </a:solidFill>
          </a:ln>
        </p:spPr>
      </p:pic>
      <p:sp>
        <p:nvSpPr>
          <p:cNvPr id="14" name="Szövegdoboz 13">
            <a:extLst>
              <a:ext uri="{FF2B5EF4-FFF2-40B4-BE49-F238E27FC236}">
                <a16:creationId xmlns:a16="http://schemas.microsoft.com/office/drawing/2014/main" id="{03042637-4913-A9BD-66DE-3D40F09930BE}"/>
              </a:ext>
            </a:extLst>
          </p:cNvPr>
          <p:cNvSpPr txBox="1"/>
          <p:nvPr/>
        </p:nvSpPr>
        <p:spPr>
          <a:xfrm>
            <a:off x="4495989" y="281222"/>
            <a:ext cx="5638420" cy="923330"/>
          </a:xfrm>
          <a:prstGeom prst="rect">
            <a:avLst/>
          </a:prstGeom>
          <a:noFill/>
        </p:spPr>
        <p:txBody>
          <a:bodyPr wrap="square" rtlCol="0">
            <a:spAutoFit/>
          </a:bodyPr>
          <a:lstStyle/>
          <a:p>
            <a:r>
              <a:rPr lang="hu-HU" sz="5400" dirty="0" err="1"/>
              <a:t>What</a:t>
            </a:r>
            <a:r>
              <a:rPr lang="hu-HU" sz="5400" dirty="0"/>
              <a:t> is </a:t>
            </a:r>
            <a:r>
              <a:rPr lang="hu-HU" sz="5400" dirty="0" err="1"/>
              <a:t>RaktárPro</a:t>
            </a:r>
            <a:r>
              <a:rPr lang="hu-HU" sz="5400" dirty="0"/>
              <a:t>?</a:t>
            </a:r>
          </a:p>
        </p:txBody>
      </p:sp>
      <p:sp>
        <p:nvSpPr>
          <p:cNvPr id="15" name="Szövegdoboz 14">
            <a:extLst>
              <a:ext uri="{FF2B5EF4-FFF2-40B4-BE49-F238E27FC236}">
                <a16:creationId xmlns:a16="http://schemas.microsoft.com/office/drawing/2014/main" id="{6922C631-C0A9-405C-A62B-03520D6661BA}"/>
              </a:ext>
            </a:extLst>
          </p:cNvPr>
          <p:cNvSpPr txBox="1"/>
          <p:nvPr/>
        </p:nvSpPr>
        <p:spPr>
          <a:xfrm>
            <a:off x="10357719" y="1887883"/>
            <a:ext cx="3920989" cy="5078313"/>
          </a:xfrm>
          <a:prstGeom prst="rect">
            <a:avLst/>
          </a:prstGeom>
          <a:noFill/>
        </p:spPr>
        <p:txBody>
          <a:bodyPr wrap="square" rtlCol="0">
            <a:spAutoFit/>
          </a:bodyPr>
          <a:lstStyle/>
          <a:p>
            <a:r>
              <a:rPr lang="en-US" sz="2800" b="1" dirty="0"/>
              <a:t>Customer-Focused Warehouse and Online Store System</a:t>
            </a:r>
            <a:endParaRPr lang="hu-HU" sz="2800" b="1" dirty="0"/>
          </a:p>
          <a:p>
            <a:endParaRPr lang="en-US" sz="2400" dirty="0"/>
          </a:p>
          <a:p>
            <a:r>
              <a:rPr lang="en-US" sz="2400" dirty="0"/>
              <a:t>• Modern warehouse and product management platform</a:t>
            </a:r>
            <a:br>
              <a:rPr lang="en-US" sz="2400" dirty="0"/>
            </a:br>
            <a:r>
              <a:rPr lang="en-US" sz="2400" dirty="0"/>
              <a:t>• Wide range of products with competitive pricing</a:t>
            </a:r>
            <a:br>
              <a:rPr lang="en-US" sz="2400" dirty="0"/>
            </a:br>
            <a:r>
              <a:rPr lang="en-US" sz="2400" dirty="0"/>
              <a:t>• Designed to serve customer needs first</a:t>
            </a:r>
            <a:br>
              <a:rPr lang="en-US" sz="2400" dirty="0"/>
            </a:br>
            <a:r>
              <a:rPr lang="en-US" sz="2400" dirty="0"/>
              <a:t>• Fast, reliable, and scalable system</a:t>
            </a:r>
          </a:p>
        </p:txBody>
      </p:sp>
    </p:spTree>
    <p:extLst>
      <p:ext uri="{BB962C8B-B14F-4D97-AF65-F5344CB8AC3E}">
        <p14:creationId xmlns:p14="http://schemas.microsoft.com/office/powerpoint/2010/main" val="4192823987"/>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822126" y="97244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Problem Statement</a:t>
            </a:r>
            <a:endParaRPr lang="en-US" sz="4450" dirty="0"/>
          </a:p>
        </p:txBody>
      </p:sp>
      <p:sp>
        <p:nvSpPr>
          <p:cNvPr id="4" name="Text 1"/>
          <p:cNvSpPr/>
          <p:nvPr/>
        </p:nvSpPr>
        <p:spPr>
          <a:xfrm>
            <a:off x="822126" y="2264019"/>
            <a:ext cx="7556421" cy="1451610"/>
          </a:xfrm>
          <a:prstGeom prst="rect">
            <a:avLst/>
          </a:prstGeom>
          <a:noFill/>
          <a:ln/>
        </p:spPr>
        <p:txBody>
          <a:bodyPr wrap="square" lIns="0" tIns="0" rIns="0" bIns="0" rtlCol="0" anchor="t"/>
          <a:lstStyle/>
          <a:p>
            <a:r>
              <a:rPr lang="en-US" sz="2400" dirty="0">
                <a:solidFill>
                  <a:srgbClr val="EFD5FA"/>
                </a:solidFill>
              </a:rPr>
              <a:t>Traditional warehouse systems often:</a:t>
            </a:r>
            <a:endParaRPr lang="hu-HU" sz="2400" dirty="0">
              <a:solidFill>
                <a:srgbClr val="EFD5FA"/>
              </a:solidFill>
            </a:endParaRPr>
          </a:p>
          <a:p>
            <a:endParaRPr lang="en-US" sz="2400" dirty="0">
              <a:solidFill>
                <a:srgbClr val="EFD5FA"/>
              </a:solidFill>
            </a:endParaRPr>
          </a:p>
          <a:p>
            <a:r>
              <a:rPr lang="en-US" sz="2400" dirty="0">
                <a:solidFill>
                  <a:srgbClr val="EFD5FA"/>
                </a:solidFill>
              </a:rPr>
              <a:t>• Focus on internal operations instead of customer needs</a:t>
            </a:r>
            <a:br>
              <a:rPr lang="en-US" sz="2400" dirty="0">
                <a:solidFill>
                  <a:srgbClr val="EFD5FA"/>
                </a:solidFill>
              </a:rPr>
            </a:br>
            <a:r>
              <a:rPr lang="en-US" sz="2400" dirty="0">
                <a:solidFill>
                  <a:srgbClr val="EFD5FA"/>
                </a:solidFill>
              </a:rPr>
              <a:t>• Have limited product visibility</a:t>
            </a:r>
            <a:br>
              <a:rPr lang="en-US" sz="2400" dirty="0">
                <a:solidFill>
                  <a:srgbClr val="EFD5FA"/>
                </a:solidFill>
              </a:rPr>
            </a:br>
            <a:r>
              <a:rPr lang="en-US" sz="2400" dirty="0">
                <a:solidFill>
                  <a:srgbClr val="EFD5FA"/>
                </a:solidFill>
              </a:rPr>
              <a:t>• Lack fast and modern interfaces</a:t>
            </a:r>
            <a:br>
              <a:rPr lang="en-US" sz="2400" dirty="0">
                <a:solidFill>
                  <a:srgbClr val="EFD5FA"/>
                </a:solidFill>
              </a:rPr>
            </a:br>
            <a:r>
              <a:rPr lang="en-US" sz="2400" dirty="0">
                <a:solidFill>
                  <a:srgbClr val="EFD5FA"/>
                </a:solidFill>
              </a:rPr>
              <a:t>• Do not provide optimized pricing</a:t>
            </a:r>
            <a:endParaRPr lang="hu-HU" sz="2400" dirty="0">
              <a:solidFill>
                <a:srgbClr val="EFD5FA"/>
              </a:solidFill>
            </a:endParaRPr>
          </a:p>
          <a:p>
            <a:endParaRPr lang="en-US" sz="2400" dirty="0">
              <a:solidFill>
                <a:srgbClr val="EFD5FA"/>
              </a:solidFill>
            </a:endParaRPr>
          </a:p>
          <a:p>
            <a:r>
              <a:rPr lang="en-US" sz="2400" dirty="0">
                <a:solidFill>
                  <a:srgbClr val="EFD5FA"/>
                </a:solidFill>
              </a:rPr>
              <a:t>This leads to slower service and reduced customer satisfaction.</a:t>
            </a:r>
          </a:p>
        </p:txBody>
      </p:sp>
      <p:sp>
        <p:nvSpPr>
          <p:cNvPr id="5" name="Shape 2"/>
          <p:cNvSpPr/>
          <p:nvPr/>
        </p:nvSpPr>
        <p:spPr>
          <a:xfrm>
            <a:off x="793790" y="5950148"/>
            <a:ext cx="7556421" cy="1326713"/>
          </a:xfrm>
          <a:prstGeom prst="roundRect">
            <a:avLst>
              <a:gd name="adj" fmla="val 2565"/>
            </a:avLst>
          </a:prstGeom>
          <a:solidFill>
            <a:srgbClr val="4A0303"/>
          </a:solidFill>
          <a:ln/>
        </p:spPr>
        <p:txBody>
          <a:bodyPr/>
          <a:lstStyle/>
          <a:p>
            <a:endParaRPr lang="hu-HU"/>
          </a:p>
        </p:txBody>
      </p:sp>
      <p:pic>
        <p:nvPicPr>
          <p:cNvPr id="6" name="Image 1" descr="preencoded.png"/>
          <p:cNvPicPr>
            <a:picLocks noChangeAspect="1"/>
          </p:cNvPicPr>
          <p:nvPr/>
        </p:nvPicPr>
        <p:blipFill>
          <a:blip r:embed="rId5"/>
          <a:stretch>
            <a:fillRect/>
          </a:stretch>
        </p:blipFill>
        <p:spPr>
          <a:xfrm>
            <a:off x="907197" y="6176962"/>
            <a:ext cx="283488" cy="226814"/>
          </a:xfrm>
          <a:prstGeom prst="rect">
            <a:avLst/>
          </a:prstGeom>
        </p:spPr>
      </p:pic>
      <p:sp>
        <p:nvSpPr>
          <p:cNvPr id="7" name="Text 3"/>
          <p:cNvSpPr/>
          <p:nvPr/>
        </p:nvSpPr>
        <p:spPr>
          <a:xfrm>
            <a:off x="1304092" y="6176962"/>
            <a:ext cx="6592491"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Inter" pitchFamily="34" charset="0"/>
                <a:ea typeface="Inter" pitchFamily="34" charset="-122"/>
                <a:cs typeface="Inter" pitchFamily="34" charset="-120"/>
              </a:rPr>
              <a:t>RaktarPro targets rapid improvements in accuracy, visibility and admin efficiency.</a:t>
            </a:r>
            <a:endParaRPr lang="en-US" sz="1750" dirty="0"/>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30957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Project Goals</a:t>
            </a:r>
            <a:endParaRPr lang="en-US" sz="4450" dirty="0"/>
          </a:p>
        </p:txBody>
      </p:sp>
      <p:sp>
        <p:nvSpPr>
          <p:cNvPr id="3" name="Shape 1"/>
          <p:cNvSpPr/>
          <p:nvPr/>
        </p:nvSpPr>
        <p:spPr>
          <a:xfrm>
            <a:off x="732829" y="3471982"/>
            <a:ext cx="3090505" cy="2674818"/>
          </a:xfrm>
          <a:prstGeom prst="roundRect">
            <a:avLst>
              <a:gd name="adj" fmla="val 5976"/>
            </a:avLst>
          </a:prstGeom>
          <a:solidFill>
            <a:srgbClr val="242429"/>
          </a:solidFill>
          <a:ln w="30480">
            <a:solidFill>
              <a:srgbClr val="5C5C61"/>
            </a:solidFill>
            <a:prstDash val="solid"/>
          </a:ln>
        </p:spPr>
        <p:txBody>
          <a:bodyPr/>
          <a:lstStyle/>
          <a:p>
            <a:endParaRPr lang="hu-HU" dirty="0"/>
          </a:p>
        </p:txBody>
      </p:sp>
      <p:sp>
        <p:nvSpPr>
          <p:cNvPr id="4" name="Shape 2"/>
          <p:cNvSpPr/>
          <p:nvPr/>
        </p:nvSpPr>
        <p:spPr>
          <a:xfrm>
            <a:off x="763310" y="3471982"/>
            <a:ext cx="121920" cy="2448044"/>
          </a:xfrm>
          <a:prstGeom prst="roundRect">
            <a:avLst>
              <a:gd name="adj" fmla="val 27907"/>
            </a:avLst>
          </a:prstGeom>
          <a:solidFill>
            <a:srgbClr val="FDC4C4"/>
          </a:solidFill>
          <a:ln/>
        </p:spPr>
        <p:txBody>
          <a:bodyPr/>
          <a:lstStyle/>
          <a:p>
            <a:endParaRPr lang="hu-HU"/>
          </a:p>
        </p:txBody>
      </p:sp>
      <p:sp>
        <p:nvSpPr>
          <p:cNvPr id="5" name="Text 3"/>
          <p:cNvSpPr/>
          <p:nvPr/>
        </p:nvSpPr>
        <p:spPr>
          <a:xfrm>
            <a:off x="1142524" y="3729276"/>
            <a:ext cx="2484477" cy="708660"/>
          </a:xfrm>
          <a:prstGeom prst="rect">
            <a:avLst/>
          </a:prstGeom>
          <a:noFill/>
          <a:ln/>
        </p:spPr>
        <p:txBody>
          <a:bodyPr wrap="square" lIns="0" tIns="0" rIns="0" bIns="0" rtlCol="0" anchor="t"/>
          <a:lstStyle/>
          <a:p>
            <a:pPr>
              <a:lnSpc>
                <a:spcPts val="2750"/>
              </a:lnSpc>
            </a:pPr>
            <a:r>
              <a:rPr lang="hu-HU" sz="2400" dirty="0" err="1">
                <a:solidFill>
                  <a:srgbClr val="EFD5FA"/>
                </a:solidFill>
              </a:rPr>
              <a:t>Customer-First</a:t>
            </a:r>
            <a:r>
              <a:rPr lang="hu-HU" sz="2400" dirty="0">
                <a:solidFill>
                  <a:srgbClr val="EFD5FA"/>
                </a:solidFill>
              </a:rPr>
              <a:t> Service</a:t>
            </a:r>
            <a:endParaRPr lang="en-US" sz="2200" dirty="0">
              <a:solidFill>
                <a:srgbClr val="EFD5FA"/>
              </a:solidFill>
            </a:endParaRPr>
          </a:p>
        </p:txBody>
      </p:sp>
      <p:sp>
        <p:nvSpPr>
          <p:cNvPr id="6" name="Text 4"/>
          <p:cNvSpPr/>
          <p:nvPr/>
        </p:nvSpPr>
        <p:spPr>
          <a:xfrm>
            <a:off x="1142524" y="4574024"/>
            <a:ext cx="2484477" cy="1088708"/>
          </a:xfrm>
          <a:prstGeom prst="rect">
            <a:avLst/>
          </a:prstGeom>
          <a:noFill/>
          <a:ln/>
        </p:spPr>
        <p:txBody>
          <a:bodyPr wrap="square" lIns="0" tIns="0" rIns="0" bIns="0" rtlCol="0" anchor="t"/>
          <a:lstStyle/>
          <a:p>
            <a:pPr>
              <a:lnSpc>
                <a:spcPts val="2850"/>
              </a:lnSpc>
            </a:pPr>
            <a:r>
              <a:rPr lang="en-US" dirty="0">
                <a:solidFill>
                  <a:srgbClr val="EFD5FA"/>
                </a:solidFill>
              </a:rPr>
              <a:t>Provide wide product selection with competitive prices.</a:t>
            </a:r>
          </a:p>
        </p:txBody>
      </p:sp>
      <p:sp>
        <p:nvSpPr>
          <p:cNvPr id="7" name="Shape 5"/>
          <p:cNvSpPr/>
          <p:nvPr/>
        </p:nvSpPr>
        <p:spPr>
          <a:xfrm>
            <a:off x="4111109"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8" name="Shape 6"/>
          <p:cNvSpPr/>
          <p:nvPr/>
        </p:nvSpPr>
        <p:spPr>
          <a:xfrm>
            <a:off x="4080629" y="3471982"/>
            <a:ext cx="121920" cy="2448044"/>
          </a:xfrm>
          <a:prstGeom prst="roundRect">
            <a:avLst>
              <a:gd name="adj" fmla="val 27907"/>
            </a:avLst>
          </a:prstGeom>
          <a:solidFill>
            <a:srgbClr val="FDC4C4"/>
          </a:solidFill>
          <a:ln/>
        </p:spPr>
        <p:txBody>
          <a:bodyPr/>
          <a:lstStyle/>
          <a:p>
            <a:endParaRPr lang="hu-HU"/>
          </a:p>
        </p:txBody>
      </p:sp>
      <p:sp>
        <p:nvSpPr>
          <p:cNvPr id="9" name="Text 7"/>
          <p:cNvSpPr/>
          <p:nvPr/>
        </p:nvSpPr>
        <p:spPr>
          <a:xfrm>
            <a:off x="4459843" y="3729276"/>
            <a:ext cx="2484596" cy="708660"/>
          </a:xfrm>
          <a:prstGeom prst="rect">
            <a:avLst/>
          </a:prstGeom>
          <a:noFill/>
          <a:ln/>
        </p:spPr>
        <p:txBody>
          <a:bodyPr wrap="square" lIns="0" tIns="0" rIns="0" bIns="0" rtlCol="0" anchor="t"/>
          <a:lstStyle/>
          <a:p>
            <a:pPr>
              <a:lnSpc>
                <a:spcPts val="2750"/>
              </a:lnSpc>
            </a:pPr>
            <a:r>
              <a:rPr lang="hu-HU" sz="2400" dirty="0" err="1">
                <a:solidFill>
                  <a:srgbClr val="EFD5FA"/>
                </a:solidFill>
              </a:rPr>
              <a:t>Secure</a:t>
            </a:r>
            <a:r>
              <a:rPr lang="hu-HU" sz="2400" dirty="0">
                <a:solidFill>
                  <a:srgbClr val="EFD5FA"/>
                </a:solidFill>
              </a:rPr>
              <a:t> and </a:t>
            </a:r>
            <a:r>
              <a:rPr lang="hu-HU" sz="2400" dirty="0" err="1">
                <a:solidFill>
                  <a:srgbClr val="EFD5FA"/>
                </a:solidFill>
              </a:rPr>
              <a:t>Scalable</a:t>
            </a:r>
            <a:r>
              <a:rPr lang="hu-HU" sz="2400" dirty="0">
                <a:solidFill>
                  <a:srgbClr val="EFD5FA"/>
                </a:solidFill>
              </a:rPr>
              <a:t> Backend</a:t>
            </a:r>
            <a:endParaRPr lang="en-US" sz="2200" dirty="0">
              <a:solidFill>
                <a:srgbClr val="EFD5FA"/>
              </a:solidFill>
            </a:endParaRPr>
          </a:p>
        </p:txBody>
      </p:sp>
      <p:sp>
        <p:nvSpPr>
          <p:cNvPr id="10" name="Text 8"/>
          <p:cNvSpPr/>
          <p:nvPr/>
        </p:nvSpPr>
        <p:spPr>
          <a:xfrm>
            <a:off x="4459843" y="4574024"/>
            <a:ext cx="2484596" cy="1088708"/>
          </a:xfrm>
          <a:prstGeom prst="rect">
            <a:avLst/>
          </a:prstGeom>
          <a:noFill/>
          <a:ln/>
        </p:spPr>
        <p:txBody>
          <a:bodyPr wrap="square" lIns="0" tIns="0" rIns="0" bIns="0" rtlCol="0" anchor="t"/>
          <a:lstStyle/>
          <a:p>
            <a:pPr>
              <a:lnSpc>
                <a:spcPts val="2850"/>
              </a:lnSpc>
            </a:pPr>
            <a:r>
              <a:rPr lang="en-US" sz="1600" dirty="0">
                <a:solidFill>
                  <a:srgbClr val="EFD5FA"/>
                </a:solidFill>
              </a:rPr>
              <a:t>REST API that retrieves product data, handles users, and connects the system to the database.</a:t>
            </a:r>
            <a:endParaRPr lang="en-US" sz="1750" dirty="0">
              <a:solidFill>
                <a:srgbClr val="EFD5FA"/>
              </a:solidFill>
            </a:endParaRPr>
          </a:p>
        </p:txBody>
      </p:sp>
      <p:sp>
        <p:nvSpPr>
          <p:cNvPr id="11" name="Shape 9"/>
          <p:cNvSpPr/>
          <p:nvPr/>
        </p:nvSpPr>
        <p:spPr>
          <a:xfrm>
            <a:off x="7428548"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12" name="Shape 10"/>
          <p:cNvSpPr/>
          <p:nvPr/>
        </p:nvSpPr>
        <p:spPr>
          <a:xfrm>
            <a:off x="7398067" y="3471982"/>
            <a:ext cx="121920" cy="2448044"/>
          </a:xfrm>
          <a:prstGeom prst="roundRect">
            <a:avLst>
              <a:gd name="adj" fmla="val 27907"/>
            </a:avLst>
          </a:prstGeom>
          <a:solidFill>
            <a:srgbClr val="FDC4C4"/>
          </a:solidFill>
          <a:ln/>
        </p:spPr>
        <p:txBody>
          <a:bodyPr/>
          <a:lstStyle/>
          <a:p>
            <a:endParaRPr lang="hu-HU"/>
          </a:p>
        </p:txBody>
      </p:sp>
      <p:sp>
        <p:nvSpPr>
          <p:cNvPr id="13" name="Text 11"/>
          <p:cNvSpPr/>
          <p:nvPr/>
        </p:nvSpPr>
        <p:spPr>
          <a:xfrm>
            <a:off x="7777282" y="3729276"/>
            <a:ext cx="2484596" cy="708660"/>
          </a:xfrm>
          <a:prstGeom prst="rect">
            <a:avLst/>
          </a:prstGeom>
          <a:noFill/>
          <a:ln/>
        </p:spPr>
        <p:txBody>
          <a:bodyPr wrap="square" lIns="0" tIns="0" rIns="0" bIns="0" rtlCol="0" anchor="t"/>
          <a:lstStyle/>
          <a:p>
            <a:pPr>
              <a:lnSpc>
                <a:spcPts val="2750"/>
              </a:lnSpc>
            </a:pPr>
            <a:r>
              <a:rPr lang="hu-HU" sz="2400" dirty="0" err="1">
                <a:solidFill>
                  <a:srgbClr val="EFD5FA"/>
                </a:solidFill>
              </a:rPr>
              <a:t>Reliable</a:t>
            </a:r>
            <a:r>
              <a:rPr lang="hu-HU" sz="2400" dirty="0">
                <a:solidFill>
                  <a:srgbClr val="EFD5FA"/>
                </a:solidFill>
              </a:rPr>
              <a:t> </a:t>
            </a:r>
            <a:r>
              <a:rPr lang="hu-HU" sz="2400" dirty="0" err="1">
                <a:solidFill>
                  <a:srgbClr val="EFD5FA"/>
                </a:solidFill>
              </a:rPr>
              <a:t>Database</a:t>
            </a:r>
            <a:r>
              <a:rPr lang="hu-HU" sz="2400" dirty="0">
                <a:solidFill>
                  <a:srgbClr val="EFD5FA"/>
                </a:solidFill>
              </a:rPr>
              <a:t> </a:t>
            </a:r>
            <a:r>
              <a:rPr lang="hu-HU" sz="2400" dirty="0" err="1">
                <a:solidFill>
                  <a:srgbClr val="EFD5FA"/>
                </a:solidFill>
              </a:rPr>
              <a:t>Structure</a:t>
            </a:r>
            <a:endParaRPr lang="en-US" sz="2200" dirty="0">
              <a:solidFill>
                <a:srgbClr val="EFD5FA"/>
              </a:solidFill>
            </a:endParaRPr>
          </a:p>
        </p:txBody>
      </p:sp>
      <p:sp>
        <p:nvSpPr>
          <p:cNvPr id="14" name="Text 12"/>
          <p:cNvSpPr/>
          <p:nvPr/>
        </p:nvSpPr>
        <p:spPr>
          <a:xfrm>
            <a:off x="7777282" y="4574024"/>
            <a:ext cx="2484596" cy="1088708"/>
          </a:xfrm>
          <a:prstGeom prst="rect">
            <a:avLst/>
          </a:prstGeom>
          <a:noFill/>
          <a:ln/>
        </p:spPr>
        <p:txBody>
          <a:bodyPr wrap="square" lIns="0" tIns="0" rIns="0" bIns="0" rtlCol="0" anchor="t"/>
          <a:lstStyle/>
          <a:p>
            <a:pPr>
              <a:lnSpc>
                <a:spcPts val="2850"/>
              </a:lnSpc>
            </a:pPr>
            <a:r>
              <a:rPr lang="en-US" sz="1600" dirty="0">
                <a:solidFill>
                  <a:srgbClr val="EFD5FA"/>
                </a:solidFill>
              </a:rPr>
              <a:t>MySQL database storing products, prices, users, and ensuring data integrity and consistency.</a:t>
            </a:r>
            <a:endParaRPr lang="en-US" sz="1750" dirty="0">
              <a:solidFill>
                <a:srgbClr val="EFD5FA"/>
              </a:solidFill>
            </a:endParaRPr>
          </a:p>
        </p:txBody>
      </p:sp>
      <p:sp>
        <p:nvSpPr>
          <p:cNvPr id="15" name="Shape 13"/>
          <p:cNvSpPr/>
          <p:nvPr/>
        </p:nvSpPr>
        <p:spPr>
          <a:xfrm>
            <a:off x="10745986"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16" name="Shape 14"/>
          <p:cNvSpPr/>
          <p:nvPr/>
        </p:nvSpPr>
        <p:spPr>
          <a:xfrm>
            <a:off x="10715506" y="3471982"/>
            <a:ext cx="121920" cy="2448044"/>
          </a:xfrm>
          <a:prstGeom prst="roundRect">
            <a:avLst>
              <a:gd name="adj" fmla="val 27907"/>
            </a:avLst>
          </a:prstGeom>
          <a:solidFill>
            <a:srgbClr val="FDC4C4"/>
          </a:solidFill>
          <a:ln/>
        </p:spPr>
        <p:txBody>
          <a:bodyPr/>
          <a:lstStyle/>
          <a:p>
            <a:endParaRPr lang="hu-HU"/>
          </a:p>
        </p:txBody>
      </p:sp>
      <p:sp>
        <p:nvSpPr>
          <p:cNvPr id="17" name="Text 15"/>
          <p:cNvSpPr/>
          <p:nvPr/>
        </p:nvSpPr>
        <p:spPr>
          <a:xfrm>
            <a:off x="10966073" y="3693385"/>
            <a:ext cx="2741890" cy="708660"/>
          </a:xfrm>
          <a:prstGeom prst="rect">
            <a:avLst/>
          </a:prstGeom>
          <a:noFill/>
          <a:ln/>
        </p:spPr>
        <p:txBody>
          <a:bodyPr wrap="square" lIns="0" tIns="0" rIns="0" bIns="0" rtlCol="0" anchor="t"/>
          <a:lstStyle/>
          <a:p>
            <a:pPr>
              <a:lnSpc>
                <a:spcPts val="2750"/>
              </a:lnSpc>
            </a:pPr>
            <a:r>
              <a:rPr lang="hu-HU" sz="2400" dirty="0">
                <a:solidFill>
                  <a:srgbClr val="EFD5FA"/>
                </a:solidFill>
              </a:rPr>
              <a:t>Modern &amp; </a:t>
            </a:r>
            <a:r>
              <a:rPr lang="hu-HU" sz="2400" dirty="0" err="1">
                <a:solidFill>
                  <a:srgbClr val="EFD5FA"/>
                </a:solidFill>
              </a:rPr>
              <a:t>Responsive</a:t>
            </a:r>
            <a:r>
              <a:rPr lang="hu-HU" sz="2400" dirty="0">
                <a:solidFill>
                  <a:srgbClr val="EFD5FA"/>
                </a:solidFill>
              </a:rPr>
              <a:t> Frontend</a:t>
            </a:r>
            <a:endParaRPr lang="en-US" sz="2200" dirty="0">
              <a:solidFill>
                <a:srgbClr val="EFD5FA"/>
              </a:solidFill>
            </a:endParaRPr>
          </a:p>
        </p:txBody>
      </p:sp>
      <p:sp>
        <p:nvSpPr>
          <p:cNvPr id="18" name="Text 16"/>
          <p:cNvSpPr/>
          <p:nvPr/>
        </p:nvSpPr>
        <p:spPr>
          <a:xfrm>
            <a:off x="11003280" y="4653094"/>
            <a:ext cx="2484596" cy="1088708"/>
          </a:xfrm>
          <a:prstGeom prst="rect">
            <a:avLst/>
          </a:prstGeom>
          <a:noFill/>
          <a:ln/>
        </p:spPr>
        <p:txBody>
          <a:bodyPr wrap="square" lIns="0" tIns="0" rIns="0" bIns="0" rtlCol="0" anchor="t"/>
          <a:lstStyle/>
          <a:p>
            <a:r>
              <a:rPr lang="en-US" dirty="0">
                <a:solidFill>
                  <a:srgbClr val="EFD5FA"/>
                </a:solidFill>
              </a:rPr>
              <a:t>User-friendly interface with dark/light mode, fast product search, and price display.</a:t>
            </a:r>
          </a:p>
        </p:txBody>
      </p:sp>
      <p:sp>
        <p:nvSpPr>
          <p:cNvPr id="19" name="Téglalap 18">
            <a:extLst>
              <a:ext uri="{FF2B5EF4-FFF2-40B4-BE49-F238E27FC236}">
                <a16:creationId xmlns:a16="http://schemas.microsoft.com/office/drawing/2014/main" id="{0173C0CF-3F26-3C27-0B32-5B58ED964AEA}"/>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8669062" y="1921017"/>
            <a:ext cx="5961338" cy="566976"/>
          </a:xfrm>
          <a:prstGeom prst="rect">
            <a:avLst/>
          </a:prstGeom>
          <a:noFill/>
          <a:ln/>
        </p:spPr>
        <p:txBody>
          <a:bodyPr wrap="none" lIns="0" tIns="0" rIns="0" bIns="0" rtlCol="0" anchor="t"/>
          <a:lstStyle/>
          <a:p>
            <a:r>
              <a:rPr lang="en-US" sz="3600" dirty="0">
                <a:solidFill>
                  <a:srgbClr val="EFD5FA"/>
                </a:solidFill>
              </a:rPr>
              <a:t>Frontend — Responsibilities</a:t>
            </a:r>
          </a:p>
        </p:txBody>
      </p:sp>
      <p:sp>
        <p:nvSpPr>
          <p:cNvPr id="4" name="Text 1"/>
          <p:cNvSpPr/>
          <p:nvPr/>
        </p:nvSpPr>
        <p:spPr>
          <a:xfrm>
            <a:off x="8669062" y="2831497"/>
            <a:ext cx="8449854" cy="2131695"/>
          </a:xfrm>
          <a:prstGeom prst="rect">
            <a:avLst/>
          </a:prstGeom>
          <a:noFill/>
          <a:ln/>
        </p:spPr>
        <p:txBody>
          <a:bodyPr wrap="square" lIns="0" tIns="0" rIns="0" bIns="0" rtlCol="0" anchor="t"/>
          <a:lstStyle/>
          <a:p>
            <a:endParaRPr lang="en-US" sz="2400" dirty="0">
              <a:solidFill>
                <a:srgbClr val="EFD5FA"/>
              </a:solidFill>
            </a:endParaRPr>
          </a:p>
          <a:p>
            <a:r>
              <a:rPr lang="en-US" sz="2400" dirty="0">
                <a:solidFill>
                  <a:srgbClr val="EFD5FA"/>
                </a:solidFill>
              </a:rPr>
              <a:t>• Product browsing and search</a:t>
            </a:r>
            <a:br>
              <a:rPr lang="en-US" sz="2400" dirty="0">
                <a:solidFill>
                  <a:srgbClr val="EFD5FA"/>
                </a:solidFill>
              </a:rPr>
            </a:br>
            <a:r>
              <a:rPr lang="en-US" sz="2400" dirty="0">
                <a:solidFill>
                  <a:srgbClr val="EFD5FA"/>
                </a:solidFill>
              </a:rPr>
              <a:t>• Product details display</a:t>
            </a:r>
            <a:br>
              <a:rPr lang="en-US" sz="2400" dirty="0">
                <a:solidFill>
                  <a:srgbClr val="EFD5FA"/>
                </a:solidFill>
              </a:rPr>
            </a:br>
            <a:r>
              <a:rPr lang="en-US" sz="2400" dirty="0">
                <a:solidFill>
                  <a:srgbClr val="EFD5FA"/>
                </a:solidFill>
              </a:rPr>
              <a:t>• Shopping cart functionality</a:t>
            </a:r>
            <a:br>
              <a:rPr lang="en-US" sz="2400" dirty="0">
                <a:solidFill>
                  <a:srgbClr val="EFD5FA"/>
                </a:solidFill>
              </a:rPr>
            </a:br>
            <a:r>
              <a:rPr lang="en-US" sz="2400" dirty="0">
                <a:solidFill>
                  <a:srgbClr val="EFD5FA"/>
                </a:solidFill>
              </a:rPr>
              <a:t>• Customer-friendly interface</a:t>
            </a:r>
            <a:br>
              <a:rPr lang="en-US" sz="2400" dirty="0">
                <a:solidFill>
                  <a:srgbClr val="EFD5FA"/>
                </a:solidFill>
              </a:rPr>
            </a:br>
            <a:r>
              <a:rPr lang="en-US" sz="2400" dirty="0">
                <a:solidFill>
                  <a:srgbClr val="EFD5FA"/>
                </a:solidFill>
              </a:rPr>
              <a:t>• Responsive design</a:t>
            </a:r>
          </a:p>
        </p:txBody>
      </p:sp>
      <p:sp>
        <p:nvSpPr>
          <p:cNvPr id="6" name="Téglalap 5">
            <a:extLst>
              <a:ext uri="{FF2B5EF4-FFF2-40B4-BE49-F238E27FC236}">
                <a16:creationId xmlns:a16="http://schemas.microsoft.com/office/drawing/2014/main" id="{6DCEACA5-1ED2-83DE-3CFE-62F5D935DBE6}"/>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8" name="Kép 7" descr="A képen képernyőkép, szöveg, szoftver látható&#10;&#10;Előfordulhat, hogy az AI által létrehozott tartalom helytelen.">
            <a:extLst>
              <a:ext uri="{FF2B5EF4-FFF2-40B4-BE49-F238E27FC236}">
                <a16:creationId xmlns:a16="http://schemas.microsoft.com/office/drawing/2014/main" id="{8F16EDE4-2103-3FBF-9CA4-CD4C71C0207D}"/>
              </a:ext>
            </a:extLst>
          </p:cNvPr>
          <p:cNvPicPr>
            <a:picLocks noChangeAspect="1"/>
          </p:cNvPicPr>
          <p:nvPr/>
        </p:nvPicPr>
        <p:blipFill>
          <a:blip r:embed="rId4"/>
          <a:stretch>
            <a:fillRect/>
          </a:stretch>
        </p:blipFill>
        <p:spPr>
          <a:xfrm>
            <a:off x="244224" y="1094953"/>
            <a:ext cx="7841394" cy="5604785"/>
          </a:xfrm>
          <a:prstGeom prst="rect">
            <a:avLst/>
          </a:prstGeom>
          <a:ln w="22225">
            <a:solidFill>
              <a:srgbClr val="EFD5FA"/>
            </a:solidFill>
          </a:ln>
        </p:spPr>
      </p:pic>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849392" y="1375529"/>
            <a:ext cx="8284131" cy="3108484"/>
          </a:xfrm>
          <a:prstGeom prst="rect">
            <a:avLst/>
          </a:prstGeom>
        </p:spPr>
      </p:pic>
      <p:pic>
        <p:nvPicPr>
          <p:cNvPr id="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24034" y="2167316"/>
            <a:ext cx="427895" cy="427895"/>
          </a:xfrm>
          <a:prstGeom prst="rect">
            <a:avLst/>
          </a:prstGeom>
        </p:spPr>
      </p:pic>
      <p:pic>
        <p:nvPicPr>
          <p:cNvPr id="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7537" y="2168118"/>
            <a:ext cx="427895" cy="427895"/>
          </a:xfrm>
          <a:prstGeom prst="rect">
            <a:avLst/>
          </a:prstGeom>
        </p:spPr>
      </p:pic>
      <p:pic>
        <p:nvPicPr>
          <p:cNvPr id="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91442" y="2168118"/>
            <a:ext cx="427895" cy="427895"/>
          </a:xfrm>
          <a:prstGeom prst="rect">
            <a:avLst/>
          </a:prstGeom>
        </p:spPr>
      </p:pic>
      <p:pic>
        <p:nvPicPr>
          <p:cNvPr id="9"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25346" y="2168118"/>
            <a:ext cx="427895" cy="427895"/>
          </a:xfrm>
          <a:prstGeom prst="rect">
            <a:avLst/>
          </a:prstGeom>
        </p:spPr>
      </p:pic>
      <p:pic>
        <p:nvPicPr>
          <p:cNvPr id="1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50693" y="2168118"/>
            <a:ext cx="427895" cy="427895"/>
          </a:xfrm>
          <a:prstGeom prst="rect">
            <a:avLst/>
          </a:prstGeom>
        </p:spPr>
      </p:pic>
      <p:sp>
        <p:nvSpPr>
          <p:cNvPr id="12" name="Text 4"/>
          <p:cNvSpPr/>
          <p:nvPr/>
        </p:nvSpPr>
        <p:spPr>
          <a:xfrm>
            <a:off x="1235635" y="3729399"/>
            <a:ext cx="1249453" cy="240691"/>
          </a:xfrm>
          <a:prstGeom prst="rect">
            <a:avLst/>
          </a:prstGeom>
          <a:noFill/>
          <a:ln/>
        </p:spPr>
        <p:txBody>
          <a:bodyPr wrap="none" lIns="0" tIns="0" rIns="0" bIns="0" rtlCol="0" anchor="t"/>
          <a:lstStyle/>
          <a:p>
            <a:pPr marL="0" indent="0" algn="ctr">
              <a:lnSpc>
                <a:spcPts val="1850"/>
              </a:lnSpc>
              <a:buNone/>
            </a:pPr>
            <a:endParaRPr lang="en-US" sz="1500" dirty="0"/>
          </a:p>
        </p:txBody>
      </p:sp>
      <p:sp>
        <p:nvSpPr>
          <p:cNvPr id="13" name="Text 5"/>
          <p:cNvSpPr/>
          <p:nvPr/>
        </p:nvSpPr>
        <p:spPr>
          <a:xfrm>
            <a:off x="9638943" y="1228844"/>
            <a:ext cx="4205168" cy="1700927"/>
          </a:xfrm>
          <a:prstGeom prst="rect">
            <a:avLst/>
          </a:prstGeom>
          <a:noFill/>
          <a:ln/>
        </p:spPr>
        <p:txBody>
          <a:bodyPr wrap="square" lIns="0" tIns="0" rIns="0" bIns="0" rtlCol="0" anchor="t"/>
          <a:lstStyle/>
          <a:p>
            <a:pPr marL="0" indent="0" algn="l">
              <a:lnSpc>
                <a:spcPts val="4450"/>
              </a:lnSpc>
              <a:buNone/>
            </a:pPr>
            <a:r>
              <a:rPr lang="en-US" sz="3550" dirty="0">
                <a:solidFill>
                  <a:srgbClr val="EFD5FA"/>
                </a:solidFill>
                <a:latin typeface="Instrument Sans Medium" pitchFamily="34" charset="0"/>
                <a:ea typeface="Instrument Sans Medium" pitchFamily="34" charset="-122"/>
                <a:cs typeface="Instrument Sans Medium" pitchFamily="34" charset="-120"/>
              </a:rPr>
              <a:t>Backend — Architecture &amp; Logic</a:t>
            </a:r>
            <a:endParaRPr lang="en-US" sz="3550" dirty="0"/>
          </a:p>
        </p:txBody>
      </p:sp>
      <p:sp>
        <p:nvSpPr>
          <p:cNvPr id="14" name="Text 6"/>
          <p:cNvSpPr/>
          <p:nvPr/>
        </p:nvSpPr>
        <p:spPr>
          <a:xfrm>
            <a:off x="9638943" y="3156585"/>
            <a:ext cx="4205168" cy="217741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5" name="Text 7"/>
          <p:cNvSpPr/>
          <p:nvPr/>
        </p:nvSpPr>
        <p:spPr>
          <a:xfrm>
            <a:off x="9638943" y="5538073"/>
            <a:ext cx="4205168" cy="1610201"/>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6" name="Téglalap 15">
            <a:extLst>
              <a:ext uri="{FF2B5EF4-FFF2-40B4-BE49-F238E27FC236}">
                <a16:creationId xmlns:a16="http://schemas.microsoft.com/office/drawing/2014/main" id="{071AB248-22BB-20E5-3C50-275B12AFFE9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8" name="Szövegdoboz 17">
            <a:extLst>
              <a:ext uri="{FF2B5EF4-FFF2-40B4-BE49-F238E27FC236}">
                <a16:creationId xmlns:a16="http://schemas.microsoft.com/office/drawing/2014/main" id="{AAD2972E-2714-7407-6803-225D8EF08D5B}"/>
              </a:ext>
            </a:extLst>
          </p:cNvPr>
          <p:cNvSpPr txBox="1"/>
          <p:nvPr/>
        </p:nvSpPr>
        <p:spPr>
          <a:xfrm>
            <a:off x="1057925" y="3545233"/>
            <a:ext cx="7825154" cy="3785652"/>
          </a:xfrm>
          <a:prstGeom prst="rect">
            <a:avLst/>
          </a:prstGeom>
          <a:noFill/>
        </p:spPr>
        <p:txBody>
          <a:bodyPr wrap="square" rtlCol="0">
            <a:spAutoFit/>
          </a:bodyPr>
          <a:lstStyle/>
          <a:p>
            <a:r>
              <a:rPr lang="en-US" sz="2000" b="1" dirty="0">
                <a:solidFill>
                  <a:srgbClr val="EFD5FA"/>
                </a:solidFill>
              </a:rPr>
              <a:t>API Request</a:t>
            </a:r>
            <a:r>
              <a:rPr lang="hu-HU" sz="2000" b="1" dirty="0">
                <a:solidFill>
                  <a:srgbClr val="EFD5FA"/>
                </a:solidFill>
              </a:rPr>
              <a:t>				</a:t>
            </a:r>
            <a:r>
              <a:rPr lang="en-US" sz="2000" b="1" dirty="0">
                <a:solidFill>
                  <a:srgbClr val="EFD5FA"/>
                </a:solidFill>
              </a:rPr>
              <a:t>Database Transaction</a:t>
            </a:r>
            <a:br>
              <a:rPr lang="en-US" sz="2000" dirty="0">
                <a:solidFill>
                  <a:srgbClr val="EFD5FA"/>
                </a:solidFill>
              </a:rPr>
            </a:br>
            <a:r>
              <a:rPr lang="en-US" sz="2000" dirty="0">
                <a:solidFill>
                  <a:srgbClr val="EFD5FA"/>
                </a:solidFill>
              </a:rPr>
              <a:t>Product request from frontend</a:t>
            </a:r>
            <a:r>
              <a:rPr lang="hu-HU" sz="2000" dirty="0">
                <a:solidFill>
                  <a:srgbClr val="EFD5FA"/>
                </a:solidFill>
              </a:rPr>
              <a:t>		</a:t>
            </a:r>
            <a:r>
              <a:rPr lang="en-US" sz="2000" dirty="0">
                <a:solidFill>
                  <a:srgbClr val="EFD5FA"/>
                </a:solidFill>
              </a:rPr>
              <a:t>Retrieve product and price data</a:t>
            </a:r>
            <a:endParaRPr lang="hu-HU" sz="2000" dirty="0">
              <a:solidFill>
                <a:srgbClr val="EFD5FA"/>
              </a:solidFill>
            </a:endParaRPr>
          </a:p>
          <a:p>
            <a:endParaRPr lang="en-US" sz="2000" dirty="0">
              <a:solidFill>
                <a:srgbClr val="EFD5FA"/>
              </a:solidFill>
            </a:endParaRPr>
          </a:p>
          <a:p>
            <a:r>
              <a:rPr lang="en-US" sz="2000" b="1" dirty="0">
                <a:solidFill>
                  <a:srgbClr val="EFD5FA"/>
                </a:solidFill>
              </a:rPr>
              <a:t>Authentication</a:t>
            </a:r>
            <a:r>
              <a:rPr lang="hu-HU" sz="2000" b="1" dirty="0">
                <a:solidFill>
                  <a:srgbClr val="EFD5FA"/>
                </a:solidFill>
              </a:rPr>
              <a:t>				</a:t>
            </a:r>
            <a:r>
              <a:rPr lang="en-US" sz="2000" b="1" dirty="0">
                <a:solidFill>
                  <a:srgbClr val="EFD5FA"/>
                </a:solidFill>
              </a:rPr>
              <a:t> Response</a:t>
            </a:r>
            <a:br>
              <a:rPr lang="en-US" sz="2000" dirty="0">
                <a:solidFill>
                  <a:srgbClr val="EFD5FA"/>
                </a:solidFill>
              </a:rPr>
            </a:br>
            <a:r>
              <a:rPr lang="en-US" sz="2000" dirty="0">
                <a:solidFill>
                  <a:srgbClr val="EFD5FA"/>
                </a:solidFill>
              </a:rPr>
              <a:t>User login and session handling</a:t>
            </a:r>
            <a:r>
              <a:rPr lang="hu-HU" sz="2000" dirty="0">
                <a:solidFill>
                  <a:srgbClr val="EFD5FA"/>
                </a:solidFill>
              </a:rPr>
              <a:t>		 </a:t>
            </a:r>
            <a:r>
              <a:rPr lang="en-US" sz="2000" dirty="0">
                <a:solidFill>
                  <a:srgbClr val="EFD5FA"/>
                </a:solidFill>
              </a:rPr>
              <a:t>Return best price to frontend</a:t>
            </a:r>
          </a:p>
          <a:p>
            <a:endParaRPr lang="hu-HU" sz="2000" dirty="0">
              <a:solidFill>
                <a:srgbClr val="EFD5FA"/>
              </a:solidFill>
            </a:endParaRPr>
          </a:p>
          <a:p>
            <a:r>
              <a:rPr lang="en-US" sz="2000" b="1" dirty="0">
                <a:solidFill>
                  <a:srgbClr val="EFD5FA"/>
                </a:solidFill>
              </a:rPr>
              <a:t>Business Logic</a:t>
            </a:r>
            <a:br>
              <a:rPr lang="en-US" sz="2000" dirty="0">
                <a:solidFill>
                  <a:srgbClr val="EFD5FA"/>
                </a:solidFill>
              </a:rPr>
            </a:br>
            <a:r>
              <a:rPr lang="en-US" sz="2000" dirty="0">
                <a:solidFill>
                  <a:srgbClr val="EFD5FA"/>
                </a:solidFill>
              </a:rPr>
              <a:t>Price comparison and product processing</a:t>
            </a:r>
            <a:endParaRPr lang="hu-HU" sz="2000" dirty="0">
              <a:solidFill>
                <a:srgbClr val="EFD5FA"/>
              </a:solidFill>
            </a:endParaRPr>
          </a:p>
          <a:p>
            <a:endParaRPr lang="en-US" sz="2000" dirty="0">
              <a:solidFill>
                <a:srgbClr val="EFD5FA"/>
              </a:solidFill>
            </a:endParaRPr>
          </a:p>
          <a:p>
            <a:br>
              <a:rPr lang="en-US" sz="2000" dirty="0">
                <a:solidFill>
                  <a:srgbClr val="EFD5FA"/>
                </a:solidFill>
              </a:rPr>
            </a:br>
            <a:endParaRPr lang="hu-HU" sz="2000" dirty="0">
              <a:solidFill>
                <a:srgbClr val="EFD5FA"/>
              </a:solidFill>
            </a:endParaRPr>
          </a:p>
        </p:txBody>
      </p:sp>
      <p:sp>
        <p:nvSpPr>
          <p:cNvPr id="19" name="Szövegdoboz 18">
            <a:extLst>
              <a:ext uri="{FF2B5EF4-FFF2-40B4-BE49-F238E27FC236}">
                <a16:creationId xmlns:a16="http://schemas.microsoft.com/office/drawing/2014/main" id="{7C5B56E2-547A-F144-5E64-D0F8CC64A119}"/>
              </a:ext>
            </a:extLst>
          </p:cNvPr>
          <p:cNvSpPr txBox="1"/>
          <p:nvPr/>
        </p:nvSpPr>
        <p:spPr>
          <a:xfrm>
            <a:off x="9683784" y="3215104"/>
            <a:ext cx="4197667" cy="3785652"/>
          </a:xfrm>
          <a:prstGeom prst="rect">
            <a:avLst/>
          </a:prstGeom>
          <a:noFill/>
        </p:spPr>
        <p:txBody>
          <a:bodyPr wrap="square" rtlCol="0">
            <a:spAutoFit/>
          </a:bodyPr>
          <a:lstStyle/>
          <a:p>
            <a:r>
              <a:rPr lang="en-US" sz="2000" dirty="0">
                <a:solidFill>
                  <a:srgbClr val="EFD5FA"/>
                </a:solidFill>
              </a:rPr>
              <a:t>• Retrieving product and price information</a:t>
            </a:r>
            <a:br>
              <a:rPr lang="en-US" sz="2000" dirty="0">
                <a:solidFill>
                  <a:srgbClr val="EFD5FA"/>
                </a:solidFill>
              </a:rPr>
            </a:br>
            <a:r>
              <a:rPr lang="en-US" sz="2000" dirty="0">
                <a:solidFill>
                  <a:srgbClr val="EFD5FA"/>
                </a:solidFill>
              </a:rPr>
              <a:t>• Handling user authentication</a:t>
            </a:r>
            <a:br>
              <a:rPr lang="en-US" sz="2000" dirty="0">
                <a:solidFill>
                  <a:srgbClr val="EFD5FA"/>
                </a:solidFill>
              </a:rPr>
            </a:br>
            <a:r>
              <a:rPr lang="en-US" sz="2000" dirty="0">
                <a:solidFill>
                  <a:srgbClr val="EFD5FA"/>
                </a:solidFill>
              </a:rPr>
              <a:t>• Connecting frontend and database</a:t>
            </a:r>
            <a:br>
              <a:rPr lang="en-US" sz="2000" dirty="0">
                <a:solidFill>
                  <a:srgbClr val="EFD5FA"/>
                </a:solidFill>
              </a:rPr>
            </a:br>
            <a:r>
              <a:rPr lang="en-US" sz="2000" dirty="0">
                <a:solidFill>
                  <a:srgbClr val="EFD5FA"/>
                </a:solidFill>
              </a:rPr>
              <a:t>• Returning optimized results</a:t>
            </a:r>
            <a:endParaRPr lang="hu-HU" sz="2000" dirty="0">
              <a:solidFill>
                <a:srgbClr val="EFD5FA"/>
              </a:solidFill>
            </a:endParaRPr>
          </a:p>
          <a:p>
            <a:r>
              <a:rPr lang="en-US" sz="2000" dirty="0">
                <a:solidFill>
                  <a:srgbClr val="EFD5FA"/>
                </a:solidFill>
              </a:rPr>
              <a:t>• Handles product requests</a:t>
            </a:r>
            <a:br>
              <a:rPr lang="en-US" sz="2000" dirty="0">
                <a:solidFill>
                  <a:srgbClr val="EFD5FA"/>
                </a:solidFill>
              </a:rPr>
            </a:br>
            <a:r>
              <a:rPr lang="en-US" sz="2000" dirty="0">
                <a:solidFill>
                  <a:srgbClr val="EFD5FA"/>
                </a:solidFill>
              </a:rPr>
              <a:t>• Processes user authentication</a:t>
            </a:r>
            <a:br>
              <a:rPr lang="en-US" sz="2000" dirty="0">
                <a:solidFill>
                  <a:srgbClr val="EFD5FA"/>
                </a:solidFill>
              </a:rPr>
            </a:br>
            <a:r>
              <a:rPr lang="en-US" sz="2000" dirty="0">
                <a:solidFill>
                  <a:srgbClr val="EFD5FA"/>
                </a:solidFill>
              </a:rPr>
              <a:t>• Manages warehouse data</a:t>
            </a:r>
            <a:br>
              <a:rPr lang="en-US" sz="2000" dirty="0">
                <a:solidFill>
                  <a:srgbClr val="EFD5FA"/>
                </a:solidFill>
              </a:rPr>
            </a:br>
            <a:r>
              <a:rPr lang="en-US" sz="2000" dirty="0">
                <a:solidFill>
                  <a:srgbClr val="EFD5FA"/>
                </a:solidFill>
              </a:rPr>
              <a:t>• Connects frontend and database</a:t>
            </a:r>
            <a:br>
              <a:rPr lang="en-US" sz="2000" dirty="0">
                <a:solidFill>
                  <a:srgbClr val="EFD5FA"/>
                </a:solidFill>
              </a:rPr>
            </a:br>
            <a:r>
              <a:rPr lang="en-US" sz="2000" dirty="0">
                <a:solidFill>
                  <a:srgbClr val="EFD5FA"/>
                </a:solidFill>
              </a:rPr>
              <a:t>• Ensures secure communication</a:t>
            </a:r>
          </a:p>
          <a:p>
            <a:endParaRPr lang="en-US" sz="2000" dirty="0">
              <a:solidFill>
                <a:srgbClr val="EFD5FA"/>
              </a:solidFill>
            </a:endParaRPr>
          </a:p>
          <a:p>
            <a:endParaRPr lang="hu-HU" sz="2000" dirty="0">
              <a:solidFill>
                <a:srgbClr val="EFD5FA"/>
              </a:solidFill>
            </a:endParaRP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951310" y="477633"/>
            <a:ext cx="4727779"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Database Design</a:t>
            </a:r>
            <a:endParaRPr lang="en-US" sz="4450" dirty="0"/>
          </a:p>
        </p:txBody>
      </p:sp>
      <p:sp>
        <p:nvSpPr>
          <p:cNvPr id="4" name="Text 1"/>
          <p:cNvSpPr/>
          <p:nvPr/>
        </p:nvSpPr>
        <p:spPr>
          <a:xfrm>
            <a:off x="10303504" y="1411845"/>
            <a:ext cx="4326896" cy="6817754"/>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8" name="Téglalap 7">
            <a:extLst>
              <a:ext uri="{FF2B5EF4-FFF2-40B4-BE49-F238E27FC236}">
                <a16:creationId xmlns:a16="http://schemas.microsoft.com/office/drawing/2014/main" id="{4F9F1CF3-135E-7982-ABD1-CA74DDC58F44}"/>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2" name="Kép 11" descr="A képen képernyőkép, tervezés látható&#10;&#10;Előfordulhat, hogy az AI által létrehozott tartalom helytelen.">
            <a:extLst>
              <a:ext uri="{FF2B5EF4-FFF2-40B4-BE49-F238E27FC236}">
                <a16:creationId xmlns:a16="http://schemas.microsoft.com/office/drawing/2014/main" id="{0E9FDCF4-052F-4B00-0904-BEBED18B5EE7}"/>
              </a:ext>
            </a:extLst>
          </p:cNvPr>
          <p:cNvPicPr>
            <a:picLocks noChangeAspect="1"/>
          </p:cNvPicPr>
          <p:nvPr/>
        </p:nvPicPr>
        <p:blipFill>
          <a:blip r:embed="rId4"/>
          <a:stretch>
            <a:fillRect/>
          </a:stretch>
        </p:blipFill>
        <p:spPr>
          <a:xfrm>
            <a:off x="118533" y="1349279"/>
            <a:ext cx="10184971" cy="6538653"/>
          </a:xfrm>
          <a:prstGeom prst="rect">
            <a:avLst/>
          </a:prstGeom>
          <a:ln w="22225">
            <a:solidFill>
              <a:srgbClr val="EFD5FA"/>
            </a:solidFill>
          </a:ln>
        </p:spPr>
      </p:pic>
      <p:sp>
        <p:nvSpPr>
          <p:cNvPr id="13" name="Szövegdoboz 12">
            <a:extLst>
              <a:ext uri="{FF2B5EF4-FFF2-40B4-BE49-F238E27FC236}">
                <a16:creationId xmlns:a16="http://schemas.microsoft.com/office/drawing/2014/main" id="{F9ABA101-8A42-C10B-F1FB-C509BD9025C9}"/>
              </a:ext>
            </a:extLst>
          </p:cNvPr>
          <p:cNvSpPr txBox="1"/>
          <p:nvPr/>
        </p:nvSpPr>
        <p:spPr>
          <a:xfrm>
            <a:off x="10515600" y="1617785"/>
            <a:ext cx="3996267" cy="6001643"/>
          </a:xfrm>
          <a:prstGeom prst="rect">
            <a:avLst/>
          </a:prstGeom>
          <a:noFill/>
        </p:spPr>
        <p:txBody>
          <a:bodyPr wrap="square" rtlCol="0">
            <a:spAutoFit/>
          </a:bodyPr>
          <a:lstStyle/>
          <a:p>
            <a:r>
              <a:rPr lang="en-US" sz="2400" b="1" dirty="0">
                <a:solidFill>
                  <a:srgbClr val="EFD5FA"/>
                </a:solidFill>
              </a:rPr>
              <a:t>Structured and Easy-to-Understand Relational Database</a:t>
            </a:r>
            <a:endParaRPr lang="hu-HU" sz="2400" b="1" dirty="0">
              <a:solidFill>
                <a:srgbClr val="EFD5FA"/>
              </a:solidFill>
            </a:endParaRPr>
          </a:p>
          <a:p>
            <a:endParaRPr lang="en-US" sz="2400" dirty="0">
              <a:solidFill>
                <a:srgbClr val="EFD5FA"/>
              </a:solidFill>
            </a:endParaRPr>
          </a:p>
          <a:p>
            <a:r>
              <a:rPr lang="en-US" sz="2400" dirty="0">
                <a:solidFill>
                  <a:srgbClr val="EFD5FA"/>
                </a:solidFill>
              </a:rPr>
              <a:t>• Designed for clarity and scalability</a:t>
            </a:r>
            <a:endParaRPr lang="hu-HU" sz="2400" dirty="0">
              <a:solidFill>
                <a:srgbClr val="EFD5FA"/>
              </a:solidFill>
            </a:endParaRPr>
          </a:p>
          <a:p>
            <a:br>
              <a:rPr lang="en-US" sz="2400" dirty="0">
                <a:solidFill>
                  <a:srgbClr val="EFD5FA"/>
                </a:solidFill>
              </a:rPr>
            </a:br>
            <a:r>
              <a:rPr lang="en-US" sz="2400" dirty="0">
                <a:solidFill>
                  <a:srgbClr val="EFD5FA"/>
                </a:solidFill>
              </a:rPr>
              <a:t>• Stores products, users, prices, and orders</a:t>
            </a:r>
            <a:endParaRPr lang="hu-HU" sz="2400" dirty="0">
              <a:solidFill>
                <a:srgbClr val="EFD5FA"/>
              </a:solidFill>
            </a:endParaRPr>
          </a:p>
          <a:p>
            <a:br>
              <a:rPr lang="en-US" sz="2400" dirty="0">
                <a:solidFill>
                  <a:srgbClr val="EFD5FA"/>
                </a:solidFill>
              </a:rPr>
            </a:br>
            <a:r>
              <a:rPr lang="en-US" sz="2400" dirty="0">
                <a:solidFill>
                  <a:srgbClr val="EFD5FA"/>
                </a:solidFill>
              </a:rPr>
              <a:t>• Uses primary and foreign key relationships</a:t>
            </a:r>
            <a:endParaRPr lang="hu-HU" sz="2400" dirty="0">
              <a:solidFill>
                <a:srgbClr val="EFD5FA"/>
              </a:solidFill>
            </a:endParaRPr>
          </a:p>
          <a:p>
            <a:br>
              <a:rPr lang="en-US" sz="2400" dirty="0">
                <a:solidFill>
                  <a:srgbClr val="EFD5FA"/>
                </a:solidFill>
              </a:rPr>
            </a:br>
            <a:r>
              <a:rPr lang="en-US" sz="2400" dirty="0">
                <a:solidFill>
                  <a:srgbClr val="EFD5FA"/>
                </a:solidFill>
              </a:rPr>
              <a:t>• Ensures reliable and consistent data</a:t>
            </a:r>
          </a:p>
          <a:p>
            <a:endParaRPr lang="hu-HU" sz="2400" dirty="0">
              <a:solidFill>
                <a:srgbClr val="EFD5FA"/>
              </a:solidFill>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descr="A képen szöveg, képernyőkép, szám, sor látható&#10;&#10;Előfordulhat, hogy az AI által létrehozott tartalom helytelen.">
            <a:extLst>
              <a:ext uri="{FF2B5EF4-FFF2-40B4-BE49-F238E27FC236}">
                <a16:creationId xmlns:a16="http://schemas.microsoft.com/office/drawing/2014/main" id="{B5E9C716-6ABD-2F7F-D5E9-95EE92A43FE6}"/>
              </a:ext>
            </a:extLst>
          </p:cNvPr>
          <p:cNvPicPr>
            <a:picLocks noChangeAspect="1"/>
          </p:cNvPicPr>
          <p:nvPr/>
        </p:nvPicPr>
        <p:blipFill>
          <a:blip r:embed="rId3"/>
          <a:stretch>
            <a:fillRect/>
          </a:stretch>
        </p:blipFill>
        <p:spPr>
          <a:xfrm>
            <a:off x="0" y="1540933"/>
            <a:ext cx="14709012" cy="6688667"/>
          </a:xfrm>
          <a:prstGeom prst="rect">
            <a:avLst/>
          </a:prstGeom>
        </p:spPr>
      </p:pic>
      <p:sp>
        <p:nvSpPr>
          <p:cNvPr id="4" name="Szövegdoboz 3">
            <a:extLst>
              <a:ext uri="{FF2B5EF4-FFF2-40B4-BE49-F238E27FC236}">
                <a16:creationId xmlns:a16="http://schemas.microsoft.com/office/drawing/2014/main" id="{C5E52CAB-B660-45E1-41A3-9C9A4F6011F9}"/>
              </a:ext>
            </a:extLst>
          </p:cNvPr>
          <p:cNvSpPr txBox="1"/>
          <p:nvPr/>
        </p:nvSpPr>
        <p:spPr>
          <a:xfrm>
            <a:off x="6756401" y="468982"/>
            <a:ext cx="4656666" cy="707886"/>
          </a:xfrm>
          <a:prstGeom prst="rect">
            <a:avLst/>
          </a:prstGeom>
          <a:noFill/>
        </p:spPr>
        <p:txBody>
          <a:bodyPr wrap="square" rtlCol="0">
            <a:spAutoFit/>
          </a:bodyPr>
          <a:lstStyle/>
          <a:p>
            <a:r>
              <a:rPr lang="hu-HU" sz="4000" dirty="0" err="1">
                <a:solidFill>
                  <a:srgbClr val="EFD5FA"/>
                </a:solidFill>
              </a:rPr>
              <a:t>Tests</a:t>
            </a:r>
            <a:endParaRPr lang="hu-HU" sz="4000" dirty="0">
              <a:solidFill>
                <a:srgbClr val="EFD5FA"/>
              </a:solidFill>
            </a:endParaRPr>
          </a:p>
        </p:txBody>
      </p:sp>
    </p:spTree>
    <p:extLst>
      <p:ext uri="{BB962C8B-B14F-4D97-AF65-F5344CB8AC3E}">
        <p14:creationId xmlns:p14="http://schemas.microsoft.com/office/powerpoint/2010/main" val="69936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BFBBEF46-0561-FD10-5368-8A466C5072FD}"/>
              </a:ext>
            </a:extLst>
          </p:cNvPr>
          <p:cNvGraphicFramePr/>
          <p:nvPr>
            <p:extLst>
              <p:ext uri="{D42A27DB-BD31-4B8C-83A1-F6EECF244321}">
                <p14:modId xmlns:p14="http://schemas.microsoft.com/office/powerpoint/2010/main" val="5978871"/>
              </p:ext>
            </p:extLst>
          </p:nvPr>
        </p:nvGraphicFramePr>
        <p:xfrm>
          <a:off x="-236666" y="1332315"/>
          <a:ext cx="9753600" cy="6502400"/>
        </p:xfrm>
        <a:graphic>
          <a:graphicData uri="http://schemas.openxmlformats.org/drawingml/2006/chart">
            <c:chart xmlns:c="http://schemas.openxmlformats.org/drawingml/2006/chart" xmlns:r="http://schemas.openxmlformats.org/officeDocument/2006/relationships" r:id="rId2"/>
          </a:graphicData>
        </a:graphic>
      </p:graphicFrame>
      <p:pic>
        <p:nvPicPr>
          <p:cNvPr id="8" name="Kép 7" descr="A képen képernyőkép, szöveg, diagram látható&#10;&#10;Előfordulhat, hogy az AI által létrehozott tartalom helytelen.">
            <a:extLst>
              <a:ext uri="{FF2B5EF4-FFF2-40B4-BE49-F238E27FC236}">
                <a16:creationId xmlns:a16="http://schemas.microsoft.com/office/drawing/2014/main" id="{E4F872EA-5F17-396B-8AB0-9000B94B0A8F}"/>
              </a:ext>
            </a:extLst>
          </p:cNvPr>
          <p:cNvPicPr>
            <a:picLocks noChangeAspect="1"/>
          </p:cNvPicPr>
          <p:nvPr/>
        </p:nvPicPr>
        <p:blipFill>
          <a:blip r:embed="rId3"/>
          <a:stretch>
            <a:fillRect/>
          </a:stretch>
        </p:blipFill>
        <p:spPr>
          <a:xfrm>
            <a:off x="8573766" y="1683478"/>
            <a:ext cx="4823530" cy="5800073"/>
          </a:xfrm>
          <a:prstGeom prst="rect">
            <a:avLst/>
          </a:prstGeom>
        </p:spPr>
      </p:pic>
      <p:sp>
        <p:nvSpPr>
          <p:cNvPr id="9" name="Szövegdoboz 8">
            <a:extLst>
              <a:ext uri="{FF2B5EF4-FFF2-40B4-BE49-F238E27FC236}">
                <a16:creationId xmlns:a16="http://schemas.microsoft.com/office/drawing/2014/main" id="{1926C1A4-C1FB-3918-B29C-C6BCCDE911BB}"/>
              </a:ext>
            </a:extLst>
          </p:cNvPr>
          <p:cNvSpPr txBox="1"/>
          <p:nvPr/>
        </p:nvSpPr>
        <p:spPr>
          <a:xfrm>
            <a:off x="5899286" y="396376"/>
            <a:ext cx="5348959" cy="584775"/>
          </a:xfrm>
          <a:prstGeom prst="rect">
            <a:avLst/>
          </a:prstGeom>
          <a:noFill/>
        </p:spPr>
        <p:txBody>
          <a:bodyPr wrap="square" rtlCol="0">
            <a:spAutoFit/>
          </a:bodyPr>
          <a:lstStyle/>
          <a:p>
            <a:r>
              <a:rPr lang="hu-HU" sz="3200" dirty="0" err="1">
                <a:solidFill>
                  <a:srgbClr val="EFD5FA"/>
                </a:solidFill>
              </a:rPr>
              <a:t>Worklogs</a:t>
            </a:r>
            <a:r>
              <a:rPr lang="hu-HU" sz="3200" dirty="0">
                <a:solidFill>
                  <a:srgbClr val="EFD5FA"/>
                </a:solidFill>
              </a:rPr>
              <a:t> and </a:t>
            </a:r>
            <a:r>
              <a:rPr lang="hu-HU" sz="3200" dirty="0" err="1">
                <a:solidFill>
                  <a:srgbClr val="EFD5FA"/>
                </a:solidFill>
              </a:rPr>
              <a:t>commits</a:t>
            </a:r>
            <a:endParaRPr lang="hu-HU" sz="3200" dirty="0">
              <a:solidFill>
                <a:srgbClr val="EFD5FA"/>
              </a:solidFill>
            </a:endParaRPr>
          </a:p>
        </p:txBody>
      </p:sp>
      <p:sp>
        <p:nvSpPr>
          <p:cNvPr id="10" name="Téglalap 9">
            <a:extLst>
              <a:ext uri="{FF2B5EF4-FFF2-40B4-BE49-F238E27FC236}">
                <a16:creationId xmlns:a16="http://schemas.microsoft.com/office/drawing/2014/main" id="{AE7C6280-15FE-B7DF-EF24-8353D43822DC}"/>
              </a:ext>
            </a:extLst>
          </p:cNvPr>
          <p:cNvSpPr/>
          <p:nvPr/>
        </p:nvSpPr>
        <p:spPr>
          <a:xfrm>
            <a:off x="12563856" y="7626096"/>
            <a:ext cx="1938528" cy="603504"/>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4086107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91786"/>
            <a:ext cx="7394496"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Key Features &amp; Admin Panel</a:t>
            </a:r>
            <a:endParaRPr lang="en-US" sz="4450" dirty="0"/>
          </a:p>
        </p:txBody>
      </p:sp>
      <p:sp>
        <p:nvSpPr>
          <p:cNvPr id="4" name="Text 1"/>
          <p:cNvSpPr/>
          <p:nvPr/>
        </p:nvSpPr>
        <p:spPr>
          <a:xfrm>
            <a:off x="1271185" y="1656885"/>
            <a:ext cx="2960251" cy="708660"/>
          </a:xfrm>
          <a:prstGeom prst="rect">
            <a:avLst/>
          </a:prstGeom>
          <a:noFill/>
          <a:ln/>
        </p:spPr>
        <p:txBody>
          <a:bodyPr wrap="square" lIns="0" tIns="0" rIns="0" bIns="0" rtlCol="0" anchor="t"/>
          <a:lstStyle/>
          <a:p>
            <a:pPr>
              <a:lnSpc>
                <a:spcPts val="2750"/>
              </a:lnSpc>
            </a:pPr>
            <a:r>
              <a:rPr lang="hu-HU" sz="2800" dirty="0" err="1">
                <a:solidFill>
                  <a:srgbClr val="EFD5FA"/>
                </a:solidFill>
              </a:rPr>
              <a:t>Product</a:t>
            </a:r>
            <a:r>
              <a:rPr lang="hu-HU" sz="2800" dirty="0">
                <a:solidFill>
                  <a:srgbClr val="EFD5FA"/>
                </a:solidFill>
              </a:rPr>
              <a:t> &amp; Price Management</a:t>
            </a:r>
            <a:endParaRPr lang="en-US" sz="2400" dirty="0">
              <a:solidFill>
                <a:srgbClr val="EFD5FA"/>
              </a:solidFill>
            </a:endParaRPr>
          </a:p>
        </p:txBody>
      </p:sp>
      <p:sp>
        <p:nvSpPr>
          <p:cNvPr id="5" name="Text 2"/>
          <p:cNvSpPr/>
          <p:nvPr/>
        </p:nvSpPr>
        <p:spPr>
          <a:xfrm>
            <a:off x="1271185" y="2678800"/>
            <a:ext cx="2960251" cy="1451610"/>
          </a:xfrm>
          <a:prstGeom prst="rect">
            <a:avLst/>
          </a:prstGeom>
          <a:noFill/>
          <a:ln/>
        </p:spPr>
        <p:txBody>
          <a:bodyPr wrap="square" lIns="0" tIns="0" rIns="0" bIns="0" rtlCol="0" anchor="t"/>
          <a:lstStyle/>
          <a:p>
            <a:pPr>
              <a:lnSpc>
                <a:spcPts val="2850"/>
              </a:lnSpc>
            </a:pPr>
            <a:r>
              <a:rPr lang="en-US" dirty="0">
                <a:solidFill>
                  <a:srgbClr val="EFD5FA"/>
                </a:solidFill>
              </a:rPr>
              <a:t>Admins can add, edit, and update products and prices to ensure accurate and optimal offers for users.</a:t>
            </a:r>
          </a:p>
        </p:txBody>
      </p:sp>
      <p:sp>
        <p:nvSpPr>
          <p:cNvPr id="7" name="Text 3"/>
          <p:cNvSpPr/>
          <p:nvPr/>
        </p:nvSpPr>
        <p:spPr>
          <a:xfrm>
            <a:off x="5789346" y="1766006"/>
            <a:ext cx="2808134" cy="490419"/>
          </a:xfrm>
          <a:prstGeom prst="rect">
            <a:avLst/>
          </a:prstGeom>
          <a:noFill/>
          <a:ln/>
        </p:spPr>
        <p:txBody>
          <a:bodyPr wrap="none" lIns="0" tIns="0" rIns="0" bIns="0" rtlCol="0" anchor="t"/>
          <a:lstStyle/>
          <a:p>
            <a:pPr>
              <a:lnSpc>
                <a:spcPts val="2750"/>
              </a:lnSpc>
            </a:pPr>
            <a:r>
              <a:rPr lang="hu-HU" sz="2800" dirty="0" err="1">
                <a:solidFill>
                  <a:srgbClr val="EFD5FA"/>
                </a:solidFill>
              </a:rPr>
              <a:t>Order</a:t>
            </a:r>
            <a:r>
              <a:rPr lang="hu-HU" sz="2800" dirty="0">
                <a:solidFill>
                  <a:srgbClr val="EFD5FA"/>
                </a:solidFill>
              </a:rPr>
              <a:t> &amp; System</a:t>
            </a:r>
          </a:p>
          <a:p>
            <a:pPr>
              <a:lnSpc>
                <a:spcPts val="2750"/>
              </a:lnSpc>
            </a:pPr>
            <a:r>
              <a:rPr lang="hu-HU" sz="2800" dirty="0">
                <a:solidFill>
                  <a:srgbClr val="EFD5FA"/>
                </a:solidFill>
              </a:rPr>
              <a:t>Management</a:t>
            </a:r>
            <a:endParaRPr lang="en-US" sz="2400" dirty="0">
              <a:solidFill>
                <a:srgbClr val="EFD5FA"/>
              </a:solidFill>
            </a:endParaRPr>
          </a:p>
        </p:txBody>
      </p:sp>
      <p:sp>
        <p:nvSpPr>
          <p:cNvPr id="8" name="Text 4"/>
          <p:cNvSpPr/>
          <p:nvPr/>
        </p:nvSpPr>
        <p:spPr>
          <a:xfrm>
            <a:off x="5789346" y="2678800"/>
            <a:ext cx="2960251" cy="1451610"/>
          </a:xfrm>
          <a:prstGeom prst="rect">
            <a:avLst/>
          </a:prstGeom>
          <a:noFill/>
          <a:ln/>
        </p:spPr>
        <p:txBody>
          <a:bodyPr wrap="square" lIns="0" tIns="0" rIns="0" bIns="0" rtlCol="0" anchor="t"/>
          <a:lstStyle/>
          <a:p>
            <a:pPr>
              <a:lnSpc>
                <a:spcPts val="2850"/>
              </a:lnSpc>
            </a:pPr>
            <a:r>
              <a:rPr lang="en-US" dirty="0">
                <a:solidFill>
                  <a:srgbClr val="EFD5FA"/>
                </a:solidFill>
              </a:rPr>
              <a:t>Admins can monitor orders, manage product data, and ensure smooth system operation.</a:t>
            </a:r>
          </a:p>
        </p:txBody>
      </p:sp>
      <p:sp>
        <p:nvSpPr>
          <p:cNvPr id="10" name="Text 5"/>
          <p:cNvSpPr/>
          <p:nvPr/>
        </p:nvSpPr>
        <p:spPr>
          <a:xfrm>
            <a:off x="10155390" y="1834051"/>
            <a:ext cx="2936915" cy="354330"/>
          </a:xfrm>
          <a:prstGeom prst="rect">
            <a:avLst/>
          </a:prstGeom>
          <a:noFill/>
          <a:ln/>
        </p:spPr>
        <p:txBody>
          <a:bodyPr wrap="none" lIns="0" tIns="0" rIns="0" bIns="0" rtlCol="0" anchor="t"/>
          <a:lstStyle/>
          <a:p>
            <a:pPr>
              <a:lnSpc>
                <a:spcPts val="2750"/>
              </a:lnSpc>
            </a:pPr>
            <a:r>
              <a:rPr lang="hu-HU" sz="2800" dirty="0">
                <a:solidFill>
                  <a:srgbClr val="EFD5FA"/>
                </a:solidFill>
              </a:rPr>
              <a:t>Strong </a:t>
            </a:r>
            <a:r>
              <a:rPr lang="hu-HU" sz="2800" dirty="0" err="1">
                <a:solidFill>
                  <a:srgbClr val="EFD5FA"/>
                </a:solidFill>
              </a:rPr>
              <a:t>Admin</a:t>
            </a:r>
            <a:r>
              <a:rPr lang="hu-HU" sz="2800" dirty="0">
                <a:solidFill>
                  <a:srgbClr val="EFD5FA"/>
                </a:solidFill>
              </a:rPr>
              <a:t> </a:t>
            </a:r>
          </a:p>
          <a:p>
            <a:pPr>
              <a:lnSpc>
                <a:spcPts val="2750"/>
              </a:lnSpc>
            </a:pPr>
            <a:r>
              <a:rPr lang="hu-HU" sz="2800" dirty="0" err="1">
                <a:solidFill>
                  <a:srgbClr val="EFD5FA"/>
                </a:solidFill>
              </a:rPr>
              <a:t>Support</a:t>
            </a:r>
            <a:endParaRPr lang="en-US" sz="2400" dirty="0">
              <a:solidFill>
                <a:srgbClr val="EFD5FA"/>
              </a:solidFill>
            </a:endParaRPr>
          </a:p>
        </p:txBody>
      </p:sp>
      <p:sp>
        <p:nvSpPr>
          <p:cNvPr id="11" name="Text 6"/>
          <p:cNvSpPr/>
          <p:nvPr/>
        </p:nvSpPr>
        <p:spPr>
          <a:xfrm>
            <a:off x="10155390" y="2651544"/>
            <a:ext cx="2960251" cy="1451610"/>
          </a:xfrm>
          <a:prstGeom prst="rect">
            <a:avLst/>
          </a:prstGeom>
          <a:noFill/>
          <a:ln/>
        </p:spPr>
        <p:txBody>
          <a:bodyPr wrap="square" lIns="0" tIns="0" rIns="0" bIns="0" rtlCol="0" anchor="t"/>
          <a:lstStyle/>
          <a:p>
            <a:pPr>
              <a:lnSpc>
                <a:spcPts val="2850"/>
              </a:lnSpc>
            </a:pPr>
            <a:r>
              <a:rPr lang="en-US" dirty="0">
                <a:solidFill>
                  <a:srgbClr val="EFD5FA"/>
                </a:solidFill>
              </a:rPr>
              <a:t>Fast and precise admin assistance ensures smooth operation and improves the overall purchasing experience.</a:t>
            </a:r>
          </a:p>
        </p:txBody>
      </p:sp>
      <p:sp>
        <p:nvSpPr>
          <p:cNvPr id="12" name="Téglalap 11">
            <a:extLst>
              <a:ext uri="{FF2B5EF4-FFF2-40B4-BE49-F238E27FC236}">
                <a16:creationId xmlns:a16="http://schemas.microsoft.com/office/drawing/2014/main" id="{5EE0E23F-A12D-632C-429D-506916A989E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4" name="Kép 13" descr="A képen szöveg, képernyőkép, szoftver, Multimédiás szoftver látható&#10;&#10;Előfordulhat, hogy az AI által létrehozott tartalom helytelen.">
            <a:extLst>
              <a:ext uri="{FF2B5EF4-FFF2-40B4-BE49-F238E27FC236}">
                <a16:creationId xmlns:a16="http://schemas.microsoft.com/office/drawing/2014/main" id="{274B7FE5-B576-6CE0-A7B9-E46574AE59AD}"/>
              </a:ext>
            </a:extLst>
          </p:cNvPr>
          <p:cNvPicPr>
            <a:picLocks noChangeAspect="1"/>
          </p:cNvPicPr>
          <p:nvPr/>
        </p:nvPicPr>
        <p:blipFill>
          <a:blip r:embed="rId4"/>
          <a:stretch>
            <a:fillRect/>
          </a:stretch>
        </p:blipFill>
        <p:spPr>
          <a:xfrm>
            <a:off x="3152194" y="4699862"/>
            <a:ext cx="8326012" cy="3391373"/>
          </a:xfrm>
          <a:prstGeom prst="rect">
            <a:avLst/>
          </a:prstGeom>
          <a:ln w="22225">
            <a:solidFill>
              <a:srgbClr val="EFD5FA"/>
            </a:solidFill>
          </a:ln>
        </p:spPr>
      </p:pic>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églalap 1">
            <a:extLst>
              <a:ext uri="{FF2B5EF4-FFF2-40B4-BE49-F238E27FC236}">
                <a16:creationId xmlns:a16="http://schemas.microsoft.com/office/drawing/2014/main" id="{72B7BFAF-40CE-7381-A849-15C9D8961B2F}"/>
              </a:ext>
            </a:extLst>
          </p:cNvPr>
          <p:cNvSpPr/>
          <p:nvPr/>
        </p:nvSpPr>
        <p:spPr>
          <a:xfrm>
            <a:off x="12073467" y="7298267"/>
            <a:ext cx="4148666" cy="1371600"/>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 name="Szövegdoboz 2">
            <a:extLst>
              <a:ext uri="{FF2B5EF4-FFF2-40B4-BE49-F238E27FC236}">
                <a16:creationId xmlns:a16="http://schemas.microsoft.com/office/drawing/2014/main" id="{21CF466F-12B5-CCBC-3186-048B9ACC2001}"/>
              </a:ext>
            </a:extLst>
          </p:cNvPr>
          <p:cNvSpPr txBox="1"/>
          <p:nvPr/>
        </p:nvSpPr>
        <p:spPr>
          <a:xfrm>
            <a:off x="5435600" y="233388"/>
            <a:ext cx="5808133" cy="707886"/>
          </a:xfrm>
          <a:prstGeom prst="rect">
            <a:avLst/>
          </a:prstGeom>
          <a:noFill/>
        </p:spPr>
        <p:txBody>
          <a:bodyPr wrap="square" rtlCol="0">
            <a:spAutoFit/>
          </a:bodyPr>
          <a:lstStyle/>
          <a:p>
            <a:r>
              <a:rPr lang="hu-HU" sz="4000" dirty="0" err="1">
                <a:solidFill>
                  <a:srgbClr val="EFD5FA"/>
                </a:solidFill>
              </a:rPr>
              <a:t>Tech</a:t>
            </a:r>
            <a:r>
              <a:rPr lang="hu-HU" sz="4000" dirty="0">
                <a:solidFill>
                  <a:srgbClr val="EFD5FA"/>
                </a:solidFill>
              </a:rPr>
              <a:t> </a:t>
            </a:r>
            <a:r>
              <a:rPr lang="hu-HU" sz="4000" dirty="0" err="1">
                <a:solidFill>
                  <a:srgbClr val="EFD5FA"/>
                </a:solidFill>
              </a:rPr>
              <a:t>Usagage</a:t>
            </a:r>
            <a:endParaRPr lang="hu-HU" sz="4000" dirty="0">
              <a:solidFill>
                <a:srgbClr val="EFD5FA"/>
              </a:solidFill>
            </a:endParaRPr>
          </a:p>
        </p:txBody>
      </p:sp>
      <p:sp>
        <p:nvSpPr>
          <p:cNvPr id="4" name="Ellipszis 3">
            <a:extLst>
              <a:ext uri="{FF2B5EF4-FFF2-40B4-BE49-F238E27FC236}">
                <a16:creationId xmlns:a16="http://schemas.microsoft.com/office/drawing/2014/main" id="{E6E0BE42-9462-2E3D-9965-FD98F72578BC}"/>
              </a:ext>
            </a:extLst>
          </p:cNvPr>
          <p:cNvSpPr/>
          <p:nvPr/>
        </p:nvSpPr>
        <p:spPr>
          <a:xfrm>
            <a:off x="334434" y="1124227"/>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7" name="Szövegdoboz 6">
            <a:extLst>
              <a:ext uri="{FF2B5EF4-FFF2-40B4-BE49-F238E27FC236}">
                <a16:creationId xmlns:a16="http://schemas.microsoft.com/office/drawing/2014/main" id="{A981FBC8-477E-A495-F87B-23E4D08DC707}"/>
              </a:ext>
            </a:extLst>
          </p:cNvPr>
          <p:cNvSpPr txBox="1"/>
          <p:nvPr/>
        </p:nvSpPr>
        <p:spPr>
          <a:xfrm>
            <a:off x="1104900" y="2194973"/>
            <a:ext cx="3014133" cy="4154984"/>
          </a:xfrm>
          <a:prstGeom prst="rect">
            <a:avLst/>
          </a:prstGeom>
          <a:noFill/>
        </p:spPr>
        <p:txBody>
          <a:bodyPr wrap="square" rtlCol="0">
            <a:spAutoFit/>
          </a:bodyPr>
          <a:lstStyle/>
          <a:p>
            <a:pPr algn="ctr"/>
            <a:r>
              <a:rPr lang="hu-HU" sz="2400" b="1" dirty="0"/>
              <a:t>Molnár Dániel : Frontend</a:t>
            </a:r>
          </a:p>
          <a:p>
            <a:pPr algn="ctr"/>
            <a:endParaRPr lang="hu-HU" sz="2400" b="1" dirty="0"/>
          </a:p>
          <a:p>
            <a:pPr algn="ctr"/>
            <a:endParaRPr lang="hu-HU" sz="2400" b="1" dirty="0"/>
          </a:p>
          <a:p>
            <a:pPr algn="ctr"/>
            <a:endParaRPr lang="hu-HU" sz="2400" b="1" dirty="0"/>
          </a:p>
          <a:p>
            <a:pPr algn="ctr"/>
            <a:r>
              <a:rPr lang="hu-HU" sz="2400" b="1" dirty="0"/>
              <a:t>HTML, CSS, JavaScript </a:t>
            </a:r>
            <a:r>
              <a:rPr lang="hu-HU" sz="2400" b="1" dirty="0" err="1"/>
              <a:t>for</a:t>
            </a:r>
            <a:r>
              <a:rPr lang="hu-HU" sz="2400" b="1" dirty="0"/>
              <a:t> </a:t>
            </a:r>
            <a:r>
              <a:rPr lang="hu-HU" sz="2400" b="1" dirty="0" err="1"/>
              <a:t>structure</a:t>
            </a:r>
            <a:r>
              <a:rPr lang="hu-HU" sz="2400" b="1" dirty="0"/>
              <a:t>, design and </a:t>
            </a:r>
            <a:r>
              <a:rPr lang="hu-HU" sz="2400" b="1" dirty="0" err="1"/>
              <a:t>functionality</a:t>
            </a:r>
            <a:endParaRPr lang="hu-HU" sz="2400" b="1" dirty="0"/>
          </a:p>
          <a:p>
            <a:pPr algn="ctr"/>
            <a:endParaRPr lang="hu-HU" sz="2400" b="1" dirty="0"/>
          </a:p>
          <a:p>
            <a:pPr algn="ctr"/>
            <a:r>
              <a:rPr lang="hu-HU" sz="2400" b="1" dirty="0" err="1"/>
              <a:t>Bootstrap</a:t>
            </a:r>
            <a:r>
              <a:rPr lang="hu-HU" sz="2400" b="1" dirty="0"/>
              <a:t> </a:t>
            </a:r>
            <a:r>
              <a:rPr lang="hu-HU" sz="2400" b="1" dirty="0" err="1"/>
              <a:t>for</a:t>
            </a:r>
            <a:r>
              <a:rPr lang="hu-HU" sz="2400" b="1" dirty="0"/>
              <a:t> </a:t>
            </a:r>
            <a:r>
              <a:rPr lang="hu-HU" sz="2400" b="1" dirty="0" err="1"/>
              <a:t>responsive</a:t>
            </a:r>
            <a:r>
              <a:rPr lang="hu-HU" sz="2400" b="1" dirty="0"/>
              <a:t> design</a:t>
            </a:r>
          </a:p>
        </p:txBody>
      </p:sp>
      <p:sp>
        <p:nvSpPr>
          <p:cNvPr id="8" name="Ellipszis 7">
            <a:extLst>
              <a:ext uri="{FF2B5EF4-FFF2-40B4-BE49-F238E27FC236}">
                <a16:creationId xmlns:a16="http://schemas.microsoft.com/office/drawing/2014/main" id="{0FAC6A36-8656-5733-939D-CB1B130FF64B}"/>
              </a:ext>
            </a:extLst>
          </p:cNvPr>
          <p:cNvSpPr/>
          <p:nvPr/>
        </p:nvSpPr>
        <p:spPr>
          <a:xfrm>
            <a:off x="5037667" y="1124227"/>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9" name="Szövegdoboz 8">
            <a:extLst>
              <a:ext uri="{FF2B5EF4-FFF2-40B4-BE49-F238E27FC236}">
                <a16:creationId xmlns:a16="http://schemas.microsoft.com/office/drawing/2014/main" id="{633F1FF4-9DFB-7228-4F02-C82BD92D6825}"/>
              </a:ext>
            </a:extLst>
          </p:cNvPr>
          <p:cNvSpPr txBox="1"/>
          <p:nvPr/>
        </p:nvSpPr>
        <p:spPr>
          <a:xfrm>
            <a:off x="5808133" y="2194973"/>
            <a:ext cx="3014133" cy="3785652"/>
          </a:xfrm>
          <a:prstGeom prst="rect">
            <a:avLst/>
          </a:prstGeom>
          <a:noFill/>
        </p:spPr>
        <p:txBody>
          <a:bodyPr wrap="square" rtlCol="0">
            <a:spAutoFit/>
          </a:bodyPr>
          <a:lstStyle/>
          <a:p>
            <a:pPr algn="ctr"/>
            <a:r>
              <a:rPr lang="hu-HU" sz="2400" b="1" dirty="0"/>
              <a:t>Molnár Máté: </a:t>
            </a:r>
            <a:r>
              <a:rPr lang="hu-HU" sz="2400" b="1" dirty="0" err="1"/>
              <a:t>Database</a:t>
            </a:r>
            <a:endParaRPr lang="hu-HU" sz="2400" b="1" dirty="0"/>
          </a:p>
          <a:p>
            <a:pPr algn="ctr"/>
            <a:endParaRPr lang="hu-HU" sz="2400" b="1" dirty="0"/>
          </a:p>
          <a:p>
            <a:pPr algn="ctr"/>
            <a:endParaRPr lang="hu-HU" sz="2400" b="1" dirty="0"/>
          </a:p>
          <a:p>
            <a:pPr algn="ctr"/>
            <a:endParaRPr lang="hu-HU" sz="2400" b="1" dirty="0"/>
          </a:p>
          <a:p>
            <a:pPr algn="ctr"/>
            <a:r>
              <a:rPr lang="hu-HU" sz="2400" b="1" dirty="0" err="1"/>
              <a:t>MySQL</a:t>
            </a:r>
            <a:r>
              <a:rPr lang="hu-HU" sz="2400" b="1" dirty="0"/>
              <a:t> </a:t>
            </a:r>
            <a:r>
              <a:rPr lang="hu-HU" sz="2400" b="1" dirty="0" err="1"/>
              <a:t>relational</a:t>
            </a:r>
            <a:r>
              <a:rPr lang="hu-HU" sz="2400" b="1" dirty="0"/>
              <a:t> </a:t>
            </a:r>
            <a:r>
              <a:rPr lang="hu-HU" sz="2400" b="1" dirty="0" err="1"/>
              <a:t>database</a:t>
            </a:r>
            <a:endParaRPr lang="hu-HU" sz="2400" b="1" dirty="0"/>
          </a:p>
          <a:p>
            <a:pPr algn="ctr"/>
            <a:endParaRPr lang="hu-HU" sz="2400" b="1" dirty="0"/>
          </a:p>
          <a:p>
            <a:pPr algn="ctr"/>
            <a:r>
              <a:rPr lang="hu-HU" sz="2400" b="1" dirty="0" err="1"/>
              <a:t>Stores</a:t>
            </a:r>
            <a:r>
              <a:rPr lang="hu-HU" sz="2400" b="1" dirty="0"/>
              <a:t> </a:t>
            </a:r>
            <a:r>
              <a:rPr lang="hu-HU" sz="2400" b="1" dirty="0" err="1"/>
              <a:t>products</a:t>
            </a:r>
            <a:r>
              <a:rPr lang="hu-HU" sz="2400" b="1" dirty="0"/>
              <a:t>, </a:t>
            </a:r>
            <a:r>
              <a:rPr lang="hu-HU" sz="2400" b="1" dirty="0" err="1"/>
              <a:t>users</a:t>
            </a:r>
            <a:r>
              <a:rPr lang="hu-HU" sz="2400" b="1" dirty="0"/>
              <a:t>, and </a:t>
            </a:r>
            <a:r>
              <a:rPr lang="hu-HU" sz="2400" b="1" dirty="0" err="1"/>
              <a:t>orders</a:t>
            </a:r>
            <a:endParaRPr lang="hu-HU" sz="2400" b="1" dirty="0"/>
          </a:p>
        </p:txBody>
      </p:sp>
      <p:sp>
        <p:nvSpPr>
          <p:cNvPr id="10" name="Ellipszis 9">
            <a:extLst>
              <a:ext uri="{FF2B5EF4-FFF2-40B4-BE49-F238E27FC236}">
                <a16:creationId xmlns:a16="http://schemas.microsoft.com/office/drawing/2014/main" id="{3C638D7A-0DD6-1017-D6E8-5362C191C6C7}"/>
              </a:ext>
            </a:extLst>
          </p:cNvPr>
          <p:cNvSpPr/>
          <p:nvPr/>
        </p:nvSpPr>
        <p:spPr>
          <a:xfrm>
            <a:off x="9740900" y="941274"/>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11" name="Szövegdoboz 10">
            <a:extLst>
              <a:ext uri="{FF2B5EF4-FFF2-40B4-BE49-F238E27FC236}">
                <a16:creationId xmlns:a16="http://schemas.microsoft.com/office/drawing/2014/main" id="{421B5E9C-4325-947F-3E7F-252823958B5D}"/>
              </a:ext>
            </a:extLst>
          </p:cNvPr>
          <p:cNvSpPr txBox="1"/>
          <p:nvPr/>
        </p:nvSpPr>
        <p:spPr>
          <a:xfrm>
            <a:off x="10511366" y="2012020"/>
            <a:ext cx="3014133" cy="3785652"/>
          </a:xfrm>
          <a:prstGeom prst="rect">
            <a:avLst/>
          </a:prstGeom>
          <a:noFill/>
        </p:spPr>
        <p:txBody>
          <a:bodyPr wrap="square" rtlCol="0">
            <a:spAutoFit/>
          </a:bodyPr>
          <a:lstStyle/>
          <a:p>
            <a:pPr algn="ctr"/>
            <a:r>
              <a:rPr lang="hu-HU" sz="2400" b="1" dirty="0" err="1"/>
              <a:t>Trubics</a:t>
            </a:r>
            <a:r>
              <a:rPr lang="hu-HU" sz="2400" b="1" dirty="0"/>
              <a:t> Gorán: Backend</a:t>
            </a:r>
          </a:p>
          <a:p>
            <a:pPr algn="ctr"/>
            <a:endParaRPr lang="hu-HU" sz="2400" b="1" dirty="0"/>
          </a:p>
          <a:p>
            <a:pPr algn="ctr"/>
            <a:endParaRPr lang="hu-HU" sz="2400" b="1" dirty="0"/>
          </a:p>
          <a:p>
            <a:pPr algn="ctr"/>
            <a:endParaRPr lang="hu-HU" sz="2400" b="1" dirty="0"/>
          </a:p>
          <a:p>
            <a:pPr algn="ctr"/>
            <a:r>
              <a:rPr lang="hu-HU" sz="2400" b="1" dirty="0" err="1"/>
              <a:t>RestAPI</a:t>
            </a:r>
            <a:r>
              <a:rPr lang="hu-HU" sz="2400" b="1" dirty="0"/>
              <a:t> </a:t>
            </a:r>
            <a:r>
              <a:rPr lang="hu-HU" sz="2400" b="1" dirty="0" err="1"/>
              <a:t>architecture</a:t>
            </a:r>
            <a:endParaRPr lang="hu-HU" sz="2400" b="1" dirty="0"/>
          </a:p>
          <a:p>
            <a:pPr algn="ctr"/>
            <a:endParaRPr lang="hu-HU" sz="2400" b="1" dirty="0"/>
          </a:p>
          <a:p>
            <a:pPr algn="ctr"/>
            <a:r>
              <a:rPr lang="hu-HU" sz="2400" b="1" dirty="0" err="1"/>
              <a:t>Handles</a:t>
            </a:r>
            <a:r>
              <a:rPr lang="hu-HU" sz="2400" b="1" dirty="0"/>
              <a:t> business </a:t>
            </a:r>
            <a:r>
              <a:rPr lang="hu-HU" sz="2400" b="1" dirty="0" err="1"/>
              <a:t>logic</a:t>
            </a:r>
            <a:r>
              <a:rPr lang="hu-HU" sz="2400" b="1" dirty="0"/>
              <a:t> and </a:t>
            </a:r>
            <a:r>
              <a:rPr lang="hu-HU" sz="2400" b="1" dirty="0" err="1"/>
              <a:t>data</a:t>
            </a:r>
            <a:r>
              <a:rPr lang="hu-HU" sz="2400" b="1" dirty="0"/>
              <a:t> </a:t>
            </a:r>
            <a:r>
              <a:rPr lang="hu-HU" sz="2400" b="1" dirty="0" err="1"/>
              <a:t>communication</a:t>
            </a:r>
            <a:endParaRPr lang="hu-HU" sz="2400" b="1" dirty="0"/>
          </a:p>
        </p:txBody>
      </p:sp>
      <p:sp>
        <p:nvSpPr>
          <p:cNvPr id="12" name="Szövegdoboz 11">
            <a:extLst>
              <a:ext uri="{FF2B5EF4-FFF2-40B4-BE49-F238E27FC236}">
                <a16:creationId xmlns:a16="http://schemas.microsoft.com/office/drawing/2014/main" id="{48AA8FDB-47E5-FF93-50B6-5D594F038B67}"/>
              </a:ext>
            </a:extLst>
          </p:cNvPr>
          <p:cNvSpPr txBox="1"/>
          <p:nvPr/>
        </p:nvSpPr>
        <p:spPr>
          <a:xfrm>
            <a:off x="2882899" y="7245760"/>
            <a:ext cx="8864600" cy="830997"/>
          </a:xfrm>
          <a:prstGeom prst="rect">
            <a:avLst/>
          </a:prstGeom>
          <a:noFill/>
        </p:spPr>
        <p:txBody>
          <a:bodyPr wrap="square" rtlCol="0">
            <a:spAutoFit/>
          </a:bodyPr>
          <a:lstStyle/>
          <a:p>
            <a:pPr algn="ctr"/>
            <a:r>
              <a:rPr lang="hu-HU" sz="2400" dirty="0" err="1">
                <a:solidFill>
                  <a:srgbClr val="EFD5FA"/>
                </a:solidFill>
              </a:rPr>
              <a:t>Git</a:t>
            </a:r>
            <a:r>
              <a:rPr lang="hu-HU" sz="2400" dirty="0">
                <a:solidFill>
                  <a:srgbClr val="EFD5FA"/>
                </a:solidFill>
              </a:rPr>
              <a:t> </a:t>
            </a:r>
            <a:r>
              <a:rPr lang="hu-HU" sz="2400" dirty="0" err="1">
                <a:solidFill>
                  <a:srgbClr val="EFD5FA"/>
                </a:solidFill>
              </a:rPr>
              <a:t>for</a:t>
            </a:r>
            <a:r>
              <a:rPr lang="hu-HU" sz="2400" dirty="0">
                <a:solidFill>
                  <a:srgbClr val="EFD5FA"/>
                </a:solidFill>
              </a:rPr>
              <a:t> version </a:t>
            </a:r>
            <a:r>
              <a:rPr lang="hu-HU" sz="2400" dirty="0" err="1">
                <a:solidFill>
                  <a:srgbClr val="EFD5FA"/>
                </a:solidFill>
              </a:rPr>
              <a:t>control</a:t>
            </a:r>
            <a:endParaRPr lang="hu-HU" sz="2400" dirty="0">
              <a:solidFill>
                <a:srgbClr val="EFD5FA"/>
              </a:solidFill>
            </a:endParaRPr>
          </a:p>
          <a:p>
            <a:pPr algn="ctr"/>
            <a:r>
              <a:rPr lang="hu-HU" sz="2400" dirty="0" err="1">
                <a:solidFill>
                  <a:srgbClr val="EFD5FA"/>
                </a:solidFill>
              </a:rPr>
              <a:t>Jira</a:t>
            </a:r>
            <a:r>
              <a:rPr lang="hu-HU" sz="2400" dirty="0">
                <a:solidFill>
                  <a:srgbClr val="EFD5FA"/>
                </a:solidFill>
              </a:rPr>
              <a:t> </a:t>
            </a:r>
            <a:r>
              <a:rPr lang="hu-HU" sz="2400" dirty="0" err="1">
                <a:solidFill>
                  <a:srgbClr val="EFD5FA"/>
                </a:solidFill>
              </a:rPr>
              <a:t>for</a:t>
            </a:r>
            <a:r>
              <a:rPr lang="hu-HU" sz="2400" dirty="0">
                <a:solidFill>
                  <a:srgbClr val="EFD5FA"/>
                </a:solidFill>
              </a:rPr>
              <a:t> </a:t>
            </a:r>
            <a:r>
              <a:rPr lang="hu-HU" sz="2400" dirty="0" err="1">
                <a:solidFill>
                  <a:srgbClr val="EFD5FA"/>
                </a:solidFill>
              </a:rPr>
              <a:t>task</a:t>
            </a:r>
            <a:r>
              <a:rPr lang="hu-HU" sz="2400" dirty="0">
                <a:solidFill>
                  <a:srgbClr val="EFD5FA"/>
                </a:solidFill>
              </a:rPr>
              <a:t> management</a:t>
            </a:r>
          </a:p>
        </p:txBody>
      </p:sp>
    </p:spTree>
    <p:extLst>
      <p:ext uri="{BB962C8B-B14F-4D97-AF65-F5344CB8AC3E}">
        <p14:creationId xmlns:p14="http://schemas.microsoft.com/office/powerpoint/2010/main" val="1221151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780812" y="860227"/>
            <a:ext cx="8304252" cy="4634865"/>
          </a:xfrm>
          <a:prstGeom prst="rect">
            <a:avLst/>
          </a:prstGeom>
        </p:spPr>
      </p:pic>
      <p:sp>
        <p:nvSpPr>
          <p:cNvPr id="3" name="Text 0"/>
          <p:cNvSpPr/>
          <p:nvPr/>
        </p:nvSpPr>
        <p:spPr>
          <a:xfrm>
            <a:off x="9629297" y="916369"/>
            <a:ext cx="4220289" cy="1115139"/>
          </a:xfrm>
          <a:prstGeom prst="rect">
            <a:avLst/>
          </a:prstGeom>
          <a:noFill/>
          <a:ln/>
        </p:spPr>
        <p:txBody>
          <a:bodyPr wrap="square" lIns="0" tIns="0" rIns="0" bIns="0" rtlCol="0" anchor="t"/>
          <a:lstStyle/>
          <a:p>
            <a:pPr marL="0" indent="0" algn="l">
              <a:lnSpc>
                <a:spcPts val="4350"/>
              </a:lnSpc>
              <a:buNone/>
            </a:pPr>
            <a:r>
              <a:rPr lang="en-US" sz="3500" dirty="0">
                <a:solidFill>
                  <a:srgbClr val="EFD5FA"/>
                </a:solidFill>
                <a:latin typeface="Instrument Sans Medium" pitchFamily="34" charset="0"/>
                <a:ea typeface="Instrument Sans Medium" pitchFamily="34" charset="-122"/>
                <a:cs typeface="Instrument Sans Medium" pitchFamily="34" charset="-120"/>
              </a:rPr>
              <a:t>User Experience &amp; Design</a:t>
            </a:r>
            <a:endParaRPr lang="en-US" sz="3500" dirty="0"/>
          </a:p>
        </p:txBody>
      </p:sp>
      <p:sp>
        <p:nvSpPr>
          <p:cNvPr id="4" name="Text 1"/>
          <p:cNvSpPr/>
          <p:nvPr/>
        </p:nvSpPr>
        <p:spPr>
          <a:xfrm>
            <a:off x="9629298" y="2454156"/>
            <a:ext cx="4220289" cy="1769864"/>
          </a:xfrm>
          <a:prstGeom prst="rect">
            <a:avLst/>
          </a:prstGeom>
          <a:noFill/>
          <a:ln/>
        </p:spPr>
        <p:txBody>
          <a:bodyPr wrap="square" lIns="0" tIns="0" rIns="0" bIns="0" rtlCol="0" anchor="t"/>
          <a:lstStyle/>
          <a:p>
            <a:r>
              <a:rPr lang="en-US" sz="2000" dirty="0">
                <a:solidFill>
                  <a:srgbClr val="EFD5FA"/>
                </a:solidFill>
              </a:rPr>
              <a:t>• Fast and intuitive product browsing</a:t>
            </a:r>
            <a:endParaRPr lang="hu-HU" sz="2000" dirty="0">
              <a:solidFill>
                <a:srgbClr val="EFD5FA"/>
              </a:solidFill>
            </a:endParaRPr>
          </a:p>
          <a:p>
            <a:br>
              <a:rPr lang="en-US" sz="2000" dirty="0">
                <a:solidFill>
                  <a:srgbClr val="EFD5FA"/>
                </a:solidFill>
              </a:rPr>
            </a:br>
            <a:r>
              <a:rPr lang="en-US" sz="2000" dirty="0">
                <a:solidFill>
                  <a:srgbClr val="EFD5FA"/>
                </a:solidFill>
              </a:rPr>
              <a:t>• Clear product information and stock visibility</a:t>
            </a:r>
            <a:endParaRPr lang="hu-HU" sz="2000" dirty="0">
              <a:solidFill>
                <a:srgbClr val="EFD5FA"/>
              </a:solidFill>
            </a:endParaRPr>
          </a:p>
          <a:p>
            <a:br>
              <a:rPr lang="en-US" sz="2000" dirty="0">
                <a:solidFill>
                  <a:srgbClr val="EFD5FA"/>
                </a:solidFill>
              </a:rPr>
            </a:br>
            <a:r>
              <a:rPr lang="en-US" sz="2000" dirty="0">
                <a:solidFill>
                  <a:srgbClr val="EFD5FA"/>
                </a:solidFill>
              </a:rPr>
              <a:t>• Responsive design for all devices</a:t>
            </a:r>
            <a:endParaRPr lang="hu-HU" sz="2000" dirty="0">
              <a:solidFill>
                <a:srgbClr val="EFD5FA"/>
              </a:solidFill>
            </a:endParaRPr>
          </a:p>
          <a:p>
            <a:br>
              <a:rPr lang="en-US" sz="2000" dirty="0">
                <a:solidFill>
                  <a:srgbClr val="EFD5FA"/>
                </a:solidFill>
              </a:rPr>
            </a:br>
            <a:r>
              <a:rPr lang="en-US" sz="2000" dirty="0">
                <a:solidFill>
                  <a:srgbClr val="EFD5FA"/>
                </a:solidFill>
              </a:rPr>
              <a:t>• Modern interface with</a:t>
            </a:r>
            <a:r>
              <a:rPr lang="hu-HU" sz="2000" dirty="0">
                <a:solidFill>
                  <a:srgbClr val="EFD5FA"/>
                </a:solidFill>
              </a:rPr>
              <a:t> </a:t>
            </a:r>
            <a:r>
              <a:rPr lang="en-US" sz="2000" dirty="0">
                <a:solidFill>
                  <a:srgbClr val="EFD5FA"/>
                </a:solidFill>
              </a:rPr>
              <a:t>glass-style interface</a:t>
            </a:r>
            <a:r>
              <a:rPr lang="hu-HU" sz="2000" dirty="0">
                <a:solidFill>
                  <a:srgbClr val="EFD5FA"/>
                </a:solidFill>
              </a:rPr>
              <a:t>,</a:t>
            </a:r>
            <a:r>
              <a:rPr lang="en-US" sz="2000" dirty="0">
                <a:solidFill>
                  <a:srgbClr val="EFD5FA"/>
                </a:solidFill>
              </a:rPr>
              <a:t> dark and light mode</a:t>
            </a:r>
          </a:p>
        </p:txBody>
      </p:sp>
      <p:sp>
        <p:nvSpPr>
          <p:cNvPr id="5" name="Shape 2"/>
          <p:cNvSpPr/>
          <p:nvPr/>
        </p:nvSpPr>
        <p:spPr>
          <a:xfrm>
            <a:off x="780812" y="5988725"/>
            <a:ext cx="4210050" cy="1634014"/>
          </a:xfrm>
          <a:prstGeom prst="roundRect">
            <a:avLst>
              <a:gd name="adj" fmla="val 2048"/>
            </a:avLst>
          </a:prstGeom>
          <a:solidFill>
            <a:srgbClr val="434348"/>
          </a:solidFill>
          <a:ln/>
        </p:spPr>
        <p:txBody>
          <a:bodyPr/>
          <a:lstStyle/>
          <a:p>
            <a:endParaRPr lang="hu-HU"/>
          </a:p>
        </p:txBody>
      </p:sp>
      <p:sp>
        <p:nvSpPr>
          <p:cNvPr id="6" name="Text 3"/>
          <p:cNvSpPr/>
          <p:nvPr/>
        </p:nvSpPr>
        <p:spPr>
          <a:xfrm>
            <a:off x="1003816"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Navigation</a:t>
            </a:r>
            <a:endParaRPr lang="en-US" sz="2150" dirty="0"/>
          </a:p>
        </p:txBody>
      </p:sp>
      <p:sp>
        <p:nvSpPr>
          <p:cNvPr id="7" name="Text 4"/>
          <p:cNvSpPr/>
          <p:nvPr/>
        </p:nvSpPr>
        <p:spPr>
          <a:xfrm>
            <a:off x="1003816"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Intuitive categories, fast search, SKU-first lookup.</a:t>
            </a:r>
            <a:endParaRPr lang="en-US" sz="1750" dirty="0"/>
          </a:p>
        </p:txBody>
      </p:sp>
      <p:sp>
        <p:nvSpPr>
          <p:cNvPr id="8" name="Shape 5"/>
          <p:cNvSpPr/>
          <p:nvPr/>
        </p:nvSpPr>
        <p:spPr>
          <a:xfrm>
            <a:off x="5210175" y="5988725"/>
            <a:ext cx="4210050" cy="1634014"/>
          </a:xfrm>
          <a:prstGeom prst="roundRect">
            <a:avLst>
              <a:gd name="adj" fmla="val 2048"/>
            </a:avLst>
          </a:prstGeom>
          <a:solidFill>
            <a:srgbClr val="434348"/>
          </a:solidFill>
          <a:ln/>
        </p:spPr>
        <p:txBody>
          <a:bodyPr/>
          <a:lstStyle/>
          <a:p>
            <a:endParaRPr lang="hu-HU"/>
          </a:p>
        </p:txBody>
      </p:sp>
      <p:sp>
        <p:nvSpPr>
          <p:cNvPr id="9" name="Text 6"/>
          <p:cNvSpPr/>
          <p:nvPr/>
        </p:nvSpPr>
        <p:spPr>
          <a:xfrm>
            <a:off x="5433179"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Feedback</a:t>
            </a:r>
            <a:endParaRPr lang="en-US" sz="2150" dirty="0"/>
          </a:p>
        </p:txBody>
      </p:sp>
      <p:sp>
        <p:nvSpPr>
          <p:cNvPr id="10" name="Text 7"/>
          <p:cNvSpPr/>
          <p:nvPr/>
        </p:nvSpPr>
        <p:spPr>
          <a:xfrm>
            <a:off x="5433179"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Real-time stock indicators, toasts for actions, clear error states.</a:t>
            </a:r>
            <a:endParaRPr lang="en-US" sz="1750" dirty="0"/>
          </a:p>
        </p:txBody>
      </p:sp>
      <p:sp>
        <p:nvSpPr>
          <p:cNvPr id="11" name="Shape 8"/>
          <p:cNvSpPr/>
          <p:nvPr/>
        </p:nvSpPr>
        <p:spPr>
          <a:xfrm>
            <a:off x="9639538" y="5957916"/>
            <a:ext cx="4210050" cy="1634014"/>
          </a:xfrm>
          <a:prstGeom prst="roundRect">
            <a:avLst>
              <a:gd name="adj" fmla="val 2048"/>
            </a:avLst>
          </a:prstGeom>
          <a:solidFill>
            <a:srgbClr val="434348"/>
          </a:solidFill>
          <a:ln/>
        </p:spPr>
        <p:txBody>
          <a:bodyPr/>
          <a:lstStyle/>
          <a:p>
            <a:endParaRPr lang="hu-HU"/>
          </a:p>
        </p:txBody>
      </p:sp>
      <p:sp>
        <p:nvSpPr>
          <p:cNvPr id="12" name="Text 9"/>
          <p:cNvSpPr/>
          <p:nvPr/>
        </p:nvSpPr>
        <p:spPr>
          <a:xfrm>
            <a:off x="9862542"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Future UX</a:t>
            </a:r>
            <a:endParaRPr lang="en-US" sz="2150" dirty="0"/>
          </a:p>
        </p:txBody>
      </p:sp>
      <p:sp>
        <p:nvSpPr>
          <p:cNvPr id="13" name="Text 10"/>
          <p:cNvSpPr/>
          <p:nvPr/>
        </p:nvSpPr>
        <p:spPr>
          <a:xfrm>
            <a:off x="9862542"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Mobile app, role-aware dashboards and custom reports.</a:t>
            </a:r>
            <a:endParaRPr lang="en-US" sz="1750" dirty="0"/>
          </a:p>
        </p:txBody>
      </p:sp>
      <p:sp>
        <p:nvSpPr>
          <p:cNvPr id="14" name="Téglalap 13">
            <a:extLst>
              <a:ext uri="{FF2B5EF4-FFF2-40B4-BE49-F238E27FC236}">
                <a16:creationId xmlns:a16="http://schemas.microsoft.com/office/drawing/2014/main" id="{0034319D-EEFC-80C3-7598-D9A81C2FCCB6}"/>
              </a:ext>
            </a:extLst>
          </p:cNvPr>
          <p:cNvSpPr/>
          <p:nvPr/>
        </p:nvSpPr>
        <p:spPr>
          <a:xfrm>
            <a:off x="12559784" y="7738732"/>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793790" y="2161758"/>
            <a:ext cx="6515695"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Conclusion &amp; Next Steps</a:t>
            </a:r>
            <a:endParaRPr lang="en-US" sz="4450" dirty="0"/>
          </a:p>
        </p:txBody>
      </p:sp>
      <p:sp>
        <p:nvSpPr>
          <p:cNvPr id="4" name="Text 1"/>
          <p:cNvSpPr/>
          <p:nvPr/>
        </p:nvSpPr>
        <p:spPr>
          <a:xfrm>
            <a:off x="793790" y="3210698"/>
            <a:ext cx="7556421" cy="1451610"/>
          </a:xfrm>
          <a:prstGeom prst="rect">
            <a:avLst/>
          </a:prstGeom>
          <a:noFill/>
          <a:ln/>
        </p:spPr>
        <p:txBody>
          <a:bodyPr wrap="square" lIns="0" tIns="0" rIns="0" bIns="0" rtlCol="0" anchor="t"/>
          <a:lstStyle/>
          <a:p>
            <a:r>
              <a:rPr lang="en-US" sz="2400" dirty="0" err="1">
                <a:solidFill>
                  <a:srgbClr val="EFD5FA"/>
                </a:solidFill>
              </a:rPr>
              <a:t>RaktarPro</a:t>
            </a:r>
            <a:r>
              <a:rPr lang="en-US" sz="2400" dirty="0">
                <a:solidFill>
                  <a:srgbClr val="EFD5FA"/>
                </a:solidFill>
              </a:rPr>
              <a:t> is a modern customer-focused warehouse and online store system.</a:t>
            </a:r>
          </a:p>
          <a:p>
            <a:r>
              <a:rPr lang="en-US" sz="2400" dirty="0">
                <a:solidFill>
                  <a:srgbClr val="EFD5FA"/>
                </a:solidFill>
              </a:rPr>
              <a:t>It provides:</a:t>
            </a:r>
          </a:p>
          <a:p>
            <a:r>
              <a:rPr lang="en-US" sz="2400" dirty="0">
                <a:solidFill>
                  <a:srgbClr val="EFD5FA"/>
                </a:solidFill>
              </a:rPr>
              <a:t>• Reliable warehouse management</a:t>
            </a:r>
            <a:br>
              <a:rPr lang="en-US" sz="2400" dirty="0">
                <a:solidFill>
                  <a:srgbClr val="EFD5FA"/>
                </a:solidFill>
              </a:rPr>
            </a:br>
            <a:r>
              <a:rPr lang="en-US" sz="2400" dirty="0">
                <a:solidFill>
                  <a:srgbClr val="EFD5FA"/>
                </a:solidFill>
              </a:rPr>
              <a:t>• Wide product selection</a:t>
            </a:r>
            <a:br>
              <a:rPr lang="en-US" sz="2400" dirty="0">
                <a:solidFill>
                  <a:srgbClr val="EFD5FA"/>
                </a:solidFill>
              </a:rPr>
            </a:br>
            <a:r>
              <a:rPr lang="en-US" sz="2400" dirty="0">
                <a:solidFill>
                  <a:srgbClr val="EFD5FA"/>
                </a:solidFill>
              </a:rPr>
              <a:t>• Competitive pricing</a:t>
            </a:r>
            <a:br>
              <a:rPr lang="en-US" sz="2400" dirty="0">
                <a:solidFill>
                  <a:srgbClr val="EFD5FA"/>
                </a:solidFill>
              </a:rPr>
            </a:br>
            <a:r>
              <a:rPr lang="en-US" sz="2400" dirty="0">
                <a:solidFill>
                  <a:srgbClr val="EFD5FA"/>
                </a:solidFill>
              </a:rPr>
              <a:t>• Modern user experience</a:t>
            </a:r>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églalap 1">
            <a:extLst>
              <a:ext uri="{FF2B5EF4-FFF2-40B4-BE49-F238E27FC236}">
                <a16:creationId xmlns:a16="http://schemas.microsoft.com/office/drawing/2014/main" id="{C3529ED7-0C99-B3AA-7E3E-DD74545C91F7}"/>
              </a:ext>
            </a:extLst>
          </p:cNvPr>
          <p:cNvSpPr/>
          <p:nvPr/>
        </p:nvSpPr>
        <p:spPr>
          <a:xfrm>
            <a:off x="12073467" y="7298267"/>
            <a:ext cx="4148666" cy="1371600"/>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 name="Szövegdoboz 2">
            <a:extLst>
              <a:ext uri="{FF2B5EF4-FFF2-40B4-BE49-F238E27FC236}">
                <a16:creationId xmlns:a16="http://schemas.microsoft.com/office/drawing/2014/main" id="{9C2F4DA2-9E17-1C9E-1BCE-B97BD8038687}"/>
              </a:ext>
            </a:extLst>
          </p:cNvPr>
          <p:cNvSpPr txBox="1"/>
          <p:nvPr/>
        </p:nvSpPr>
        <p:spPr>
          <a:xfrm>
            <a:off x="812800" y="2590799"/>
            <a:ext cx="10871200" cy="1107996"/>
          </a:xfrm>
          <a:prstGeom prst="rect">
            <a:avLst/>
          </a:prstGeom>
          <a:noFill/>
        </p:spPr>
        <p:txBody>
          <a:bodyPr wrap="square" rtlCol="0">
            <a:spAutoFit/>
          </a:bodyPr>
          <a:lstStyle/>
          <a:p>
            <a:r>
              <a:rPr lang="hu-HU" sz="6600" dirty="0" err="1">
                <a:solidFill>
                  <a:srgbClr val="EFD5FA"/>
                </a:solidFill>
              </a:rPr>
              <a:t>Thank</a:t>
            </a:r>
            <a:r>
              <a:rPr lang="hu-HU" sz="6600" dirty="0">
                <a:solidFill>
                  <a:srgbClr val="EFD5FA"/>
                </a:solidFill>
              </a:rPr>
              <a:t> </a:t>
            </a:r>
            <a:r>
              <a:rPr lang="hu-HU" sz="6600" dirty="0" err="1">
                <a:solidFill>
                  <a:srgbClr val="EFD5FA"/>
                </a:solidFill>
              </a:rPr>
              <a:t>you</a:t>
            </a:r>
            <a:r>
              <a:rPr lang="hu-HU" sz="6600" dirty="0">
                <a:solidFill>
                  <a:srgbClr val="EFD5FA"/>
                </a:solidFill>
              </a:rPr>
              <a:t> </a:t>
            </a:r>
            <a:r>
              <a:rPr lang="hu-HU" sz="6600" dirty="0" err="1">
                <a:solidFill>
                  <a:srgbClr val="EFD5FA"/>
                </a:solidFill>
              </a:rPr>
              <a:t>for</a:t>
            </a:r>
            <a:r>
              <a:rPr lang="hu-HU" sz="6600" dirty="0">
                <a:solidFill>
                  <a:srgbClr val="EFD5FA"/>
                </a:solidFill>
              </a:rPr>
              <a:t> </a:t>
            </a:r>
            <a:r>
              <a:rPr lang="hu-HU" sz="6600" dirty="0" err="1">
                <a:solidFill>
                  <a:srgbClr val="EFD5FA"/>
                </a:solidFill>
              </a:rPr>
              <a:t>your</a:t>
            </a:r>
            <a:r>
              <a:rPr lang="hu-HU" sz="6600" dirty="0">
                <a:solidFill>
                  <a:srgbClr val="EFD5FA"/>
                </a:solidFill>
              </a:rPr>
              <a:t> </a:t>
            </a:r>
            <a:r>
              <a:rPr lang="hu-HU" sz="6600" dirty="0" err="1">
                <a:solidFill>
                  <a:srgbClr val="EFD5FA"/>
                </a:solidFill>
              </a:rPr>
              <a:t>attention</a:t>
            </a:r>
            <a:r>
              <a:rPr lang="hu-HU" sz="6600" dirty="0">
                <a:solidFill>
                  <a:srgbClr val="EFD5FA"/>
                </a:solidFill>
              </a:rPr>
              <a:t>!</a:t>
            </a:r>
          </a:p>
        </p:txBody>
      </p:sp>
      <p:sp>
        <p:nvSpPr>
          <p:cNvPr id="4" name="Szövegdoboz 3">
            <a:extLst>
              <a:ext uri="{FF2B5EF4-FFF2-40B4-BE49-F238E27FC236}">
                <a16:creationId xmlns:a16="http://schemas.microsoft.com/office/drawing/2014/main" id="{1995A595-FD81-B83A-F0E8-95032A1AD69E}"/>
              </a:ext>
            </a:extLst>
          </p:cNvPr>
          <p:cNvSpPr txBox="1"/>
          <p:nvPr/>
        </p:nvSpPr>
        <p:spPr>
          <a:xfrm>
            <a:off x="9228667" y="5834672"/>
            <a:ext cx="8466667" cy="769441"/>
          </a:xfrm>
          <a:prstGeom prst="rect">
            <a:avLst/>
          </a:prstGeom>
          <a:noFill/>
        </p:spPr>
        <p:txBody>
          <a:bodyPr wrap="square" rtlCol="0">
            <a:spAutoFit/>
          </a:bodyPr>
          <a:lstStyle/>
          <a:p>
            <a:r>
              <a:rPr lang="hu-HU" sz="4400" dirty="0" err="1">
                <a:solidFill>
                  <a:srgbClr val="EFD5FA"/>
                </a:solidFill>
              </a:rPr>
              <a:t>RaktárPro</a:t>
            </a:r>
            <a:endParaRPr lang="hu-HU" sz="4400" dirty="0">
              <a:solidFill>
                <a:srgbClr val="EFD5FA"/>
              </a:solidFill>
            </a:endParaRPr>
          </a:p>
        </p:txBody>
      </p:sp>
      <p:pic>
        <p:nvPicPr>
          <p:cNvPr id="5" name="Kép 4" descr="A képen szimbólum, embléma, Grafika, kör látható&#10;&#10;Előfordulhat, hogy az AI által létrehozott tartalom helytelen.">
            <a:extLst>
              <a:ext uri="{FF2B5EF4-FFF2-40B4-BE49-F238E27FC236}">
                <a16:creationId xmlns:a16="http://schemas.microsoft.com/office/drawing/2014/main" id="{923AF6F2-266C-97D6-2D91-DA873B2FA0E1}"/>
              </a:ext>
            </a:extLst>
          </p:cNvPr>
          <p:cNvPicPr>
            <a:picLocks noChangeAspect="1"/>
          </p:cNvPicPr>
          <p:nvPr/>
        </p:nvPicPr>
        <p:blipFill>
          <a:blip r:embed="rId2"/>
          <a:stretch>
            <a:fillRect/>
          </a:stretch>
        </p:blipFill>
        <p:spPr>
          <a:xfrm>
            <a:off x="11684000" y="5496117"/>
            <a:ext cx="1341455" cy="1341455"/>
          </a:xfrm>
          <a:prstGeom prst="rect">
            <a:avLst/>
          </a:prstGeom>
        </p:spPr>
      </p:pic>
    </p:spTree>
    <p:extLst>
      <p:ext uri="{BB962C8B-B14F-4D97-AF65-F5344CB8AC3E}">
        <p14:creationId xmlns:p14="http://schemas.microsoft.com/office/powerpoint/2010/main" val="274202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TotalTime>
  <Words>1303</Words>
  <Application>Microsoft Office PowerPoint</Application>
  <PresentationFormat>Egyéni</PresentationFormat>
  <Paragraphs>197</Paragraphs>
  <Slides>15</Slides>
  <Notes>12</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15</vt:i4>
      </vt:variant>
    </vt:vector>
  </HeadingPairs>
  <TitlesOfParts>
    <vt:vector size="19" baseType="lpstr">
      <vt:lpstr>Inter</vt:lpstr>
      <vt:lpstr>Instrument Sans Medium</vt:lpstr>
      <vt:lpstr>Arial</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O365 felhasználó</cp:lastModifiedBy>
  <cp:revision>14</cp:revision>
  <dcterms:created xsi:type="dcterms:W3CDTF">2026-02-18T11:36:14Z</dcterms:created>
  <dcterms:modified xsi:type="dcterms:W3CDTF">2026-02-20T10:27:12Z</dcterms:modified>
</cp:coreProperties>
</file>