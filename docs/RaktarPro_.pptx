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71" r:id="rId10"/>
    <p:sldId id="264" r:id="rId11"/>
    <p:sldId id="265" r:id="rId12"/>
    <p:sldId id="267" r:id="rId13"/>
    <p:sldId id="266" r:id="rId14"/>
    <p:sldId id="268" r:id="rId15"/>
    <p:sldId id="270" r:id="rId16"/>
    <p:sldId id="269" r:id="rId17"/>
  </p:sldIdLst>
  <p:sldSz cx="9144000" cy="5143500" type="screen16x9"/>
  <p:notesSz cx="5143500" cy="9144000"/>
  <p:embeddedFontLst>
    <p:embeddedFont>
      <p:font typeface="Roboto" panose="02000000000000000000" pitchFamily="2" charset="0"/>
      <p:regular r:id="rId19"/>
    </p:embeddedFont>
    <p:embeddedFont>
      <p:font typeface="Roboto Light" panose="02000000000000000000" pitchFamily="2" charset="0"/>
      <p:regular r:id="rId20"/>
      <p:italic r:id="rId21"/>
    </p:embeddedFont>
    <p:embeddedFont>
      <p:font typeface="Roboto Medium" panose="02000000000000000000" pitchFamily="2" charset="0"/>
      <p:regular r:id="rId22"/>
    </p:embeddedFont>
  </p:embeddedFontLst>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err="1">
                <a:solidFill>
                  <a:schemeClr val="bg1"/>
                </a:solidFill>
              </a:rPr>
              <a:t>Idő</a:t>
            </a:r>
            <a:endParaRPr lang="en-US" dirty="0">
              <a:solidFill>
                <a:schemeClr val="bg1"/>
              </a:solidFill>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Munka1!$B$1</c:f>
              <c:strCache>
                <c:ptCount val="1"/>
                <c:pt idx="0">
                  <c:v>Idő</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1392-4FF7-B5C1-BF10A86B0B8A}"/>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1392-4FF7-B5C1-BF10A86B0B8A}"/>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1392-4FF7-B5C1-BF10A86B0B8A}"/>
              </c:ext>
            </c:extLst>
          </c:dPt>
          <c:dPt>
            <c:idx val="3"/>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7-1392-4FF7-B5C1-BF10A86B0B8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u-HU"/>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Munka1!$A$2:$A$5</c:f>
              <c:strCache>
                <c:ptCount val="3"/>
                <c:pt idx="0">
                  <c:v>Molnár Dániel</c:v>
                </c:pt>
                <c:pt idx="1">
                  <c:v>Molnár Máté</c:v>
                </c:pt>
                <c:pt idx="2">
                  <c:v>Trubics Gorán</c:v>
                </c:pt>
              </c:strCache>
            </c:strRef>
          </c:cat>
          <c:val>
            <c:numRef>
              <c:f>Munka1!$B$2:$B$5</c:f>
              <c:numCache>
                <c:formatCode>[h]:mm:ss</c:formatCode>
                <c:ptCount val="4"/>
                <c:pt idx="0">
                  <c:v>3.0222222222222221</c:v>
                </c:pt>
                <c:pt idx="1">
                  <c:v>2.7104166666666667</c:v>
                </c:pt>
                <c:pt idx="2">
                  <c:v>2.6993055555555556</c:v>
                </c:pt>
              </c:numCache>
            </c:numRef>
          </c:val>
          <c:extLst>
            <c:ext xmlns:c16="http://schemas.microsoft.com/office/drawing/2014/chart" uri="{C3380CC4-5D6E-409C-BE32-E72D297353CC}">
              <c16:uniqueId val="{00000008-1392-4FF7-B5C1-BF10A86B0B8A}"/>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layout>
        <c:manualLayout>
          <c:xMode val="edge"/>
          <c:yMode val="edge"/>
          <c:x val="0.30173320620078742"/>
          <c:y val="0.9014376230314961"/>
          <c:w val="0.41736681840551176"/>
          <c:h val="9.8562376968503937E-2"/>
        </c:manualLayout>
      </c:layout>
      <c:overlay val="0"/>
      <c:spPr>
        <a:noFill/>
        <a:ln>
          <a:noFill/>
        </a:ln>
        <a:effectLst/>
      </c:spPr>
      <c:txPr>
        <a:bodyPr rot="0" spcFirstLastPara="1" vertOverflow="ellipsis" vert="horz" wrap="square" anchor="ctr" anchorCtr="1"/>
        <a:lstStyle/>
        <a:p>
          <a:pPr>
            <a:defRPr sz="1400" b="0" i="0" u="none" strike="noStrike" kern="1200" baseline="0">
              <a:solidFill>
                <a:srgbClr val="EFD5FA"/>
              </a:solidFill>
              <a:latin typeface="+mn-lt"/>
              <a:ea typeface="+mn-ea"/>
              <a:cs typeface="+mn-cs"/>
            </a:defRPr>
          </a:pPr>
          <a:endParaRPr lang="hu-H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781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txBody>
          <a:bodyPr/>
          <a:lstStyle/>
          <a:p>
            <a:endParaRPr lang="hu-HU"/>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1.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580629"/>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RaktarPro</a:t>
            </a:r>
            <a:endParaRPr lang="en-US" sz="2750" dirty="0"/>
          </a:p>
        </p:txBody>
      </p:sp>
      <p:sp>
        <p:nvSpPr>
          <p:cNvPr id="3" name="Text 1"/>
          <p:cNvSpPr/>
          <p:nvPr/>
        </p:nvSpPr>
        <p:spPr>
          <a:xfrm>
            <a:off x="496119" y="2080320"/>
            <a:ext cx="3767435"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oboto Medium" pitchFamily="34" charset="0"/>
                <a:ea typeface="Roboto Medium" pitchFamily="34" charset="-122"/>
                <a:cs typeface="Roboto Medium" pitchFamily="34" charset="-120"/>
              </a:rPr>
              <a:t>Warehouse Management Web Application</a:t>
            </a:r>
            <a:endParaRPr lang="en-US" sz="1350" dirty="0"/>
          </a:p>
        </p:txBody>
      </p:sp>
      <p:sp>
        <p:nvSpPr>
          <p:cNvPr id="4" name="Text 2"/>
          <p:cNvSpPr/>
          <p:nvPr/>
        </p:nvSpPr>
        <p:spPr>
          <a:xfrm>
            <a:off x="496119" y="2514377"/>
            <a:ext cx="8151763" cy="613097"/>
          </a:xfrm>
          <a:prstGeom prst="rect">
            <a:avLst/>
          </a:prstGeom>
          <a:noFill/>
          <a:ln/>
        </p:spPr>
        <p:txBody>
          <a:bodyPr wrap="square" lIns="0" tIns="0" rIns="0" bIns="0" rtlCol="0" anchor="t"/>
          <a:lstStyle/>
          <a:p>
            <a:pPr marL="0" indent="0" algn="l">
              <a:lnSpc>
                <a:spcPct val="133000"/>
              </a:lnSpc>
              <a:spcAft>
                <a:spcPts val="1250"/>
              </a:spcAft>
              <a:buNone/>
            </a:pPr>
            <a:r>
              <a:rPr lang="en-US" sz="1100" dirty="0">
                <a:solidFill>
                  <a:srgbClr val="CFD0D8"/>
                </a:solidFill>
                <a:latin typeface="Roboto" pitchFamily="34" charset="0"/>
                <a:ea typeface="Roboto" pitchFamily="34" charset="-122"/>
                <a:cs typeface="Roboto" pitchFamily="34" charset="-120"/>
              </a:rPr>
              <a:t>A customer-focused warehouse and webshop management platform built for modern commerce.</a:t>
            </a:r>
            <a:endParaRPr lang="en-US" sz="1100" dirty="0"/>
          </a:p>
          <a:p>
            <a:pPr marL="0" indent="0" algn="l">
              <a:lnSpc>
                <a:spcPct val="133000"/>
              </a:lnSpc>
              <a:buNone/>
            </a:pPr>
            <a:r>
              <a:rPr lang="en-US" sz="1100" b="1" dirty="0">
                <a:solidFill>
                  <a:srgbClr val="CFD0D8"/>
                </a:solidFill>
                <a:latin typeface="Roboto" pitchFamily="34" charset="0"/>
                <a:ea typeface="Roboto" pitchFamily="34" charset="-122"/>
                <a:cs typeface="Roboto" pitchFamily="34" charset="-120"/>
              </a:rPr>
              <a:t>Created by:</a:t>
            </a:r>
            <a:r>
              <a:rPr lang="en-US" sz="1100" dirty="0">
                <a:solidFill>
                  <a:srgbClr val="CFD0D8"/>
                </a:solidFill>
                <a:latin typeface="Roboto" pitchFamily="34" charset="0"/>
                <a:ea typeface="Roboto" pitchFamily="34" charset="-122"/>
                <a:cs typeface="Roboto" pitchFamily="34" charset="-120"/>
              </a:rPr>
              <a:t> Molnár Dániel · Molnár Máté · Trubics Gorán</a:t>
            </a:r>
            <a:endParaRPr lang="en-US" sz="1100" dirty="0"/>
          </a:p>
        </p:txBody>
      </p:sp>
      <p:sp>
        <p:nvSpPr>
          <p:cNvPr id="5" name="Shape 3"/>
          <p:cNvSpPr/>
          <p:nvPr/>
        </p:nvSpPr>
        <p:spPr>
          <a:xfrm>
            <a:off x="496119" y="3291706"/>
            <a:ext cx="1649537" cy="266402"/>
          </a:xfrm>
          <a:prstGeom prst="roundRect">
            <a:avLst>
              <a:gd name="adj" fmla="val 17880"/>
            </a:avLst>
          </a:prstGeom>
          <a:solidFill>
            <a:srgbClr val="0F163E"/>
          </a:solidFill>
          <a:ln/>
        </p:spPr>
        <p:txBody>
          <a:bodyPr/>
          <a:lstStyle/>
          <a:p>
            <a:endParaRPr lang="hu-HU"/>
          </a:p>
        </p:txBody>
      </p:sp>
      <p:sp>
        <p:nvSpPr>
          <p:cNvPr id="6" name="Text 4"/>
          <p:cNvSpPr/>
          <p:nvPr/>
        </p:nvSpPr>
        <p:spPr>
          <a:xfrm>
            <a:off x="581174" y="3334196"/>
            <a:ext cx="1936626" cy="181421"/>
          </a:xfrm>
          <a:prstGeom prst="rect">
            <a:avLst/>
          </a:prstGeom>
          <a:noFill/>
          <a:ln/>
        </p:spPr>
        <p:txBody>
          <a:bodyPr wrap="none" lIns="0" tIns="0" rIns="0" bIns="0" rtlCol="0" anchor="t"/>
          <a:lstStyle/>
          <a:p>
            <a:pPr marL="0" indent="0" algn="l">
              <a:lnSpc>
                <a:spcPct val="133000"/>
              </a:lnSpc>
              <a:buNone/>
            </a:pPr>
            <a:r>
              <a:rPr lang="en-US" sz="850" dirty="0">
                <a:solidFill>
                  <a:srgbClr val="CFD0D8"/>
                </a:solidFill>
                <a:latin typeface="Roboto" pitchFamily="34" charset="0"/>
                <a:ea typeface="Roboto" pitchFamily="34" charset="-122"/>
                <a:cs typeface="Roboto" pitchFamily="34" charset="-120"/>
              </a:rPr>
              <a:t>WAREHOUSE MANAGEMENT</a:t>
            </a:r>
            <a:endParaRPr lang="en-US" sz="850" dirty="0"/>
          </a:p>
        </p:txBody>
      </p:sp>
      <p:sp>
        <p:nvSpPr>
          <p:cNvPr id="7" name="Shape 5"/>
          <p:cNvSpPr/>
          <p:nvPr/>
        </p:nvSpPr>
        <p:spPr>
          <a:xfrm>
            <a:off x="2216497" y="3286944"/>
            <a:ext cx="1318394" cy="275927"/>
          </a:xfrm>
          <a:prstGeom prst="roundRect">
            <a:avLst>
              <a:gd name="adj" fmla="val 17263"/>
            </a:avLst>
          </a:prstGeom>
          <a:noFill/>
          <a:ln w="4763">
            <a:solidFill>
              <a:srgbClr val="5A6ED8"/>
            </a:solidFill>
            <a:prstDash val="solid"/>
          </a:ln>
        </p:spPr>
        <p:txBody>
          <a:bodyPr/>
          <a:lstStyle/>
          <a:p>
            <a:endParaRPr lang="hu-HU"/>
          </a:p>
        </p:txBody>
      </p:sp>
      <p:sp>
        <p:nvSpPr>
          <p:cNvPr id="8" name="Text 6"/>
          <p:cNvSpPr/>
          <p:nvPr/>
        </p:nvSpPr>
        <p:spPr>
          <a:xfrm>
            <a:off x="2306315" y="3334196"/>
            <a:ext cx="1595958" cy="181421"/>
          </a:xfrm>
          <a:prstGeom prst="rect">
            <a:avLst/>
          </a:prstGeom>
          <a:noFill/>
          <a:ln/>
        </p:spPr>
        <p:txBody>
          <a:bodyPr wrap="none" lIns="0" tIns="0" rIns="0" bIns="0" rtlCol="0" anchor="t"/>
          <a:lstStyle/>
          <a:p>
            <a:pPr marL="0" indent="0" algn="l">
              <a:lnSpc>
                <a:spcPct val="133000"/>
              </a:lnSpc>
              <a:buNone/>
            </a:pPr>
            <a:r>
              <a:rPr lang="en-US" sz="850" dirty="0">
                <a:solidFill>
                  <a:srgbClr val="5A6ED8"/>
                </a:solidFill>
                <a:latin typeface="Roboto" pitchFamily="34" charset="0"/>
                <a:ea typeface="Roboto" pitchFamily="34" charset="-122"/>
                <a:cs typeface="Roboto" pitchFamily="34" charset="-120"/>
              </a:rPr>
              <a:t>WEBSHOP PLATFORM</a:t>
            </a:r>
            <a:endParaRPr lang="en-US" sz="850" dirty="0"/>
          </a:p>
        </p:txBody>
      </p:sp>
      <p:sp>
        <p:nvSpPr>
          <p:cNvPr id="9" name="Shape 7"/>
          <p:cNvSpPr/>
          <p:nvPr/>
        </p:nvSpPr>
        <p:spPr>
          <a:xfrm>
            <a:off x="3605733" y="3286944"/>
            <a:ext cx="1326654" cy="275927"/>
          </a:xfrm>
          <a:prstGeom prst="roundRect">
            <a:avLst>
              <a:gd name="adj" fmla="val 17263"/>
            </a:avLst>
          </a:prstGeom>
          <a:noFill/>
          <a:ln w="4763">
            <a:solidFill>
              <a:srgbClr val="5A6ED8"/>
            </a:solidFill>
            <a:prstDash val="solid"/>
          </a:ln>
        </p:spPr>
        <p:txBody>
          <a:bodyPr/>
          <a:lstStyle/>
          <a:p>
            <a:endParaRPr lang="hu-HU"/>
          </a:p>
        </p:txBody>
      </p:sp>
      <p:sp>
        <p:nvSpPr>
          <p:cNvPr id="10" name="Text 8"/>
          <p:cNvSpPr/>
          <p:nvPr/>
        </p:nvSpPr>
        <p:spPr>
          <a:xfrm>
            <a:off x="3695551" y="3334196"/>
            <a:ext cx="1604218" cy="181421"/>
          </a:xfrm>
          <a:prstGeom prst="rect">
            <a:avLst/>
          </a:prstGeom>
          <a:noFill/>
          <a:ln/>
        </p:spPr>
        <p:txBody>
          <a:bodyPr wrap="none" lIns="0" tIns="0" rIns="0" bIns="0" rtlCol="0" anchor="t"/>
          <a:lstStyle/>
          <a:p>
            <a:pPr marL="0" indent="0" algn="l">
              <a:lnSpc>
                <a:spcPct val="133000"/>
              </a:lnSpc>
              <a:buNone/>
            </a:pPr>
            <a:r>
              <a:rPr lang="en-US" sz="850" dirty="0">
                <a:solidFill>
                  <a:srgbClr val="5A6ED8"/>
                </a:solidFill>
                <a:latin typeface="Roboto" pitchFamily="34" charset="0"/>
                <a:ea typeface="Roboto" pitchFamily="34" charset="-122"/>
                <a:cs typeface="Roboto" pitchFamily="34" charset="-120"/>
              </a:rPr>
              <a:t>FULL-STACK WEB APP</a:t>
            </a:r>
            <a:endParaRPr lang="en-US" sz="850" dirty="0"/>
          </a:p>
        </p:txBody>
      </p:sp>
      <p:sp>
        <p:nvSpPr>
          <p:cNvPr id="11" name="Téglalap 10">
            <a:extLst>
              <a:ext uri="{FF2B5EF4-FFF2-40B4-BE49-F238E27FC236}">
                <a16:creationId xmlns:a16="http://schemas.microsoft.com/office/drawing/2014/main" id="{021260EC-43A4-6BD4-9D26-E4F9414F9B6E}"/>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47192"/>
            <a:ext cx="4023122"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Presentation Overview</a:t>
            </a:r>
            <a:endParaRPr lang="en-US" sz="2750" dirty="0"/>
          </a:p>
        </p:txBody>
      </p:sp>
      <p:sp>
        <p:nvSpPr>
          <p:cNvPr id="3" name="Text 1"/>
          <p:cNvSpPr/>
          <p:nvPr/>
        </p:nvSpPr>
        <p:spPr>
          <a:xfrm>
            <a:off x="496119" y="1473696"/>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A structured walkthrough of RaktarPro — from concept to implementation.</a:t>
            </a:r>
            <a:endParaRPr lang="en-US" sz="1100" dirty="0"/>
          </a:p>
        </p:txBody>
      </p:sp>
      <p:sp>
        <p:nvSpPr>
          <p:cNvPr id="4" name="Text 2"/>
          <p:cNvSpPr/>
          <p:nvPr/>
        </p:nvSpPr>
        <p:spPr>
          <a:xfrm>
            <a:off x="496119" y="1859979"/>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FD0D8"/>
                </a:solidFill>
                <a:latin typeface="Roboto Light" pitchFamily="34" charset="0"/>
                <a:ea typeface="Roboto Light" pitchFamily="34" charset="-122"/>
                <a:cs typeface="Roboto Light" pitchFamily="34" charset="-120"/>
              </a:rPr>
              <a:t>01</a:t>
            </a:r>
            <a:endParaRPr lang="en-US" sz="1100" dirty="0"/>
          </a:p>
        </p:txBody>
      </p:sp>
      <p:sp>
        <p:nvSpPr>
          <p:cNvPr id="5" name="Shape 3"/>
          <p:cNvSpPr/>
          <p:nvPr/>
        </p:nvSpPr>
        <p:spPr>
          <a:xfrm>
            <a:off x="496119" y="2081882"/>
            <a:ext cx="4004965" cy="19050"/>
          </a:xfrm>
          <a:prstGeom prst="rect">
            <a:avLst/>
          </a:prstGeom>
          <a:solidFill>
            <a:srgbClr val="5A6ED8"/>
          </a:solidFill>
          <a:ln/>
        </p:spPr>
        <p:txBody>
          <a:bodyPr/>
          <a:lstStyle/>
          <a:p>
            <a:endParaRPr lang="hu-HU"/>
          </a:p>
        </p:txBody>
      </p:sp>
      <p:sp>
        <p:nvSpPr>
          <p:cNvPr id="6" name="Text 4"/>
          <p:cNvSpPr/>
          <p:nvPr/>
        </p:nvSpPr>
        <p:spPr>
          <a:xfrm>
            <a:off x="496119" y="2190824"/>
            <a:ext cx="1831777"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Introduction &amp; Problem</a:t>
            </a:r>
            <a:endParaRPr lang="en-US" sz="1350" dirty="0"/>
          </a:p>
        </p:txBody>
      </p:sp>
      <p:sp>
        <p:nvSpPr>
          <p:cNvPr id="7" name="Text 5"/>
          <p:cNvSpPr/>
          <p:nvPr/>
        </p:nvSpPr>
        <p:spPr>
          <a:xfrm>
            <a:off x="496119" y="2497336"/>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What RaktarPro is and the challenges it addresses in modern webshop design.</a:t>
            </a:r>
            <a:endParaRPr lang="en-US" sz="1100" dirty="0"/>
          </a:p>
        </p:txBody>
      </p:sp>
      <p:sp>
        <p:nvSpPr>
          <p:cNvPr id="8" name="Text 6"/>
          <p:cNvSpPr/>
          <p:nvPr/>
        </p:nvSpPr>
        <p:spPr>
          <a:xfrm>
            <a:off x="4642842" y="1859979"/>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FD0D8"/>
                </a:solidFill>
                <a:latin typeface="Roboto Light" pitchFamily="34" charset="0"/>
                <a:ea typeface="Roboto Light" pitchFamily="34" charset="-122"/>
                <a:cs typeface="Roboto Light" pitchFamily="34" charset="-120"/>
              </a:rPr>
              <a:t>02</a:t>
            </a:r>
            <a:endParaRPr lang="en-US" sz="1100" dirty="0"/>
          </a:p>
        </p:txBody>
      </p:sp>
      <p:sp>
        <p:nvSpPr>
          <p:cNvPr id="9" name="Shape 7"/>
          <p:cNvSpPr/>
          <p:nvPr/>
        </p:nvSpPr>
        <p:spPr>
          <a:xfrm>
            <a:off x="4642842" y="2081882"/>
            <a:ext cx="4005039" cy="19050"/>
          </a:xfrm>
          <a:prstGeom prst="rect">
            <a:avLst/>
          </a:prstGeom>
          <a:solidFill>
            <a:srgbClr val="5A6ED8"/>
          </a:solidFill>
          <a:ln/>
        </p:spPr>
        <p:txBody>
          <a:bodyPr/>
          <a:lstStyle/>
          <a:p>
            <a:endParaRPr lang="hu-HU"/>
          </a:p>
        </p:txBody>
      </p:sp>
      <p:sp>
        <p:nvSpPr>
          <p:cNvPr id="10" name="Text 8"/>
          <p:cNvSpPr/>
          <p:nvPr/>
        </p:nvSpPr>
        <p:spPr>
          <a:xfrm>
            <a:off x="4642842" y="2190824"/>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Project Goals</a:t>
            </a:r>
            <a:endParaRPr lang="en-US" sz="1350" dirty="0"/>
          </a:p>
        </p:txBody>
      </p:sp>
      <p:sp>
        <p:nvSpPr>
          <p:cNvPr id="11" name="Text 9"/>
          <p:cNvSpPr/>
          <p:nvPr/>
        </p:nvSpPr>
        <p:spPr>
          <a:xfrm>
            <a:off x="4642842" y="2497336"/>
            <a:ext cx="400503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Customer-first experience, secure backend, reliable database, and modern frontend.</a:t>
            </a:r>
            <a:endParaRPr lang="en-US" sz="1100" dirty="0"/>
          </a:p>
        </p:txBody>
      </p:sp>
      <p:sp>
        <p:nvSpPr>
          <p:cNvPr id="12" name="Text 10"/>
          <p:cNvSpPr/>
          <p:nvPr/>
        </p:nvSpPr>
        <p:spPr>
          <a:xfrm>
            <a:off x="496119" y="319898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FD0D8"/>
                </a:solidFill>
                <a:latin typeface="Roboto Light" pitchFamily="34" charset="0"/>
                <a:ea typeface="Roboto Light" pitchFamily="34" charset="-122"/>
                <a:cs typeface="Roboto Light" pitchFamily="34" charset="-120"/>
              </a:rPr>
              <a:t>03</a:t>
            </a:r>
            <a:endParaRPr lang="en-US" sz="1100" dirty="0"/>
          </a:p>
        </p:txBody>
      </p:sp>
      <p:sp>
        <p:nvSpPr>
          <p:cNvPr id="13" name="Shape 11"/>
          <p:cNvSpPr/>
          <p:nvPr/>
        </p:nvSpPr>
        <p:spPr>
          <a:xfrm>
            <a:off x="496119" y="3420889"/>
            <a:ext cx="4004965" cy="19050"/>
          </a:xfrm>
          <a:prstGeom prst="rect">
            <a:avLst/>
          </a:prstGeom>
          <a:solidFill>
            <a:srgbClr val="5A6ED8"/>
          </a:solidFill>
          <a:ln/>
        </p:spPr>
        <p:txBody>
          <a:bodyPr/>
          <a:lstStyle/>
          <a:p>
            <a:endParaRPr lang="hu-HU"/>
          </a:p>
        </p:txBody>
      </p:sp>
      <p:sp>
        <p:nvSpPr>
          <p:cNvPr id="14" name="Text 12"/>
          <p:cNvSpPr/>
          <p:nvPr/>
        </p:nvSpPr>
        <p:spPr>
          <a:xfrm>
            <a:off x="496119" y="3529831"/>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Development Process</a:t>
            </a:r>
            <a:endParaRPr lang="en-US" sz="1350" dirty="0"/>
          </a:p>
        </p:txBody>
      </p:sp>
      <p:sp>
        <p:nvSpPr>
          <p:cNvPr id="15" name="Text 13"/>
          <p:cNvSpPr/>
          <p:nvPr/>
        </p:nvSpPr>
        <p:spPr>
          <a:xfrm>
            <a:off x="496119" y="3836343"/>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Frontend, backend, and database design decisions and architecture.</a:t>
            </a:r>
            <a:endParaRPr lang="en-US" sz="1100" dirty="0"/>
          </a:p>
        </p:txBody>
      </p:sp>
      <p:sp>
        <p:nvSpPr>
          <p:cNvPr id="16" name="Text 14"/>
          <p:cNvSpPr/>
          <p:nvPr/>
        </p:nvSpPr>
        <p:spPr>
          <a:xfrm>
            <a:off x="4642842" y="319898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CFD0D8"/>
                </a:solidFill>
                <a:latin typeface="Roboto Light" pitchFamily="34" charset="0"/>
                <a:ea typeface="Roboto Light" pitchFamily="34" charset="-122"/>
                <a:cs typeface="Roboto Light" pitchFamily="34" charset="-120"/>
              </a:rPr>
              <a:t>04</a:t>
            </a:r>
            <a:endParaRPr lang="en-US" sz="1100" dirty="0"/>
          </a:p>
        </p:txBody>
      </p:sp>
      <p:sp>
        <p:nvSpPr>
          <p:cNvPr id="17" name="Shape 15"/>
          <p:cNvSpPr/>
          <p:nvPr/>
        </p:nvSpPr>
        <p:spPr>
          <a:xfrm>
            <a:off x="4642842" y="3420889"/>
            <a:ext cx="4005039" cy="19050"/>
          </a:xfrm>
          <a:prstGeom prst="rect">
            <a:avLst/>
          </a:prstGeom>
          <a:solidFill>
            <a:srgbClr val="5A6ED8"/>
          </a:solidFill>
          <a:ln/>
        </p:spPr>
        <p:txBody>
          <a:bodyPr/>
          <a:lstStyle/>
          <a:p>
            <a:endParaRPr lang="hu-HU"/>
          </a:p>
        </p:txBody>
      </p:sp>
      <p:sp>
        <p:nvSpPr>
          <p:cNvPr id="18" name="Text 16"/>
          <p:cNvSpPr/>
          <p:nvPr/>
        </p:nvSpPr>
        <p:spPr>
          <a:xfrm>
            <a:off x="4642842" y="3529831"/>
            <a:ext cx="2540794"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Features, Technologies &amp; Future</a:t>
            </a:r>
            <a:endParaRPr lang="en-US" sz="1350" dirty="0"/>
          </a:p>
        </p:txBody>
      </p:sp>
      <p:sp>
        <p:nvSpPr>
          <p:cNvPr id="19" name="Text 17"/>
          <p:cNvSpPr/>
          <p:nvPr/>
        </p:nvSpPr>
        <p:spPr>
          <a:xfrm>
            <a:off x="4642842" y="3836343"/>
            <a:ext cx="400503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UX highlights, tech stack overview, and plans for what comes next.</a:t>
            </a:r>
            <a:endParaRPr lang="en-US" sz="1100" dirty="0"/>
          </a:p>
        </p:txBody>
      </p:sp>
      <p:sp>
        <p:nvSpPr>
          <p:cNvPr id="20" name="Téglalap 19">
            <a:extLst>
              <a:ext uri="{FF2B5EF4-FFF2-40B4-BE49-F238E27FC236}">
                <a16:creationId xmlns:a16="http://schemas.microsoft.com/office/drawing/2014/main" id="{C6C83A1E-C6FE-7E40-1325-C080AB46CC47}"/>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58572"/>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What is RaktarPro?</a:t>
            </a:r>
            <a:endParaRPr lang="en-US" sz="2750" dirty="0"/>
          </a:p>
        </p:txBody>
      </p:sp>
      <p:sp>
        <p:nvSpPr>
          <p:cNvPr id="3" name="Text 1"/>
          <p:cNvSpPr/>
          <p:nvPr/>
        </p:nvSpPr>
        <p:spPr>
          <a:xfrm>
            <a:off x="496119" y="1585076"/>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A modern, customer-focused warehouse and webshop platform built with a clean three-tier architecture.</a:t>
            </a:r>
            <a:endParaRPr lang="en-US" sz="1100" dirty="0"/>
          </a:p>
        </p:txBody>
      </p:sp>
      <p:sp>
        <p:nvSpPr>
          <p:cNvPr id="4" name="Shape 2"/>
          <p:cNvSpPr/>
          <p:nvPr/>
        </p:nvSpPr>
        <p:spPr>
          <a:xfrm>
            <a:off x="496119" y="1971360"/>
            <a:ext cx="4004965" cy="1097533"/>
          </a:xfrm>
          <a:prstGeom prst="roundRect">
            <a:avLst>
              <a:gd name="adj" fmla="val 5425"/>
            </a:avLst>
          </a:prstGeom>
          <a:solidFill>
            <a:srgbClr val="182567"/>
          </a:solidFill>
          <a:ln w="4763">
            <a:solidFill>
              <a:srgbClr val="313E80"/>
            </a:solidFill>
            <a:prstDash val="solid"/>
          </a:ln>
        </p:spPr>
        <p:txBody>
          <a:bodyPr/>
          <a:lstStyle/>
          <a:p>
            <a:endParaRPr lang="hu-HU"/>
          </a:p>
        </p:txBody>
      </p:sp>
      <p:sp>
        <p:nvSpPr>
          <p:cNvPr id="5" name="Text 3"/>
          <p:cNvSpPr/>
          <p:nvPr/>
        </p:nvSpPr>
        <p:spPr>
          <a:xfrm>
            <a:off x="642640" y="2117881"/>
            <a:ext cx="2768203" cy="265807"/>
          </a:xfrm>
          <a:prstGeom prst="rect">
            <a:avLst/>
          </a:prstGeom>
          <a:noFill/>
          <a:ln/>
        </p:spPr>
        <p:txBody>
          <a:bodyPr wrap="none" lIns="0" tIns="0" rIns="0" bIns="0" rtlCol="0" anchor="t"/>
          <a:lstStyle/>
          <a:p>
            <a:pPr marL="0" indent="0" algn="l">
              <a:lnSpc>
                <a:spcPct val="104000"/>
              </a:lnSpc>
              <a:buNone/>
            </a:pPr>
            <a:r>
              <a:rPr lang="en-US" sz="1650" b="1" dirty="0">
                <a:solidFill>
                  <a:srgbClr val="CFD0D8"/>
                </a:solidFill>
                <a:latin typeface="Roboto Medium" pitchFamily="34" charset="0"/>
                <a:ea typeface="Roboto Medium" pitchFamily="34" charset="-122"/>
                <a:cs typeface="Roboto Medium" pitchFamily="34" charset="-120"/>
              </a:rPr>
              <a:t>A wide selection of products </a:t>
            </a:r>
            <a:endParaRPr lang="en-US" sz="1650" dirty="0"/>
          </a:p>
        </p:txBody>
      </p:sp>
      <p:sp>
        <p:nvSpPr>
          <p:cNvPr id="6" name="Text 4"/>
          <p:cNvSpPr/>
          <p:nvPr/>
        </p:nvSpPr>
        <p:spPr>
          <a:xfrm>
            <a:off x="642640" y="2468743"/>
            <a:ext cx="3711922"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Across</a:t>
            </a:r>
            <a:r>
              <a:rPr lang="en-US" sz="1100" b="1" dirty="0">
                <a:solidFill>
                  <a:srgbClr val="CFD0D8"/>
                </a:solidFill>
                <a:latin typeface="Roboto" pitchFamily="34" charset="0"/>
                <a:ea typeface="Roboto" pitchFamily="34" charset="-122"/>
                <a:cs typeface="Roboto" pitchFamily="34" charset="-120"/>
              </a:rPr>
              <a:t> multiple categories</a:t>
            </a:r>
            <a:r>
              <a:rPr lang="en-US" sz="1100" dirty="0">
                <a:solidFill>
                  <a:srgbClr val="CFD0D8"/>
                </a:solidFill>
                <a:latin typeface="Roboto" pitchFamily="34" charset="0"/>
                <a:ea typeface="Roboto" pitchFamily="34" charset="-122"/>
                <a:cs typeface="Roboto" pitchFamily="34" charset="-120"/>
              </a:rPr>
              <a:t>, featuring advanced browsing, filtering, and sorting options.</a:t>
            </a:r>
            <a:endParaRPr lang="en-US" sz="1100" dirty="0"/>
          </a:p>
        </p:txBody>
      </p:sp>
      <p:sp>
        <p:nvSpPr>
          <p:cNvPr id="7" name="Shape 5"/>
          <p:cNvSpPr/>
          <p:nvPr/>
        </p:nvSpPr>
        <p:spPr>
          <a:xfrm>
            <a:off x="4642842" y="1971360"/>
            <a:ext cx="4005039" cy="1097533"/>
          </a:xfrm>
          <a:prstGeom prst="roundRect">
            <a:avLst>
              <a:gd name="adj" fmla="val 5425"/>
            </a:avLst>
          </a:prstGeom>
          <a:solidFill>
            <a:srgbClr val="182567"/>
          </a:solidFill>
          <a:ln w="4763">
            <a:solidFill>
              <a:srgbClr val="313E80"/>
            </a:solidFill>
            <a:prstDash val="solid"/>
          </a:ln>
        </p:spPr>
        <p:txBody>
          <a:bodyPr/>
          <a:lstStyle/>
          <a:p>
            <a:endParaRPr lang="hu-HU"/>
          </a:p>
        </p:txBody>
      </p:sp>
      <p:sp>
        <p:nvSpPr>
          <p:cNvPr id="8" name="Text 6"/>
          <p:cNvSpPr/>
          <p:nvPr/>
        </p:nvSpPr>
        <p:spPr>
          <a:xfrm>
            <a:off x="4789363" y="2117881"/>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Full Webshop</a:t>
            </a:r>
            <a:endParaRPr lang="en-US" sz="1350" dirty="0"/>
          </a:p>
        </p:txBody>
      </p:sp>
      <p:sp>
        <p:nvSpPr>
          <p:cNvPr id="9" name="Text 7"/>
          <p:cNvSpPr/>
          <p:nvPr/>
        </p:nvSpPr>
        <p:spPr>
          <a:xfrm>
            <a:off x="4789363" y="2424393"/>
            <a:ext cx="371199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Shopping cart, favorites, order management, and complete account system.</a:t>
            </a:r>
            <a:endParaRPr lang="en-US" sz="1100" dirty="0"/>
          </a:p>
        </p:txBody>
      </p:sp>
      <p:sp>
        <p:nvSpPr>
          <p:cNvPr id="10" name="Shape 8"/>
          <p:cNvSpPr/>
          <p:nvPr/>
        </p:nvSpPr>
        <p:spPr>
          <a:xfrm>
            <a:off x="496119" y="3210652"/>
            <a:ext cx="4004965" cy="1053182"/>
          </a:xfrm>
          <a:prstGeom prst="roundRect">
            <a:avLst>
              <a:gd name="adj" fmla="val 5654"/>
            </a:avLst>
          </a:prstGeom>
          <a:solidFill>
            <a:srgbClr val="182567"/>
          </a:solidFill>
          <a:ln w="4763">
            <a:solidFill>
              <a:srgbClr val="313E80"/>
            </a:solidFill>
            <a:prstDash val="solid"/>
          </a:ln>
        </p:spPr>
        <p:txBody>
          <a:bodyPr/>
          <a:lstStyle/>
          <a:p>
            <a:endParaRPr lang="hu-HU"/>
          </a:p>
        </p:txBody>
      </p:sp>
      <p:sp>
        <p:nvSpPr>
          <p:cNvPr id="11" name="Text 9"/>
          <p:cNvSpPr/>
          <p:nvPr/>
        </p:nvSpPr>
        <p:spPr>
          <a:xfrm>
            <a:off x="642640" y="335717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3-Tier Stack</a:t>
            </a:r>
            <a:endParaRPr lang="en-US" sz="1350" dirty="0"/>
          </a:p>
        </p:txBody>
      </p:sp>
      <p:sp>
        <p:nvSpPr>
          <p:cNvPr id="12" name="Text 10"/>
          <p:cNvSpPr/>
          <p:nvPr/>
        </p:nvSpPr>
        <p:spPr>
          <a:xfrm>
            <a:off x="642640" y="3663684"/>
            <a:ext cx="3711922" cy="453628"/>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CFD0D8"/>
                </a:solidFill>
                <a:latin typeface="Roboto" pitchFamily="34" charset="0"/>
                <a:ea typeface="Roboto" pitchFamily="34" charset="-122"/>
                <a:cs typeface="Roboto" pitchFamily="34" charset="-120"/>
              </a:rPr>
              <a:t>SQL → PHP REST API → JavaScript</a:t>
            </a:r>
            <a:r>
              <a:rPr lang="en-US" sz="1100" dirty="0">
                <a:solidFill>
                  <a:srgbClr val="CFD0D8"/>
                </a:solidFill>
                <a:latin typeface="Roboto" pitchFamily="34" charset="0"/>
                <a:ea typeface="Roboto" pitchFamily="34" charset="-122"/>
                <a:cs typeface="Roboto" pitchFamily="34" charset="-120"/>
              </a:rPr>
              <a:t> frontend for clean separation of concerns.</a:t>
            </a:r>
            <a:endParaRPr lang="en-US" sz="1100" dirty="0"/>
          </a:p>
        </p:txBody>
      </p:sp>
      <p:sp>
        <p:nvSpPr>
          <p:cNvPr id="13" name="Shape 11"/>
          <p:cNvSpPr/>
          <p:nvPr/>
        </p:nvSpPr>
        <p:spPr>
          <a:xfrm>
            <a:off x="4642842" y="3210652"/>
            <a:ext cx="4005039" cy="1053182"/>
          </a:xfrm>
          <a:prstGeom prst="roundRect">
            <a:avLst>
              <a:gd name="adj" fmla="val 5654"/>
            </a:avLst>
          </a:prstGeom>
          <a:solidFill>
            <a:srgbClr val="182567"/>
          </a:solidFill>
          <a:ln w="4763">
            <a:solidFill>
              <a:srgbClr val="313E80"/>
            </a:solidFill>
            <a:prstDash val="solid"/>
          </a:ln>
        </p:spPr>
        <p:txBody>
          <a:bodyPr/>
          <a:lstStyle/>
          <a:p>
            <a:endParaRPr lang="hu-HU"/>
          </a:p>
        </p:txBody>
      </p:sp>
      <p:sp>
        <p:nvSpPr>
          <p:cNvPr id="14" name="Text 12"/>
          <p:cNvSpPr/>
          <p:nvPr/>
        </p:nvSpPr>
        <p:spPr>
          <a:xfrm>
            <a:off x="4789363" y="335717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Adaptive UI</a:t>
            </a:r>
            <a:endParaRPr lang="en-US" sz="1350" dirty="0"/>
          </a:p>
        </p:txBody>
      </p:sp>
      <p:sp>
        <p:nvSpPr>
          <p:cNvPr id="15" name="Text 13"/>
          <p:cNvSpPr/>
          <p:nvPr/>
        </p:nvSpPr>
        <p:spPr>
          <a:xfrm>
            <a:off x="4789363" y="3663684"/>
            <a:ext cx="371199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Dark/light mode toggle and fully responsive design for all screen sizes.</a:t>
            </a:r>
            <a:endParaRPr lang="en-US" sz="1100" dirty="0"/>
          </a:p>
        </p:txBody>
      </p:sp>
      <p:sp>
        <p:nvSpPr>
          <p:cNvPr id="16" name="Téglalap 15">
            <a:extLst>
              <a:ext uri="{FF2B5EF4-FFF2-40B4-BE49-F238E27FC236}">
                <a16:creationId xmlns:a16="http://schemas.microsoft.com/office/drawing/2014/main" id="{06433A8D-5B73-6D8C-BAF6-DAB46130960D}"/>
              </a:ext>
            </a:extLst>
          </p:cNvPr>
          <p:cNvSpPr/>
          <p:nvPr/>
        </p:nvSpPr>
        <p:spPr>
          <a:xfrm>
            <a:off x="8029903" y="484526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1643" y="357188"/>
            <a:ext cx="3392165" cy="366861"/>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Roboto Medium" pitchFamily="34" charset="0"/>
                <a:ea typeface="Roboto Medium" pitchFamily="34" charset="-122"/>
                <a:cs typeface="Roboto Medium" pitchFamily="34" charset="-120"/>
              </a:rPr>
              <a:t>Problem Statement</a:t>
            </a:r>
            <a:endParaRPr lang="en-US" sz="2300" dirty="0"/>
          </a:p>
        </p:txBody>
      </p:sp>
      <p:sp>
        <p:nvSpPr>
          <p:cNvPr id="3" name="Text 1"/>
          <p:cNvSpPr/>
          <p:nvPr/>
        </p:nvSpPr>
        <p:spPr>
          <a:xfrm>
            <a:off x="521643" y="1870397"/>
            <a:ext cx="2258318" cy="183431"/>
          </a:xfrm>
          <a:prstGeom prst="rect">
            <a:avLst/>
          </a:prstGeom>
          <a:noFill/>
          <a:ln/>
        </p:spPr>
        <p:txBody>
          <a:bodyPr wrap="none" lIns="0" tIns="0" rIns="0" bIns="0" rtlCol="0" anchor="t"/>
          <a:lstStyle/>
          <a:p>
            <a:pPr marL="0" indent="0" algn="l">
              <a:lnSpc>
                <a:spcPct val="104000"/>
              </a:lnSpc>
              <a:buNone/>
            </a:pPr>
            <a:r>
              <a:rPr lang="en-US" sz="1150" dirty="0">
                <a:solidFill>
                  <a:srgbClr val="FFFFFF"/>
                </a:solidFill>
                <a:latin typeface="Roboto Medium" pitchFamily="34" charset="0"/>
                <a:ea typeface="Roboto Medium" pitchFamily="34" charset="-122"/>
                <a:cs typeface="Roboto Medium" pitchFamily="34" charset="-120"/>
              </a:rPr>
              <a:t>Common Webshop Failures</a:t>
            </a:r>
            <a:endParaRPr lang="en-US" sz="1150" dirty="0"/>
          </a:p>
        </p:txBody>
      </p:sp>
      <p:sp>
        <p:nvSpPr>
          <p:cNvPr id="4" name="Text 2"/>
          <p:cNvSpPr/>
          <p:nvPr/>
        </p:nvSpPr>
        <p:spPr>
          <a:xfrm>
            <a:off x="521643" y="2151013"/>
            <a:ext cx="2649066"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Many existing webshops suffer from the same recurring issues that drive customers away and reduce conversions.</a:t>
            </a:r>
            <a:endParaRPr lang="en-US" sz="900" dirty="0"/>
          </a:p>
        </p:txBody>
      </p:sp>
      <p:sp>
        <p:nvSpPr>
          <p:cNvPr id="8" name="Text 3"/>
          <p:cNvSpPr/>
          <p:nvPr/>
        </p:nvSpPr>
        <p:spPr>
          <a:xfrm>
            <a:off x="3157409" y="1446250"/>
            <a:ext cx="834652" cy="286275"/>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Before RaktarPro</a:t>
            </a:r>
            <a:endParaRPr lang="en-US" sz="900" dirty="0"/>
          </a:p>
        </p:txBody>
      </p:sp>
      <p:sp>
        <p:nvSpPr>
          <p:cNvPr id="9" name="Text 4"/>
          <p:cNvSpPr/>
          <p:nvPr/>
        </p:nvSpPr>
        <p:spPr>
          <a:xfrm>
            <a:off x="3171691" y="1836300"/>
            <a:ext cx="834652" cy="209299"/>
          </a:xfrm>
          <a:prstGeom prst="rect">
            <a:avLst/>
          </a:prstGeom>
          <a:noFill/>
          <a:ln/>
        </p:spPr>
        <p:txBody>
          <a:bodyPr wrap="square" lIns="0" tIns="0" rIns="0" bIns="0" rtlCol="0" anchor="t">
            <a:normAutofit/>
          </a:bodyPr>
          <a:lstStyle/>
          <a:p>
            <a:pPr marL="0" indent="0" algn="l">
              <a:lnSpc>
                <a:spcPct val="95000"/>
              </a:lnSpc>
              <a:buNone/>
            </a:pPr>
            <a:r>
              <a:rPr lang="en-US" sz="700" dirty="0">
                <a:solidFill>
                  <a:srgbClr val="CFD0D8"/>
                </a:solidFill>
                <a:latin typeface="Roboto" pitchFamily="34" charset="0"/>
                <a:ea typeface="Roboto" pitchFamily="34" charset="-122"/>
                <a:cs typeface="Roboto" pitchFamily="34" charset="-120"/>
              </a:rPr>
              <a:t>Poor UX, slow pages, lost sales</a:t>
            </a:r>
            <a:endParaRPr lang="en-US" sz="700" dirty="0"/>
          </a:p>
        </p:txBody>
      </p:sp>
      <p:sp>
        <p:nvSpPr>
          <p:cNvPr id="10" name="Text 5"/>
          <p:cNvSpPr/>
          <p:nvPr/>
        </p:nvSpPr>
        <p:spPr>
          <a:xfrm>
            <a:off x="8149190" y="1572372"/>
            <a:ext cx="1291853" cy="143138"/>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After RaktarPro</a:t>
            </a:r>
            <a:endParaRPr lang="en-US" sz="900" dirty="0"/>
          </a:p>
        </p:txBody>
      </p:sp>
      <p:sp>
        <p:nvSpPr>
          <p:cNvPr id="11" name="Text 6"/>
          <p:cNvSpPr/>
          <p:nvPr/>
        </p:nvSpPr>
        <p:spPr>
          <a:xfrm>
            <a:off x="8149193" y="1756224"/>
            <a:ext cx="834653" cy="209299"/>
          </a:xfrm>
          <a:prstGeom prst="rect">
            <a:avLst/>
          </a:prstGeom>
          <a:noFill/>
          <a:ln/>
        </p:spPr>
        <p:txBody>
          <a:bodyPr wrap="square" lIns="0" tIns="0" rIns="0" bIns="0" rtlCol="0" anchor="t">
            <a:normAutofit/>
          </a:bodyPr>
          <a:lstStyle/>
          <a:p>
            <a:pPr marL="0" indent="0" algn="l">
              <a:lnSpc>
                <a:spcPct val="95000"/>
              </a:lnSpc>
              <a:buNone/>
            </a:pPr>
            <a:r>
              <a:rPr lang="en-US" sz="700" dirty="0">
                <a:solidFill>
                  <a:srgbClr val="CFD0D8"/>
                </a:solidFill>
                <a:latin typeface="Roboto" pitchFamily="34" charset="0"/>
                <a:ea typeface="Roboto" pitchFamily="34" charset="-122"/>
                <a:cs typeface="Roboto" pitchFamily="34" charset="-120"/>
              </a:rPr>
              <a:t>Modern UI, fast API, happier users</a:t>
            </a:r>
            <a:endParaRPr lang="en-US" sz="700" dirty="0"/>
          </a:p>
        </p:txBody>
      </p:sp>
      <p:sp>
        <p:nvSpPr>
          <p:cNvPr id="12" name="Text 7"/>
          <p:cNvSpPr/>
          <p:nvPr/>
        </p:nvSpPr>
        <p:spPr>
          <a:xfrm>
            <a:off x="3461817" y="3226147"/>
            <a:ext cx="516515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RaktarPro was designed from the ground up to solve these problems — delivering a modern UI, fast API communication, and a strong, accessible user experience that converts visitors into customers.</a:t>
            </a:r>
            <a:endParaRPr lang="en-US" sz="900" dirty="0"/>
          </a:p>
        </p:txBody>
      </p:sp>
      <p:sp>
        <p:nvSpPr>
          <p:cNvPr id="13" name="Shape 8"/>
          <p:cNvSpPr/>
          <p:nvPr/>
        </p:nvSpPr>
        <p:spPr>
          <a:xfrm>
            <a:off x="521643" y="3766245"/>
            <a:ext cx="1952253" cy="1019994"/>
          </a:xfrm>
          <a:prstGeom prst="roundRect">
            <a:avLst>
              <a:gd name="adj" fmla="val 6724"/>
            </a:avLst>
          </a:prstGeom>
          <a:solidFill>
            <a:srgbClr val="000018">
              <a:alpha val="95000"/>
            </a:srgbClr>
          </a:solidFill>
          <a:ln w="14288">
            <a:solidFill>
              <a:srgbClr val="313E80"/>
            </a:solidFill>
            <a:prstDash val="solid"/>
          </a:ln>
        </p:spPr>
        <p:txBody>
          <a:bodyPr/>
          <a:lstStyle/>
          <a:p>
            <a:endParaRPr lang="hu-HU"/>
          </a:p>
        </p:txBody>
      </p:sp>
      <p:sp>
        <p:nvSpPr>
          <p:cNvPr id="14" name="Shape 9"/>
          <p:cNvSpPr/>
          <p:nvPr/>
        </p:nvSpPr>
        <p:spPr>
          <a:xfrm>
            <a:off x="507355" y="3766245"/>
            <a:ext cx="57150" cy="1019994"/>
          </a:xfrm>
          <a:prstGeom prst="roundRect">
            <a:avLst>
              <a:gd name="adj" fmla="val 86279"/>
            </a:avLst>
          </a:prstGeom>
          <a:solidFill>
            <a:srgbClr val="5A6ED8"/>
          </a:solidFill>
          <a:ln/>
        </p:spPr>
        <p:txBody>
          <a:bodyPr/>
          <a:lstStyle/>
          <a:p>
            <a:endParaRPr lang="hu-HU"/>
          </a:p>
        </p:txBody>
      </p:sp>
      <p:sp>
        <p:nvSpPr>
          <p:cNvPr id="15" name="Text 10"/>
          <p:cNvSpPr/>
          <p:nvPr/>
        </p:nvSpPr>
        <p:spPr>
          <a:xfrm>
            <a:off x="696144" y="3897883"/>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Cluttered Interfaces</a:t>
            </a:r>
            <a:endParaRPr lang="en-US" sz="1150" dirty="0"/>
          </a:p>
        </p:txBody>
      </p:sp>
      <p:sp>
        <p:nvSpPr>
          <p:cNvPr id="16" name="Text 11"/>
          <p:cNvSpPr/>
          <p:nvPr/>
        </p:nvSpPr>
        <p:spPr>
          <a:xfrm>
            <a:off x="696144" y="4139580"/>
            <a:ext cx="1646113"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Confusing layouts that overwhelm users and obscure key actions.</a:t>
            </a:r>
            <a:endParaRPr lang="en-US" sz="900" dirty="0"/>
          </a:p>
        </p:txBody>
      </p:sp>
      <p:sp>
        <p:nvSpPr>
          <p:cNvPr id="17" name="Shape 12"/>
          <p:cNvSpPr/>
          <p:nvPr/>
        </p:nvSpPr>
        <p:spPr>
          <a:xfrm>
            <a:off x="2571080" y="3766245"/>
            <a:ext cx="1952253" cy="1019994"/>
          </a:xfrm>
          <a:prstGeom prst="roundRect">
            <a:avLst>
              <a:gd name="adj" fmla="val 6724"/>
            </a:avLst>
          </a:prstGeom>
          <a:solidFill>
            <a:srgbClr val="000018">
              <a:alpha val="95000"/>
            </a:srgbClr>
          </a:solidFill>
          <a:ln w="14288">
            <a:solidFill>
              <a:srgbClr val="313E80"/>
            </a:solidFill>
            <a:prstDash val="solid"/>
          </a:ln>
        </p:spPr>
        <p:txBody>
          <a:bodyPr/>
          <a:lstStyle/>
          <a:p>
            <a:endParaRPr lang="hu-HU"/>
          </a:p>
        </p:txBody>
      </p:sp>
      <p:sp>
        <p:nvSpPr>
          <p:cNvPr id="18" name="Shape 13"/>
          <p:cNvSpPr/>
          <p:nvPr/>
        </p:nvSpPr>
        <p:spPr>
          <a:xfrm>
            <a:off x="2556793" y="3766245"/>
            <a:ext cx="57150" cy="1019994"/>
          </a:xfrm>
          <a:prstGeom prst="roundRect">
            <a:avLst>
              <a:gd name="adj" fmla="val 86279"/>
            </a:avLst>
          </a:prstGeom>
          <a:solidFill>
            <a:srgbClr val="5A6ED8"/>
          </a:solidFill>
          <a:ln/>
        </p:spPr>
        <p:txBody>
          <a:bodyPr/>
          <a:lstStyle/>
          <a:p>
            <a:endParaRPr lang="hu-HU"/>
          </a:p>
        </p:txBody>
      </p:sp>
      <p:sp>
        <p:nvSpPr>
          <p:cNvPr id="19" name="Text 14"/>
          <p:cNvSpPr/>
          <p:nvPr/>
        </p:nvSpPr>
        <p:spPr>
          <a:xfrm>
            <a:off x="2745581" y="3897883"/>
            <a:ext cx="1576908"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Slow &amp; Outdated Design</a:t>
            </a:r>
            <a:endParaRPr lang="en-US" sz="1150" dirty="0"/>
          </a:p>
        </p:txBody>
      </p:sp>
      <p:sp>
        <p:nvSpPr>
          <p:cNvPr id="20" name="Text 15"/>
          <p:cNvSpPr/>
          <p:nvPr/>
        </p:nvSpPr>
        <p:spPr>
          <a:xfrm>
            <a:off x="2745581" y="4139580"/>
            <a:ext cx="1646113"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Poor performance and visually dated experiences that erode trust.</a:t>
            </a:r>
            <a:endParaRPr lang="en-US" sz="900" dirty="0"/>
          </a:p>
        </p:txBody>
      </p:sp>
      <p:sp>
        <p:nvSpPr>
          <p:cNvPr id="21" name="Shape 16"/>
          <p:cNvSpPr/>
          <p:nvPr/>
        </p:nvSpPr>
        <p:spPr>
          <a:xfrm>
            <a:off x="4620518" y="3766245"/>
            <a:ext cx="1952253" cy="1019994"/>
          </a:xfrm>
          <a:prstGeom prst="roundRect">
            <a:avLst>
              <a:gd name="adj" fmla="val 6724"/>
            </a:avLst>
          </a:prstGeom>
          <a:solidFill>
            <a:srgbClr val="000018">
              <a:alpha val="95000"/>
            </a:srgbClr>
          </a:solidFill>
          <a:ln w="14288">
            <a:solidFill>
              <a:srgbClr val="313E80"/>
            </a:solidFill>
            <a:prstDash val="solid"/>
          </a:ln>
        </p:spPr>
        <p:txBody>
          <a:bodyPr/>
          <a:lstStyle/>
          <a:p>
            <a:endParaRPr lang="hu-HU"/>
          </a:p>
        </p:txBody>
      </p:sp>
      <p:sp>
        <p:nvSpPr>
          <p:cNvPr id="22" name="Shape 17"/>
          <p:cNvSpPr/>
          <p:nvPr/>
        </p:nvSpPr>
        <p:spPr>
          <a:xfrm>
            <a:off x="4606230" y="3766245"/>
            <a:ext cx="57150" cy="1019994"/>
          </a:xfrm>
          <a:prstGeom prst="roundRect">
            <a:avLst>
              <a:gd name="adj" fmla="val 86279"/>
            </a:avLst>
          </a:prstGeom>
          <a:solidFill>
            <a:srgbClr val="5A6ED8"/>
          </a:solidFill>
          <a:ln/>
        </p:spPr>
        <p:txBody>
          <a:bodyPr/>
          <a:lstStyle/>
          <a:p>
            <a:endParaRPr lang="hu-HU"/>
          </a:p>
        </p:txBody>
      </p:sp>
      <p:sp>
        <p:nvSpPr>
          <p:cNvPr id="23" name="Text 18"/>
          <p:cNvSpPr/>
          <p:nvPr/>
        </p:nvSpPr>
        <p:spPr>
          <a:xfrm>
            <a:off x="4795019" y="3897883"/>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Weak Mobile Support</a:t>
            </a:r>
            <a:endParaRPr lang="en-US" sz="1150" dirty="0"/>
          </a:p>
        </p:txBody>
      </p:sp>
      <p:sp>
        <p:nvSpPr>
          <p:cNvPr id="24" name="Text 19"/>
          <p:cNvSpPr/>
          <p:nvPr/>
        </p:nvSpPr>
        <p:spPr>
          <a:xfrm>
            <a:off x="4795019" y="4139580"/>
            <a:ext cx="1646113"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Non-responsive layouts that break on phones and tablets.</a:t>
            </a:r>
            <a:endParaRPr lang="en-US" sz="900" dirty="0"/>
          </a:p>
        </p:txBody>
      </p:sp>
      <p:sp>
        <p:nvSpPr>
          <p:cNvPr id="25" name="Shape 20"/>
          <p:cNvSpPr/>
          <p:nvPr/>
        </p:nvSpPr>
        <p:spPr>
          <a:xfrm>
            <a:off x="6669956" y="3766245"/>
            <a:ext cx="1952327" cy="1019994"/>
          </a:xfrm>
          <a:prstGeom prst="roundRect">
            <a:avLst>
              <a:gd name="adj" fmla="val 6724"/>
            </a:avLst>
          </a:prstGeom>
          <a:solidFill>
            <a:srgbClr val="000018">
              <a:alpha val="95000"/>
            </a:srgbClr>
          </a:solidFill>
          <a:ln w="14288">
            <a:solidFill>
              <a:srgbClr val="313E80"/>
            </a:solidFill>
            <a:prstDash val="solid"/>
          </a:ln>
        </p:spPr>
        <p:txBody>
          <a:bodyPr/>
          <a:lstStyle/>
          <a:p>
            <a:endParaRPr lang="hu-HU"/>
          </a:p>
        </p:txBody>
      </p:sp>
      <p:sp>
        <p:nvSpPr>
          <p:cNvPr id="26" name="Shape 21"/>
          <p:cNvSpPr/>
          <p:nvPr/>
        </p:nvSpPr>
        <p:spPr>
          <a:xfrm>
            <a:off x="6655668" y="3766245"/>
            <a:ext cx="57150" cy="1019994"/>
          </a:xfrm>
          <a:prstGeom prst="roundRect">
            <a:avLst>
              <a:gd name="adj" fmla="val 86279"/>
            </a:avLst>
          </a:prstGeom>
          <a:solidFill>
            <a:srgbClr val="5A6ED8"/>
          </a:solidFill>
          <a:ln/>
        </p:spPr>
        <p:txBody>
          <a:bodyPr/>
          <a:lstStyle/>
          <a:p>
            <a:endParaRPr lang="hu-HU"/>
          </a:p>
        </p:txBody>
      </p:sp>
      <p:sp>
        <p:nvSpPr>
          <p:cNvPr id="27" name="Text 22"/>
          <p:cNvSpPr/>
          <p:nvPr/>
        </p:nvSpPr>
        <p:spPr>
          <a:xfrm>
            <a:off x="6844457" y="3897883"/>
            <a:ext cx="1506364"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Poor Search &amp; Filtering</a:t>
            </a:r>
            <a:endParaRPr lang="en-US" sz="1150" dirty="0"/>
          </a:p>
        </p:txBody>
      </p:sp>
      <p:sp>
        <p:nvSpPr>
          <p:cNvPr id="28" name="Text 23"/>
          <p:cNvSpPr/>
          <p:nvPr/>
        </p:nvSpPr>
        <p:spPr>
          <a:xfrm>
            <a:off x="6844457" y="4139580"/>
            <a:ext cx="1646188"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Limited discovery tools that make finding products frustrating.</a:t>
            </a:r>
            <a:endParaRPr lang="en-US" sz="900" dirty="0"/>
          </a:p>
        </p:txBody>
      </p:sp>
      <p:sp>
        <p:nvSpPr>
          <p:cNvPr id="29" name="Téglalap 28">
            <a:extLst>
              <a:ext uri="{FF2B5EF4-FFF2-40B4-BE49-F238E27FC236}">
                <a16:creationId xmlns:a16="http://schemas.microsoft.com/office/drawing/2014/main" id="{6C11C8CC-AE02-EB12-500D-8DBE4EA0F87B}"/>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31" name="Kép 30">
            <a:extLst>
              <a:ext uri="{FF2B5EF4-FFF2-40B4-BE49-F238E27FC236}">
                <a16:creationId xmlns:a16="http://schemas.microsoft.com/office/drawing/2014/main" id="{F8FD3559-0C13-5D36-C001-8DC1FB997819}"/>
              </a:ext>
            </a:extLst>
          </p:cNvPr>
          <p:cNvPicPr>
            <a:picLocks noChangeAspect="1"/>
          </p:cNvPicPr>
          <p:nvPr/>
        </p:nvPicPr>
        <p:blipFill>
          <a:blip r:embed="rId3"/>
          <a:stretch>
            <a:fillRect/>
          </a:stretch>
        </p:blipFill>
        <p:spPr>
          <a:xfrm>
            <a:off x="4074207" y="599374"/>
            <a:ext cx="3977108" cy="2266302"/>
          </a:xfrm>
          <a:prstGeom prst="rect">
            <a:avLst/>
          </a:prstGeom>
        </p:spPr>
      </p:pic>
      <p:cxnSp>
        <p:nvCxnSpPr>
          <p:cNvPr id="33" name="Egyenes összekötő 32">
            <a:extLst>
              <a:ext uri="{FF2B5EF4-FFF2-40B4-BE49-F238E27FC236}">
                <a16:creationId xmlns:a16="http://schemas.microsoft.com/office/drawing/2014/main" id="{A9523387-491D-2B0B-0EDA-6071236F37F9}"/>
              </a:ext>
            </a:extLst>
          </p:cNvPr>
          <p:cNvCxnSpPr/>
          <p:nvPr/>
        </p:nvCxnSpPr>
        <p:spPr>
          <a:xfrm>
            <a:off x="3149689" y="1366345"/>
            <a:ext cx="5784105" cy="0"/>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Kép 33">
            <a:extLst>
              <a:ext uri="{FF2B5EF4-FFF2-40B4-BE49-F238E27FC236}">
                <a16:creationId xmlns:a16="http://schemas.microsoft.com/office/drawing/2014/main" id="{39C28F08-5135-4915-CE0C-DACC3440E685}"/>
              </a:ext>
            </a:extLst>
          </p:cNvPr>
          <p:cNvPicPr>
            <a:picLocks noChangeAspect="1"/>
          </p:cNvPicPr>
          <p:nvPr/>
        </p:nvPicPr>
        <p:blipFill>
          <a:blip r:embed="rId3"/>
          <a:stretch>
            <a:fillRect/>
          </a:stretch>
        </p:blipFill>
        <p:spPr>
          <a:xfrm>
            <a:off x="4052795" y="623073"/>
            <a:ext cx="3977108" cy="22663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0640" y="418654"/>
            <a:ext cx="3890590" cy="429146"/>
          </a:xfrm>
          <a:prstGeom prst="rect">
            <a:avLst/>
          </a:prstGeom>
          <a:noFill/>
          <a:ln/>
        </p:spPr>
        <p:txBody>
          <a:bodyPr wrap="none" lIns="0" tIns="0" rIns="0" bIns="0" rtlCol="0" anchor="t"/>
          <a:lstStyle/>
          <a:p>
            <a:pPr marL="0" indent="0" algn="l">
              <a:lnSpc>
                <a:spcPct val="104000"/>
              </a:lnSpc>
              <a:buNone/>
            </a:pPr>
            <a:r>
              <a:rPr lang="en-US" sz="2700" dirty="0">
                <a:solidFill>
                  <a:srgbClr val="FFFFFF"/>
                </a:solidFill>
                <a:latin typeface="Roboto Medium" pitchFamily="34" charset="0"/>
                <a:ea typeface="Roboto Medium" pitchFamily="34" charset="-122"/>
                <a:cs typeface="Roboto Medium" pitchFamily="34" charset="-120"/>
              </a:rPr>
              <a:t>Project Goals</a:t>
            </a:r>
            <a:endParaRPr lang="en-US" sz="2700" dirty="0"/>
          </a:p>
        </p:txBody>
      </p:sp>
      <p:sp>
        <p:nvSpPr>
          <p:cNvPr id="3" name="Text 1"/>
          <p:cNvSpPr/>
          <p:nvPr/>
        </p:nvSpPr>
        <p:spPr>
          <a:xfrm>
            <a:off x="480640" y="1113830"/>
            <a:ext cx="8639919" cy="216322"/>
          </a:xfrm>
          <a:prstGeom prst="rect">
            <a:avLst/>
          </a:prstGeom>
          <a:noFill/>
          <a:ln/>
        </p:spPr>
        <p:txBody>
          <a:bodyPr wrap="none" lIns="0" tIns="0" rIns="0" bIns="0" rtlCol="0" anchor="t"/>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RaktarPro was built around four core pillars that guided every design and development decision.</a:t>
            </a:r>
            <a:endParaRPr lang="en-US" sz="1050" dirty="0"/>
          </a:p>
        </p:txBody>
      </p:sp>
      <p:sp>
        <p:nvSpPr>
          <p:cNvPr id="4" name="Shape 2"/>
          <p:cNvSpPr/>
          <p:nvPr/>
        </p:nvSpPr>
        <p:spPr>
          <a:xfrm>
            <a:off x="480640" y="1479798"/>
            <a:ext cx="4024833" cy="1555998"/>
          </a:xfrm>
          <a:prstGeom prst="roundRect">
            <a:avLst>
              <a:gd name="adj" fmla="val 3707"/>
            </a:avLst>
          </a:prstGeom>
          <a:solidFill>
            <a:srgbClr val="182567"/>
          </a:solidFill>
          <a:ln w="4763">
            <a:solidFill>
              <a:srgbClr val="313E80"/>
            </a:solidFill>
            <a:prstDash val="solid"/>
          </a:ln>
        </p:spPr>
        <p:txBody>
          <a:bodyPr/>
          <a:lstStyle/>
          <a:p>
            <a:endParaRPr lang="hu-HU"/>
          </a:p>
        </p:txBody>
      </p:sp>
      <p:sp>
        <p:nvSpPr>
          <p:cNvPr id="5" name="Shape 3"/>
          <p:cNvSpPr/>
          <p:nvPr/>
        </p:nvSpPr>
        <p:spPr>
          <a:xfrm>
            <a:off x="622697" y="1621854"/>
            <a:ext cx="411956" cy="411956"/>
          </a:xfrm>
          <a:prstGeom prst="roundRect">
            <a:avLst>
              <a:gd name="adj" fmla="val 13871454"/>
            </a:avLst>
          </a:prstGeom>
          <a:solidFill>
            <a:srgbClr val="5A6ED8"/>
          </a:solidFill>
          <a:ln/>
        </p:spPr>
        <p:txBody>
          <a:bodyPr/>
          <a:lstStyle/>
          <a:p>
            <a:endParaRPr lang="hu-HU"/>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5955" y="1735113"/>
            <a:ext cx="185365" cy="185365"/>
          </a:xfrm>
          <a:prstGeom prst="rect">
            <a:avLst/>
          </a:prstGeom>
        </p:spPr>
      </p:pic>
      <p:sp>
        <p:nvSpPr>
          <p:cNvPr id="7" name="Text 4"/>
          <p:cNvSpPr/>
          <p:nvPr/>
        </p:nvSpPr>
        <p:spPr>
          <a:xfrm>
            <a:off x="622697" y="2166789"/>
            <a:ext cx="2040657"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Customer-First Experience</a:t>
            </a:r>
            <a:endParaRPr lang="en-US" sz="1350" dirty="0"/>
          </a:p>
        </p:txBody>
      </p:sp>
      <p:sp>
        <p:nvSpPr>
          <p:cNvPr id="8" name="Text 5"/>
          <p:cNvSpPr/>
          <p:nvPr/>
        </p:nvSpPr>
        <p:spPr>
          <a:xfrm>
            <a:off x="622697" y="2461096"/>
            <a:ext cx="3740721"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Products, reviews, favorites, shopping cart, and a complete ordering system designed around the user.</a:t>
            </a:r>
            <a:endParaRPr lang="en-US" sz="1050" dirty="0"/>
          </a:p>
        </p:txBody>
      </p:sp>
      <p:sp>
        <p:nvSpPr>
          <p:cNvPr id="9" name="Shape 6"/>
          <p:cNvSpPr/>
          <p:nvPr/>
        </p:nvSpPr>
        <p:spPr>
          <a:xfrm>
            <a:off x="4638452" y="1479798"/>
            <a:ext cx="4024908" cy="1555998"/>
          </a:xfrm>
          <a:prstGeom prst="roundRect">
            <a:avLst>
              <a:gd name="adj" fmla="val 3707"/>
            </a:avLst>
          </a:prstGeom>
          <a:solidFill>
            <a:srgbClr val="182567"/>
          </a:solidFill>
          <a:ln w="4763">
            <a:solidFill>
              <a:srgbClr val="313E80"/>
            </a:solidFill>
            <a:prstDash val="solid"/>
          </a:ln>
        </p:spPr>
        <p:txBody>
          <a:bodyPr/>
          <a:lstStyle/>
          <a:p>
            <a:endParaRPr lang="hu-HU"/>
          </a:p>
        </p:txBody>
      </p:sp>
      <p:sp>
        <p:nvSpPr>
          <p:cNvPr id="10" name="Shape 7"/>
          <p:cNvSpPr/>
          <p:nvPr/>
        </p:nvSpPr>
        <p:spPr>
          <a:xfrm>
            <a:off x="4780508" y="1621854"/>
            <a:ext cx="411956" cy="411956"/>
          </a:xfrm>
          <a:prstGeom prst="roundRect">
            <a:avLst>
              <a:gd name="adj" fmla="val 13871454"/>
            </a:avLst>
          </a:prstGeom>
          <a:solidFill>
            <a:srgbClr val="5A6ED8"/>
          </a:solidFill>
          <a:ln/>
        </p:spPr>
        <p:txBody>
          <a:bodyPr/>
          <a:lstStyle/>
          <a:p>
            <a:endParaRPr lang="hu-HU"/>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93766" y="1735113"/>
            <a:ext cx="185365" cy="185365"/>
          </a:xfrm>
          <a:prstGeom prst="rect">
            <a:avLst/>
          </a:prstGeom>
        </p:spPr>
      </p:pic>
      <p:sp>
        <p:nvSpPr>
          <p:cNvPr id="12" name="Text 8"/>
          <p:cNvSpPr/>
          <p:nvPr/>
        </p:nvSpPr>
        <p:spPr>
          <a:xfrm>
            <a:off x="4780508" y="2166789"/>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Secure Backend</a:t>
            </a:r>
            <a:endParaRPr lang="en-US" sz="1350" dirty="0"/>
          </a:p>
        </p:txBody>
      </p:sp>
      <p:sp>
        <p:nvSpPr>
          <p:cNvPr id="13" name="Text 9"/>
          <p:cNvSpPr/>
          <p:nvPr/>
        </p:nvSpPr>
        <p:spPr>
          <a:xfrm>
            <a:off x="4780508" y="2461096"/>
            <a:ext cx="3740795"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JWT authentication, bcrypt password encryption, and fully secured API endpoints.</a:t>
            </a:r>
            <a:endParaRPr lang="en-US" sz="1050" dirty="0"/>
          </a:p>
        </p:txBody>
      </p:sp>
      <p:sp>
        <p:nvSpPr>
          <p:cNvPr id="14" name="Shape 10"/>
          <p:cNvSpPr/>
          <p:nvPr/>
        </p:nvSpPr>
        <p:spPr>
          <a:xfrm>
            <a:off x="480640" y="3168774"/>
            <a:ext cx="4024833" cy="1555998"/>
          </a:xfrm>
          <a:prstGeom prst="roundRect">
            <a:avLst>
              <a:gd name="adj" fmla="val 3707"/>
            </a:avLst>
          </a:prstGeom>
          <a:solidFill>
            <a:srgbClr val="182567"/>
          </a:solidFill>
          <a:ln w="4763">
            <a:solidFill>
              <a:srgbClr val="313E80"/>
            </a:solidFill>
            <a:prstDash val="solid"/>
          </a:ln>
        </p:spPr>
        <p:txBody>
          <a:bodyPr/>
          <a:lstStyle/>
          <a:p>
            <a:endParaRPr lang="hu-HU"/>
          </a:p>
        </p:txBody>
      </p:sp>
      <p:sp>
        <p:nvSpPr>
          <p:cNvPr id="15" name="Shape 11"/>
          <p:cNvSpPr/>
          <p:nvPr/>
        </p:nvSpPr>
        <p:spPr>
          <a:xfrm>
            <a:off x="622697" y="3310830"/>
            <a:ext cx="411956" cy="411956"/>
          </a:xfrm>
          <a:prstGeom prst="roundRect">
            <a:avLst>
              <a:gd name="adj" fmla="val 13871454"/>
            </a:avLst>
          </a:prstGeom>
          <a:solidFill>
            <a:srgbClr val="5A6ED8"/>
          </a:solidFill>
          <a:ln/>
        </p:spPr>
        <p:txBody>
          <a:bodyPr/>
          <a:lstStyle/>
          <a:p>
            <a:endParaRPr lang="hu-HU"/>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5955" y="3424089"/>
            <a:ext cx="185365" cy="185365"/>
          </a:xfrm>
          <a:prstGeom prst="rect">
            <a:avLst/>
          </a:prstGeom>
        </p:spPr>
      </p:pic>
      <p:sp>
        <p:nvSpPr>
          <p:cNvPr id="17" name="Text 12"/>
          <p:cNvSpPr/>
          <p:nvPr/>
        </p:nvSpPr>
        <p:spPr>
          <a:xfrm>
            <a:off x="622697" y="3855765"/>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Reliable Database</a:t>
            </a:r>
            <a:endParaRPr lang="en-US" sz="1350" dirty="0"/>
          </a:p>
        </p:txBody>
      </p:sp>
      <p:sp>
        <p:nvSpPr>
          <p:cNvPr id="18" name="Text 13"/>
          <p:cNvSpPr/>
          <p:nvPr/>
        </p:nvSpPr>
        <p:spPr>
          <a:xfrm>
            <a:off x="622697" y="4150072"/>
            <a:ext cx="3740721"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Structured relational database with connected tables and clean, consistent data handling.</a:t>
            </a:r>
            <a:endParaRPr lang="en-US" sz="1050" dirty="0"/>
          </a:p>
        </p:txBody>
      </p:sp>
      <p:sp>
        <p:nvSpPr>
          <p:cNvPr id="19" name="Shape 14"/>
          <p:cNvSpPr/>
          <p:nvPr/>
        </p:nvSpPr>
        <p:spPr>
          <a:xfrm>
            <a:off x="4638452" y="3168774"/>
            <a:ext cx="4024908" cy="1555998"/>
          </a:xfrm>
          <a:prstGeom prst="roundRect">
            <a:avLst>
              <a:gd name="adj" fmla="val 3707"/>
            </a:avLst>
          </a:prstGeom>
          <a:solidFill>
            <a:srgbClr val="182567"/>
          </a:solidFill>
          <a:ln w="4763">
            <a:solidFill>
              <a:srgbClr val="313E80"/>
            </a:solidFill>
            <a:prstDash val="solid"/>
          </a:ln>
        </p:spPr>
        <p:txBody>
          <a:bodyPr/>
          <a:lstStyle/>
          <a:p>
            <a:endParaRPr lang="hu-HU"/>
          </a:p>
        </p:txBody>
      </p:sp>
      <p:sp>
        <p:nvSpPr>
          <p:cNvPr id="20" name="Shape 15"/>
          <p:cNvSpPr/>
          <p:nvPr/>
        </p:nvSpPr>
        <p:spPr>
          <a:xfrm>
            <a:off x="4780508" y="3310830"/>
            <a:ext cx="411956" cy="411956"/>
          </a:xfrm>
          <a:prstGeom prst="roundRect">
            <a:avLst>
              <a:gd name="adj" fmla="val 13871454"/>
            </a:avLst>
          </a:prstGeom>
          <a:solidFill>
            <a:srgbClr val="5A6ED8"/>
          </a:solidFill>
          <a:ln/>
        </p:spPr>
        <p:txBody>
          <a:bodyPr/>
          <a:lstStyle/>
          <a:p>
            <a:endParaRPr lang="hu-HU"/>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93766" y="3424089"/>
            <a:ext cx="185365" cy="185365"/>
          </a:xfrm>
          <a:prstGeom prst="rect">
            <a:avLst/>
          </a:prstGeom>
        </p:spPr>
      </p:pic>
      <p:sp>
        <p:nvSpPr>
          <p:cNvPr id="22" name="Text 16"/>
          <p:cNvSpPr/>
          <p:nvPr/>
        </p:nvSpPr>
        <p:spPr>
          <a:xfrm>
            <a:off x="4780508" y="3855765"/>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Modern Frontend</a:t>
            </a:r>
            <a:endParaRPr lang="en-US" sz="1350" dirty="0"/>
          </a:p>
        </p:txBody>
      </p:sp>
      <p:sp>
        <p:nvSpPr>
          <p:cNvPr id="23" name="Text 17"/>
          <p:cNvSpPr/>
          <p:nvPr/>
        </p:nvSpPr>
        <p:spPr>
          <a:xfrm>
            <a:off x="4780508" y="4150072"/>
            <a:ext cx="3740795"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Responsive interface with dark/light mode support and smooth, intuitive navigation.</a:t>
            </a:r>
            <a:endParaRPr lang="en-US" sz="1050" dirty="0"/>
          </a:p>
        </p:txBody>
      </p:sp>
      <p:sp>
        <p:nvSpPr>
          <p:cNvPr id="24" name="Téglalap 23">
            <a:extLst>
              <a:ext uri="{FF2B5EF4-FFF2-40B4-BE49-F238E27FC236}">
                <a16:creationId xmlns:a16="http://schemas.microsoft.com/office/drawing/2014/main" id="{AE20C353-75AE-9A7C-A15F-66E4810A638E}"/>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844674"/>
            <a:ext cx="6710958"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Frontend — User Interface &amp; Experience</a:t>
            </a:r>
            <a:endParaRPr lang="en-US" sz="2750" dirty="0"/>
          </a:p>
        </p:txBody>
      </p:sp>
      <p:pic>
        <p:nvPicPr>
          <p:cNvPr id="3" name="Image 0" descr="preencoded.png"/>
          <p:cNvPicPr>
            <a:picLocks noChangeAspect="1"/>
          </p:cNvPicPr>
          <p:nvPr/>
        </p:nvPicPr>
        <p:blipFill>
          <a:blip r:embed="rId3"/>
          <a:stretch>
            <a:fillRect/>
          </a:stretch>
        </p:blipFill>
        <p:spPr>
          <a:xfrm>
            <a:off x="496119" y="1659731"/>
            <a:ext cx="4327773" cy="1898377"/>
          </a:xfrm>
          <a:prstGeom prst="rect">
            <a:avLst/>
          </a:prstGeom>
        </p:spPr>
      </p:pic>
      <p:sp>
        <p:nvSpPr>
          <p:cNvPr id="4" name="Text 1"/>
          <p:cNvSpPr/>
          <p:nvPr/>
        </p:nvSpPr>
        <p:spPr>
          <a:xfrm>
            <a:off x="1693384" y="3040848"/>
            <a:ext cx="882678" cy="117113"/>
          </a:xfrm>
          <a:prstGeom prst="rect">
            <a:avLst/>
          </a:prstGeom>
          <a:noFill/>
          <a:ln/>
        </p:spPr>
        <p:txBody>
          <a:bodyPr wrap="none" lIns="0" tIns="0" rIns="0" bIns="0" rtlCol="0" anchor="t"/>
          <a:lstStyle/>
          <a:p>
            <a:pPr marL="0" indent="0" algn="ctr">
              <a:lnSpc>
                <a:spcPct val="104000"/>
              </a:lnSpc>
              <a:buNone/>
            </a:pPr>
            <a:r>
              <a:rPr lang="en-US" sz="800" dirty="0">
                <a:solidFill>
                  <a:srgbClr val="FFFFFF"/>
                </a:solidFill>
                <a:latin typeface="Roboto Medium" pitchFamily="34" charset="0"/>
                <a:ea typeface="Roboto Medium" pitchFamily="34" charset="-122"/>
                <a:cs typeface="Roboto Medium" pitchFamily="34" charset="-120"/>
              </a:rPr>
              <a:t>Details</a:t>
            </a:r>
            <a:endParaRPr lang="en-US" sz="800" dirty="0"/>
          </a:p>
        </p:txBody>
      </p:sp>
      <p:sp>
        <p:nvSpPr>
          <p:cNvPr id="5" name="Text 2"/>
          <p:cNvSpPr/>
          <p:nvPr/>
        </p:nvSpPr>
        <p:spPr>
          <a:xfrm>
            <a:off x="1807684" y="3200318"/>
            <a:ext cx="654078" cy="187381"/>
          </a:xfrm>
          <a:prstGeom prst="rect">
            <a:avLst/>
          </a:prstGeom>
          <a:noFill/>
          <a:ln/>
        </p:spPr>
        <p:txBody>
          <a:bodyPr wrap="square" lIns="0" tIns="0" rIns="0" bIns="0" rtlCol="0" anchor="t">
            <a:normAutofit/>
          </a:bodyPr>
          <a:lstStyle/>
          <a:p>
            <a:pPr marL="0" indent="0" algn="ctr">
              <a:lnSpc>
                <a:spcPct val="104000"/>
              </a:lnSpc>
              <a:buNone/>
            </a:pPr>
            <a:r>
              <a:rPr lang="en-US" sz="550" dirty="0">
                <a:solidFill>
                  <a:srgbClr val="CFD0D8"/>
                </a:solidFill>
                <a:latin typeface="Roboto" pitchFamily="34" charset="0"/>
                <a:ea typeface="Roboto" pitchFamily="34" charset="-122"/>
                <a:cs typeface="Roboto" pitchFamily="34" charset="-120"/>
              </a:rPr>
              <a:t>View product info and ratings</a:t>
            </a:r>
            <a:endParaRPr lang="en-US" sz="550" dirty="0"/>
          </a:p>
        </p:txBody>
      </p:sp>
      <p:sp>
        <p:nvSpPr>
          <p:cNvPr id="6" name="Text 3"/>
          <p:cNvSpPr/>
          <p:nvPr/>
        </p:nvSpPr>
        <p:spPr>
          <a:xfrm>
            <a:off x="3771235" y="2947158"/>
            <a:ext cx="882678" cy="117113"/>
          </a:xfrm>
          <a:prstGeom prst="rect">
            <a:avLst/>
          </a:prstGeom>
          <a:noFill/>
          <a:ln/>
        </p:spPr>
        <p:txBody>
          <a:bodyPr wrap="none" lIns="0" tIns="0" rIns="0" bIns="0" rtlCol="0" anchor="t"/>
          <a:lstStyle/>
          <a:p>
            <a:pPr marL="0" indent="0" algn="ctr">
              <a:lnSpc>
                <a:spcPct val="104000"/>
              </a:lnSpc>
              <a:buNone/>
            </a:pPr>
            <a:r>
              <a:rPr lang="en-US" sz="800" dirty="0">
                <a:solidFill>
                  <a:srgbClr val="FFFFFF"/>
                </a:solidFill>
                <a:latin typeface="Roboto Medium" pitchFamily="34" charset="0"/>
                <a:ea typeface="Roboto Medium" pitchFamily="34" charset="-122"/>
                <a:cs typeface="Roboto Medium" pitchFamily="34" charset="-120"/>
              </a:rPr>
              <a:t>Checkout</a:t>
            </a:r>
            <a:endParaRPr lang="en-US" sz="800" dirty="0"/>
          </a:p>
        </p:txBody>
      </p:sp>
      <p:sp>
        <p:nvSpPr>
          <p:cNvPr id="7" name="Text 4"/>
          <p:cNvSpPr/>
          <p:nvPr/>
        </p:nvSpPr>
        <p:spPr>
          <a:xfrm>
            <a:off x="3885535" y="3106628"/>
            <a:ext cx="654078" cy="281072"/>
          </a:xfrm>
          <a:prstGeom prst="rect">
            <a:avLst/>
          </a:prstGeom>
          <a:noFill/>
          <a:ln/>
        </p:spPr>
        <p:txBody>
          <a:bodyPr wrap="square" lIns="0" tIns="0" rIns="0" bIns="0" rtlCol="0" anchor="t">
            <a:normAutofit/>
          </a:bodyPr>
          <a:lstStyle/>
          <a:p>
            <a:pPr marL="0" indent="0" algn="ctr">
              <a:lnSpc>
                <a:spcPct val="104000"/>
              </a:lnSpc>
              <a:buNone/>
            </a:pPr>
            <a:r>
              <a:rPr lang="en-US" sz="550" dirty="0">
                <a:solidFill>
                  <a:srgbClr val="CFD0D8"/>
                </a:solidFill>
                <a:latin typeface="Roboto" pitchFamily="34" charset="0"/>
                <a:ea typeface="Roboto" pitchFamily="34" charset="-122"/>
                <a:cs typeface="Roboto" pitchFamily="34" charset="-120"/>
              </a:rPr>
              <a:t>Complete purchase and manage account</a:t>
            </a:r>
            <a:endParaRPr lang="en-US" sz="550" dirty="0"/>
          </a:p>
        </p:txBody>
      </p:sp>
      <p:sp>
        <p:nvSpPr>
          <p:cNvPr id="8" name="Text 5"/>
          <p:cNvSpPr/>
          <p:nvPr/>
        </p:nvSpPr>
        <p:spPr>
          <a:xfrm>
            <a:off x="677360" y="1830352"/>
            <a:ext cx="882678" cy="117113"/>
          </a:xfrm>
          <a:prstGeom prst="rect">
            <a:avLst/>
          </a:prstGeom>
          <a:noFill/>
          <a:ln/>
        </p:spPr>
        <p:txBody>
          <a:bodyPr wrap="none" lIns="0" tIns="0" rIns="0" bIns="0" rtlCol="0" anchor="t"/>
          <a:lstStyle/>
          <a:p>
            <a:pPr marL="0" indent="0" algn="ctr">
              <a:lnSpc>
                <a:spcPct val="104000"/>
              </a:lnSpc>
              <a:buNone/>
            </a:pPr>
            <a:r>
              <a:rPr lang="en-US" sz="900" dirty="0">
                <a:solidFill>
                  <a:srgbClr val="FFFFFF"/>
                </a:solidFill>
                <a:latin typeface="Roboto Medium" pitchFamily="34" charset="0"/>
                <a:ea typeface="Roboto Medium" pitchFamily="34" charset="-122"/>
                <a:cs typeface="Roboto Medium" pitchFamily="34" charset="-120"/>
              </a:rPr>
              <a:t>Browse</a:t>
            </a:r>
            <a:endParaRPr lang="en-US" sz="900" dirty="0"/>
          </a:p>
        </p:txBody>
      </p:sp>
      <p:sp>
        <p:nvSpPr>
          <p:cNvPr id="9" name="Text 6"/>
          <p:cNvSpPr/>
          <p:nvPr/>
        </p:nvSpPr>
        <p:spPr>
          <a:xfrm>
            <a:off x="791660" y="2024395"/>
            <a:ext cx="654078" cy="187381"/>
          </a:xfrm>
          <a:prstGeom prst="rect">
            <a:avLst/>
          </a:prstGeom>
          <a:noFill/>
          <a:ln/>
        </p:spPr>
        <p:txBody>
          <a:bodyPr wrap="square" lIns="0" tIns="0" rIns="0" bIns="0" rtlCol="0" anchor="t">
            <a:normAutofit fontScale="92500"/>
          </a:bodyPr>
          <a:lstStyle/>
          <a:p>
            <a:pPr marL="0" indent="0" algn="ctr">
              <a:lnSpc>
                <a:spcPct val="104000"/>
              </a:lnSpc>
              <a:buNone/>
            </a:pPr>
            <a:r>
              <a:rPr lang="en-US" sz="700" dirty="0">
                <a:solidFill>
                  <a:srgbClr val="CFD0D8"/>
                </a:solidFill>
                <a:latin typeface="Roboto" pitchFamily="34" charset="0"/>
                <a:ea typeface="Roboto" pitchFamily="34" charset="-122"/>
                <a:cs typeface="Roboto" pitchFamily="34" charset="-120"/>
              </a:rPr>
              <a:t>Discover and filter products</a:t>
            </a:r>
            <a:endParaRPr lang="en-US" sz="700" dirty="0"/>
          </a:p>
        </p:txBody>
      </p:sp>
      <p:sp>
        <p:nvSpPr>
          <p:cNvPr id="10" name="Text 7"/>
          <p:cNvSpPr/>
          <p:nvPr/>
        </p:nvSpPr>
        <p:spPr>
          <a:xfrm>
            <a:off x="2746883" y="1851659"/>
            <a:ext cx="882678" cy="117113"/>
          </a:xfrm>
          <a:prstGeom prst="rect">
            <a:avLst/>
          </a:prstGeom>
          <a:noFill/>
          <a:ln/>
        </p:spPr>
        <p:txBody>
          <a:bodyPr wrap="none" lIns="0" tIns="0" rIns="0" bIns="0" rtlCol="0" anchor="t"/>
          <a:lstStyle/>
          <a:p>
            <a:pPr marL="0" indent="0" algn="ctr">
              <a:lnSpc>
                <a:spcPct val="104000"/>
              </a:lnSpc>
              <a:buNone/>
            </a:pPr>
            <a:r>
              <a:rPr lang="en-US" sz="800" dirty="0">
                <a:solidFill>
                  <a:srgbClr val="FFFFFF"/>
                </a:solidFill>
                <a:latin typeface="Roboto Medium" pitchFamily="34" charset="0"/>
                <a:ea typeface="Roboto Medium" pitchFamily="34" charset="-122"/>
                <a:cs typeface="Roboto Medium" pitchFamily="34" charset="-120"/>
              </a:rPr>
              <a:t>Add</a:t>
            </a:r>
            <a:endParaRPr lang="en-US" sz="800" dirty="0"/>
          </a:p>
        </p:txBody>
      </p:sp>
      <p:sp>
        <p:nvSpPr>
          <p:cNvPr id="11" name="Text 8"/>
          <p:cNvSpPr/>
          <p:nvPr/>
        </p:nvSpPr>
        <p:spPr>
          <a:xfrm>
            <a:off x="2861183" y="1980778"/>
            <a:ext cx="654078" cy="187381"/>
          </a:xfrm>
          <a:prstGeom prst="rect">
            <a:avLst/>
          </a:prstGeom>
          <a:noFill/>
          <a:ln/>
        </p:spPr>
        <p:txBody>
          <a:bodyPr wrap="square" lIns="0" tIns="0" rIns="0" bIns="0" rtlCol="0" anchor="t">
            <a:normAutofit/>
          </a:bodyPr>
          <a:lstStyle/>
          <a:p>
            <a:pPr marL="0" indent="0" algn="ctr">
              <a:lnSpc>
                <a:spcPct val="104000"/>
              </a:lnSpc>
              <a:buNone/>
            </a:pPr>
            <a:r>
              <a:rPr lang="en-US" sz="550" dirty="0">
                <a:solidFill>
                  <a:srgbClr val="CFD0D8"/>
                </a:solidFill>
                <a:latin typeface="Roboto" pitchFamily="34" charset="0"/>
                <a:ea typeface="Roboto" pitchFamily="34" charset="-122"/>
                <a:cs typeface="Roboto" pitchFamily="34" charset="-120"/>
              </a:rPr>
              <a:t>Add to cart or save favorites</a:t>
            </a:r>
            <a:endParaRPr lang="en-US" sz="550" dirty="0"/>
          </a:p>
        </p:txBody>
      </p:sp>
      <p:sp>
        <p:nvSpPr>
          <p:cNvPr id="12" name="Text 9"/>
          <p:cNvSpPr/>
          <p:nvPr/>
        </p:nvSpPr>
        <p:spPr>
          <a:xfrm>
            <a:off x="496119" y="3717578"/>
            <a:ext cx="432777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The frontend delivers a seamless end-to-end shopping experience, from product discovery through to order completion.</a:t>
            </a:r>
            <a:endParaRPr lang="en-US" sz="1100" dirty="0"/>
          </a:p>
        </p:txBody>
      </p:sp>
      <p:sp>
        <p:nvSpPr>
          <p:cNvPr id="13" name="Shape 10"/>
          <p:cNvSpPr/>
          <p:nvPr/>
        </p:nvSpPr>
        <p:spPr>
          <a:xfrm>
            <a:off x="5072435" y="1500262"/>
            <a:ext cx="3682231" cy="2798490"/>
          </a:xfrm>
          <a:prstGeom prst="roundRect">
            <a:avLst>
              <a:gd name="adj" fmla="val 3647"/>
            </a:avLst>
          </a:prstGeom>
          <a:solidFill>
            <a:srgbClr val="5A6ED8">
              <a:alpha val="95000"/>
            </a:srgbClr>
          </a:solidFill>
          <a:ln/>
        </p:spPr>
        <p:txBody>
          <a:bodyPr/>
          <a:lstStyle/>
          <a:p>
            <a:endParaRPr lang="hu-HU"/>
          </a:p>
        </p:txBody>
      </p:sp>
      <p:sp>
        <p:nvSpPr>
          <p:cNvPr id="14" name="Text 11"/>
          <p:cNvSpPr/>
          <p:nvPr/>
        </p:nvSpPr>
        <p:spPr>
          <a:xfrm>
            <a:off x="5214193" y="1846213"/>
            <a:ext cx="2232868"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oboto Medium" pitchFamily="34" charset="0"/>
                <a:ea typeface="Roboto Medium" pitchFamily="34" charset="-122"/>
                <a:cs typeface="Roboto Medium" pitchFamily="34" charset="-120"/>
              </a:rPr>
              <a:t>Key Frontend Features</a:t>
            </a:r>
            <a:endParaRPr lang="en-US" sz="1350" dirty="0"/>
          </a:p>
        </p:txBody>
      </p:sp>
      <p:sp>
        <p:nvSpPr>
          <p:cNvPr id="15" name="Text 12"/>
          <p:cNvSpPr/>
          <p:nvPr/>
        </p:nvSpPr>
        <p:spPr>
          <a:xfrm>
            <a:off x="5214193" y="2209428"/>
            <a:ext cx="3398713" cy="183549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000000"/>
                </a:solidFill>
                <a:latin typeface="Roboto" pitchFamily="34" charset="0"/>
                <a:ea typeface="Roboto" pitchFamily="34" charset="-122"/>
                <a:cs typeface="Roboto" pitchFamily="34" charset="-120"/>
              </a:rPr>
              <a:t>Product browsing, filtering, and sorting</a:t>
            </a:r>
            <a:endParaRPr lang="en-US" sz="1100" dirty="0"/>
          </a:p>
          <a:p>
            <a:pPr marL="342900" indent="-342900" algn="l">
              <a:lnSpc>
                <a:spcPct val="133000"/>
              </a:lnSpc>
              <a:buSzPct val="100000"/>
              <a:buChar char="•"/>
            </a:pPr>
            <a:r>
              <a:rPr lang="en-US" sz="1100" dirty="0">
                <a:solidFill>
                  <a:srgbClr val="000000"/>
                </a:solidFill>
                <a:latin typeface="Roboto" pitchFamily="34" charset="0"/>
                <a:ea typeface="Roboto" pitchFamily="34" charset="-122"/>
                <a:cs typeface="Roboto" pitchFamily="34" charset="-120"/>
              </a:rPr>
              <a:t>Detailed product pages with ratings and specifications</a:t>
            </a:r>
            <a:endParaRPr lang="en-US" sz="1100" dirty="0"/>
          </a:p>
          <a:p>
            <a:pPr marL="342900" indent="-342900" algn="l">
              <a:lnSpc>
                <a:spcPct val="133000"/>
              </a:lnSpc>
              <a:buSzPct val="100000"/>
              <a:buChar char="•"/>
            </a:pPr>
            <a:r>
              <a:rPr lang="en-US" sz="1100" dirty="0">
                <a:solidFill>
                  <a:srgbClr val="000000"/>
                </a:solidFill>
                <a:latin typeface="Roboto" pitchFamily="34" charset="0"/>
                <a:ea typeface="Roboto" pitchFamily="34" charset="-122"/>
                <a:cs typeface="Roboto" pitchFamily="34" charset="-120"/>
              </a:rPr>
              <a:t>Cart and favorites stored using </a:t>
            </a:r>
            <a:r>
              <a:rPr lang="en-US" sz="1100" b="1" dirty="0">
                <a:solidFill>
                  <a:srgbClr val="000000"/>
                </a:solidFill>
                <a:latin typeface="Roboto" pitchFamily="34" charset="0"/>
                <a:ea typeface="Roboto" pitchFamily="34" charset="-122"/>
                <a:cs typeface="Roboto" pitchFamily="34" charset="-120"/>
              </a:rPr>
              <a:t>localStorage</a:t>
            </a:r>
            <a:endParaRPr lang="en-US" sz="1100" dirty="0"/>
          </a:p>
          <a:p>
            <a:pPr marL="342900" indent="-342900" algn="l">
              <a:lnSpc>
                <a:spcPct val="133000"/>
              </a:lnSpc>
              <a:buSzPct val="100000"/>
              <a:buChar char="•"/>
            </a:pPr>
            <a:r>
              <a:rPr lang="en-US" sz="1100" dirty="0">
                <a:solidFill>
                  <a:srgbClr val="000000"/>
                </a:solidFill>
                <a:latin typeface="Roboto" pitchFamily="34" charset="0"/>
                <a:ea typeface="Roboto" pitchFamily="34" charset="-122"/>
                <a:cs typeface="Roboto" pitchFamily="34" charset="-120"/>
              </a:rPr>
              <a:t>Full account management system</a:t>
            </a:r>
            <a:endParaRPr lang="en-US" sz="1100" dirty="0"/>
          </a:p>
          <a:p>
            <a:pPr marL="342900" indent="-342900" algn="l">
              <a:lnSpc>
                <a:spcPct val="133000"/>
              </a:lnSpc>
              <a:buSzPct val="100000"/>
              <a:buChar char="•"/>
            </a:pPr>
            <a:r>
              <a:rPr lang="en-US" sz="1100" b="1" dirty="0">
                <a:solidFill>
                  <a:srgbClr val="000000"/>
                </a:solidFill>
                <a:latin typeface="Roboto" pitchFamily="34" charset="0"/>
                <a:ea typeface="Roboto" pitchFamily="34" charset="-122"/>
                <a:cs typeface="Roboto" pitchFamily="34" charset="-120"/>
              </a:rPr>
              <a:t>Bootstrap 5.3</a:t>
            </a:r>
            <a:r>
              <a:rPr lang="en-US" sz="1100" dirty="0">
                <a:solidFill>
                  <a:srgbClr val="000000"/>
                </a:solidFill>
                <a:latin typeface="Roboto" pitchFamily="34" charset="0"/>
                <a:ea typeface="Roboto" pitchFamily="34" charset="-122"/>
                <a:cs typeface="Roboto" pitchFamily="34" charset="-120"/>
              </a:rPr>
              <a:t> responsive design framework</a:t>
            </a:r>
            <a:endParaRPr lang="en-US" sz="1100" dirty="0"/>
          </a:p>
          <a:p>
            <a:pPr marL="342900" indent="-342900" algn="l">
              <a:lnSpc>
                <a:spcPct val="133000"/>
              </a:lnSpc>
              <a:buSzPct val="100000"/>
              <a:buChar char="•"/>
            </a:pPr>
            <a:r>
              <a:rPr lang="en-US" sz="1100" dirty="0">
                <a:solidFill>
                  <a:srgbClr val="000000"/>
                </a:solidFill>
                <a:latin typeface="Roboto" pitchFamily="34" charset="0"/>
                <a:ea typeface="Roboto" pitchFamily="34" charset="-122"/>
                <a:cs typeface="Roboto" pitchFamily="34" charset="-120"/>
              </a:rPr>
              <a:t>Dark and light mode support</a:t>
            </a:r>
            <a:endParaRPr lang="en-US" sz="1100" dirty="0"/>
          </a:p>
        </p:txBody>
      </p:sp>
      <p:sp>
        <p:nvSpPr>
          <p:cNvPr id="16" name="Téglalap 15">
            <a:extLst>
              <a:ext uri="{FF2B5EF4-FFF2-40B4-BE49-F238E27FC236}">
                <a16:creationId xmlns:a16="http://schemas.microsoft.com/office/drawing/2014/main" id="{5657A7C0-187F-ED5C-E799-C89C2741FFF0}"/>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03759" y="347737"/>
            <a:ext cx="4234979" cy="332259"/>
          </a:xfrm>
          <a:prstGeom prst="rect">
            <a:avLst/>
          </a:prstGeom>
          <a:noFill/>
          <a:ln/>
        </p:spPr>
        <p:txBody>
          <a:bodyPr wrap="none" lIns="0" tIns="0" rIns="0" bIns="0" rtlCol="0" anchor="t"/>
          <a:lstStyle/>
          <a:p>
            <a:pPr marL="0" indent="0" algn="l">
              <a:lnSpc>
                <a:spcPct val="104000"/>
              </a:lnSpc>
              <a:buNone/>
            </a:pPr>
            <a:r>
              <a:rPr lang="en-US" sz="2050" dirty="0">
                <a:solidFill>
                  <a:srgbClr val="FFFFFF"/>
                </a:solidFill>
                <a:latin typeface="Roboto Medium" pitchFamily="34" charset="0"/>
                <a:ea typeface="Roboto Medium" pitchFamily="34" charset="-122"/>
                <a:cs typeface="Roboto Medium" pitchFamily="34" charset="-120"/>
              </a:rPr>
              <a:t>Backend — Architecture &amp; Logic</a:t>
            </a:r>
            <a:endParaRPr lang="en-US" sz="2050" dirty="0"/>
          </a:p>
        </p:txBody>
      </p:sp>
      <p:sp>
        <p:nvSpPr>
          <p:cNvPr id="3" name="Text 1"/>
          <p:cNvSpPr/>
          <p:nvPr/>
        </p:nvSpPr>
        <p:spPr>
          <a:xfrm>
            <a:off x="903759" y="839465"/>
            <a:ext cx="7793608" cy="148828"/>
          </a:xfrm>
          <a:prstGeom prst="rect">
            <a:avLst/>
          </a:prstGeom>
          <a:noFill/>
          <a:ln/>
        </p:spPr>
        <p:txBody>
          <a:bodyPr wrap="none" lIns="0" tIns="0" rIns="0" bIns="0" rtlCol="0" anchor="t"/>
          <a:lstStyle/>
          <a:p>
            <a:pPr marL="0" indent="0" algn="l">
              <a:lnSpc>
                <a:spcPct val="117000"/>
              </a:lnSpc>
              <a:buNone/>
            </a:pPr>
            <a:r>
              <a:rPr lang="en-US" sz="800" dirty="0">
                <a:solidFill>
                  <a:srgbClr val="CFD0D8"/>
                </a:solidFill>
                <a:latin typeface="Roboto" pitchFamily="34" charset="0"/>
                <a:ea typeface="Roboto" pitchFamily="34" charset="-122"/>
                <a:cs typeface="Roboto" pitchFamily="34" charset="-120"/>
              </a:rPr>
              <a:t>A robust PHP backend built on the MVC pattern, ensuring clean separation of concerns and maximum security.</a:t>
            </a:r>
            <a:endParaRPr lang="en-US" sz="800" dirty="0"/>
          </a:p>
        </p:txBody>
      </p:sp>
      <p:pic>
        <p:nvPicPr>
          <p:cNvPr id="4" name="Image 0" descr="preencoded.png"/>
          <p:cNvPicPr>
            <a:picLocks noChangeAspect="1"/>
          </p:cNvPicPr>
          <p:nvPr/>
        </p:nvPicPr>
        <p:blipFill>
          <a:blip r:embed="rId3"/>
          <a:stretch>
            <a:fillRect/>
          </a:stretch>
        </p:blipFill>
        <p:spPr>
          <a:xfrm>
            <a:off x="903759" y="1167631"/>
            <a:ext cx="3538463" cy="3538463"/>
          </a:xfrm>
          <a:prstGeom prst="rect">
            <a:avLst/>
          </a:prstGeom>
        </p:spPr>
      </p:pic>
      <p:pic>
        <p:nvPicPr>
          <p:cNvPr id="5" name="Image 1" descr="preencoded.png"/>
          <p:cNvPicPr>
            <a:picLocks noChangeAspect="1"/>
          </p:cNvPicPr>
          <p:nvPr/>
        </p:nvPicPr>
        <p:blipFill>
          <a:blip r:embed="rId4"/>
          <a:stretch>
            <a:fillRect/>
          </a:stretch>
        </p:blipFill>
        <p:spPr>
          <a:xfrm>
            <a:off x="903759" y="1167631"/>
            <a:ext cx="3538463" cy="3538463"/>
          </a:xfrm>
          <a:prstGeom prst="rect">
            <a:avLst/>
          </a:prstGeom>
        </p:spPr>
      </p:pic>
      <p:sp>
        <p:nvSpPr>
          <p:cNvPr id="6" name="Text 2"/>
          <p:cNvSpPr/>
          <p:nvPr/>
        </p:nvSpPr>
        <p:spPr>
          <a:xfrm>
            <a:off x="4706392" y="1957536"/>
            <a:ext cx="1827386" cy="166092"/>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edium" pitchFamily="34" charset="0"/>
                <a:ea typeface="Roboto Medium" pitchFamily="34" charset="-122"/>
                <a:cs typeface="Roboto Medium" pitchFamily="34" charset="-120"/>
              </a:rPr>
              <a:t>Architecture Highlights</a:t>
            </a:r>
            <a:endParaRPr lang="en-US" sz="10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46203" y="2216572"/>
            <a:ext cx="159469" cy="159469"/>
          </a:xfrm>
          <a:prstGeom prst="rect">
            <a:avLst/>
          </a:prstGeom>
        </p:spPr>
      </p:pic>
      <p:sp>
        <p:nvSpPr>
          <p:cNvPr id="8" name="Text 3"/>
          <p:cNvSpPr/>
          <p:nvPr/>
        </p:nvSpPr>
        <p:spPr>
          <a:xfrm>
            <a:off x="5051822" y="2213297"/>
            <a:ext cx="1329035" cy="166092"/>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MVC Pattern</a:t>
            </a:r>
            <a:endParaRPr lang="en-US" sz="1000" dirty="0"/>
          </a:p>
        </p:txBody>
      </p:sp>
      <p:sp>
        <p:nvSpPr>
          <p:cNvPr id="9" name="Text 4"/>
          <p:cNvSpPr/>
          <p:nvPr/>
        </p:nvSpPr>
        <p:spPr>
          <a:xfrm>
            <a:off x="5051822" y="2459087"/>
            <a:ext cx="1373981" cy="446484"/>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CFD0D8"/>
                </a:solidFill>
                <a:latin typeface="Roboto" pitchFamily="34" charset="0"/>
                <a:ea typeface="Roboto" pitchFamily="34" charset="-122"/>
                <a:cs typeface="Roboto" pitchFamily="34" charset="-120"/>
              </a:rPr>
              <a:t>Controller → Service → Model structure for clean, maintainable code.</a:t>
            </a:r>
            <a:endParaRPr lang="en-US" sz="8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65255" y="2216572"/>
            <a:ext cx="159469" cy="159469"/>
          </a:xfrm>
          <a:prstGeom prst="rect">
            <a:avLst/>
          </a:prstGeom>
        </p:spPr>
      </p:pic>
      <p:sp>
        <p:nvSpPr>
          <p:cNvPr id="11" name="Text 5"/>
          <p:cNvSpPr/>
          <p:nvPr/>
        </p:nvSpPr>
        <p:spPr>
          <a:xfrm>
            <a:off x="6870874" y="2213297"/>
            <a:ext cx="1329035" cy="166092"/>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JWT Authentication</a:t>
            </a:r>
            <a:endParaRPr lang="en-US" sz="1000" dirty="0"/>
          </a:p>
        </p:txBody>
      </p:sp>
      <p:sp>
        <p:nvSpPr>
          <p:cNvPr id="12" name="Text 6"/>
          <p:cNvSpPr/>
          <p:nvPr/>
        </p:nvSpPr>
        <p:spPr>
          <a:xfrm>
            <a:off x="6870874" y="2459087"/>
            <a:ext cx="1373981" cy="446484"/>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CFD0D8"/>
                </a:solidFill>
                <a:latin typeface="Roboto" pitchFamily="34" charset="0"/>
                <a:ea typeface="Roboto" pitchFamily="34" charset="-122"/>
                <a:cs typeface="Roboto" pitchFamily="34" charset="-120"/>
              </a:rPr>
              <a:t>Token-based auth protecting all sensitive routes and user data.</a:t>
            </a:r>
            <a:endParaRPr lang="en-US" sz="8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46203" y="3068315"/>
            <a:ext cx="159469" cy="159469"/>
          </a:xfrm>
          <a:prstGeom prst="rect">
            <a:avLst/>
          </a:prstGeom>
        </p:spPr>
      </p:pic>
      <p:sp>
        <p:nvSpPr>
          <p:cNvPr id="14" name="Text 7"/>
          <p:cNvSpPr/>
          <p:nvPr/>
        </p:nvSpPr>
        <p:spPr>
          <a:xfrm>
            <a:off x="5051822" y="3065041"/>
            <a:ext cx="1329035" cy="166092"/>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Security First</a:t>
            </a:r>
            <a:endParaRPr lang="en-US" sz="1000" dirty="0"/>
          </a:p>
        </p:txBody>
      </p:sp>
      <p:sp>
        <p:nvSpPr>
          <p:cNvPr id="15" name="Text 8"/>
          <p:cNvSpPr/>
          <p:nvPr/>
        </p:nvSpPr>
        <p:spPr>
          <a:xfrm>
            <a:off x="5051822" y="3310830"/>
            <a:ext cx="1373981" cy="595313"/>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CFD0D8"/>
                </a:solidFill>
                <a:latin typeface="Roboto" pitchFamily="34" charset="0"/>
                <a:ea typeface="Roboto" pitchFamily="34" charset="-122"/>
                <a:cs typeface="Roboto" pitchFamily="34" charset="-120"/>
              </a:rPr>
              <a:t>bcrypt hashing, role-based access control, and prepared statements against SQL injection.</a:t>
            </a:r>
            <a:endParaRPr lang="en-US" sz="80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65255" y="3068315"/>
            <a:ext cx="159469" cy="159469"/>
          </a:xfrm>
          <a:prstGeom prst="rect">
            <a:avLst/>
          </a:prstGeom>
        </p:spPr>
      </p:pic>
      <p:sp>
        <p:nvSpPr>
          <p:cNvPr id="17" name="Text 9"/>
          <p:cNvSpPr/>
          <p:nvPr/>
        </p:nvSpPr>
        <p:spPr>
          <a:xfrm>
            <a:off x="6870874" y="3065041"/>
            <a:ext cx="1329035" cy="166092"/>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JSON API</a:t>
            </a:r>
            <a:endParaRPr lang="en-US" sz="1000" dirty="0"/>
          </a:p>
        </p:txBody>
      </p:sp>
      <p:sp>
        <p:nvSpPr>
          <p:cNvPr id="18" name="Text 10"/>
          <p:cNvSpPr/>
          <p:nvPr/>
        </p:nvSpPr>
        <p:spPr>
          <a:xfrm>
            <a:off x="6870874" y="3310830"/>
            <a:ext cx="1373981" cy="446484"/>
          </a:xfrm>
          <a:prstGeom prst="rect">
            <a:avLst/>
          </a:prstGeom>
          <a:noFill/>
          <a:ln/>
        </p:spPr>
        <p:txBody>
          <a:bodyPr wrap="square" lIns="0" tIns="0" rIns="0" bIns="0" rtlCol="0" anchor="t">
            <a:normAutofit/>
          </a:bodyPr>
          <a:lstStyle/>
          <a:p>
            <a:pPr marL="0" indent="0" algn="l">
              <a:lnSpc>
                <a:spcPct val="117000"/>
              </a:lnSpc>
              <a:buNone/>
            </a:pPr>
            <a:r>
              <a:rPr lang="en-US" sz="800" dirty="0">
                <a:solidFill>
                  <a:srgbClr val="CFD0D8"/>
                </a:solidFill>
                <a:latin typeface="Roboto" pitchFamily="34" charset="0"/>
                <a:ea typeface="Roboto" pitchFamily="34" charset="-122"/>
                <a:cs typeface="Roboto" pitchFamily="34" charset="-120"/>
              </a:rPr>
              <a:t>Clean, structured JSON responses for seamless frontend integration.</a:t>
            </a:r>
            <a:endParaRPr lang="en-US" sz="800" dirty="0"/>
          </a:p>
        </p:txBody>
      </p:sp>
      <p:sp>
        <p:nvSpPr>
          <p:cNvPr id="19" name="Téglalap 18">
            <a:extLst>
              <a:ext uri="{FF2B5EF4-FFF2-40B4-BE49-F238E27FC236}">
                <a16:creationId xmlns:a16="http://schemas.microsoft.com/office/drawing/2014/main" id="{A6B61965-6AFB-4B89-A75F-B9609EE81D6A}"/>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362298" y="282550"/>
            <a:ext cx="2783012" cy="290736"/>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Roboto Medium" pitchFamily="34" charset="0"/>
                <a:ea typeface="Roboto Medium" pitchFamily="34" charset="-122"/>
                <a:cs typeface="Roboto Medium" pitchFamily="34" charset="-120"/>
              </a:rPr>
              <a:t>Database Design</a:t>
            </a:r>
            <a:endParaRPr lang="en-US" sz="1800" dirty="0"/>
          </a:p>
        </p:txBody>
      </p:sp>
      <p:sp>
        <p:nvSpPr>
          <p:cNvPr id="3" name="Text 1"/>
          <p:cNvSpPr/>
          <p:nvPr/>
        </p:nvSpPr>
        <p:spPr>
          <a:xfrm>
            <a:off x="1362298" y="695325"/>
            <a:ext cx="6876604" cy="123230"/>
          </a:xfrm>
          <a:prstGeom prst="rect">
            <a:avLst/>
          </a:prstGeom>
          <a:noFill/>
          <a:ln/>
        </p:spPr>
        <p:txBody>
          <a:bodyPr wrap="none" lIns="0" tIns="0" rIns="0" bIns="0" rtlCol="0" anchor="t"/>
          <a:lstStyle/>
          <a:p>
            <a:pPr marL="0" indent="0" algn="l">
              <a:lnSpc>
                <a:spcPct val="110000"/>
              </a:lnSpc>
              <a:buNone/>
            </a:pPr>
            <a:r>
              <a:rPr lang="en-US" sz="800" dirty="0">
                <a:solidFill>
                  <a:srgbClr val="CFD0D8"/>
                </a:solidFill>
                <a:latin typeface="Roboto" pitchFamily="34" charset="0"/>
                <a:ea typeface="Roboto" pitchFamily="34" charset="-122"/>
                <a:cs typeface="Roboto" pitchFamily="34" charset="-120"/>
              </a:rPr>
              <a:t>A structured relational database system powering every feature of RaktarPro with integrity and performance.</a:t>
            </a:r>
            <a:endParaRPr lang="en-US" sz="800" dirty="0"/>
          </a:p>
        </p:txBody>
      </p:sp>
      <p:pic>
        <p:nvPicPr>
          <p:cNvPr id="4" name="Image 0" descr="preencoded.png"/>
          <p:cNvPicPr>
            <a:picLocks noChangeAspect="1"/>
          </p:cNvPicPr>
          <p:nvPr/>
        </p:nvPicPr>
        <p:blipFill>
          <a:blip r:embed="rId3"/>
          <a:stretch>
            <a:fillRect/>
          </a:stretch>
        </p:blipFill>
        <p:spPr>
          <a:xfrm>
            <a:off x="1362298" y="955923"/>
            <a:ext cx="2763887" cy="2763887"/>
          </a:xfrm>
          <a:prstGeom prst="rect">
            <a:avLst/>
          </a:prstGeom>
        </p:spPr>
      </p:pic>
      <p:pic>
        <p:nvPicPr>
          <p:cNvPr id="5" name="Image 1" descr="preencoded.png"/>
          <p:cNvPicPr>
            <a:picLocks noChangeAspect="1"/>
          </p:cNvPicPr>
          <p:nvPr/>
        </p:nvPicPr>
        <p:blipFill>
          <a:blip r:embed="rId4"/>
          <a:stretch>
            <a:fillRect/>
          </a:stretch>
        </p:blipFill>
        <p:spPr>
          <a:xfrm>
            <a:off x="1362298" y="955923"/>
            <a:ext cx="2763887" cy="2763887"/>
          </a:xfrm>
          <a:prstGeom prst="rect">
            <a:avLst/>
          </a:prstGeom>
        </p:spPr>
      </p:pic>
      <p:sp>
        <p:nvSpPr>
          <p:cNvPr id="6" name="Text 2"/>
          <p:cNvSpPr/>
          <p:nvPr/>
        </p:nvSpPr>
        <p:spPr>
          <a:xfrm>
            <a:off x="4357911" y="2114476"/>
            <a:ext cx="1620069" cy="145331"/>
          </a:xfrm>
          <a:prstGeom prst="rect">
            <a:avLst/>
          </a:prstGeom>
          <a:noFill/>
          <a:ln/>
        </p:spPr>
        <p:txBody>
          <a:bodyPr wrap="none" lIns="0" tIns="0" rIns="0" bIns="0" rtlCol="0" anchor="t"/>
          <a:lstStyle/>
          <a:p>
            <a:pPr marL="0" indent="0" algn="l">
              <a:lnSpc>
                <a:spcPct val="104000"/>
              </a:lnSpc>
              <a:buNone/>
            </a:pPr>
            <a:r>
              <a:rPr lang="en-US" sz="1000" dirty="0">
                <a:solidFill>
                  <a:srgbClr val="FFFFFF"/>
                </a:solidFill>
                <a:latin typeface="Roboto Medium" pitchFamily="34" charset="0"/>
                <a:ea typeface="Roboto Medium" pitchFamily="34" charset="-122"/>
                <a:cs typeface="Roboto Medium" pitchFamily="34" charset="-120"/>
              </a:rPr>
              <a:t>Database Structure</a:t>
            </a:r>
            <a:endParaRPr lang="en-US" sz="1000" dirty="0"/>
          </a:p>
        </p:txBody>
      </p:sp>
      <p:sp>
        <p:nvSpPr>
          <p:cNvPr id="7" name="Text 3"/>
          <p:cNvSpPr/>
          <p:nvPr/>
        </p:nvSpPr>
        <p:spPr>
          <a:xfrm>
            <a:off x="4357911" y="2320826"/>
            <a:ext cx="3428479" cy="246459"/>
          </a:xfrm>
          <a:prstGeom prst="rect">
            <a:avLst/>
          </a:prstGeom>
          <a:noFill/>
          <a:ln/>
        </p:spPr>
        <p:txBody>
          <a:bodyPr wrap="square" lIns="0" tIns="0" rIns="0" bIns="0" rtlCol="0" anchor="t">
            <a:normAutofit fontScale="92500" lnSpcReduction="10000"/>
          </a:bodyPr>
          <a:lstStyle/>
          <a:p>
            <a:pPr marL="0" indent="0" algn="l">
              <a:lnSpc>
                <a:spcPct val="110000"/>
              </a:lnSpc>
              <a:buNone/>
            </a:pPr>
            <a:r>
              <a:rPr lang="en-US" sz="900" dirty="0">
                <a:solidFill>
                  <a:srgbClr val="CFD0D8"/>
                </a:solidFill>
                <a:latin typeface="Roboto" pitchFamily="34" charset="0"/>
                <a:ea typeface="Roboto" pitchFamily="34" charset="-122"/>
                <a:cs typeface="Roboto" pitchFamily="34" charset="-120"/>
              </a:rPr>
              <a:t>Eight interconnected tables form the backbone of the RaktarPro data layer, ensuring referential integrity and efficient querying.</a:t>
            </a:r>
            <a:endParaRPr lang="en-US" sz="900" dirty="0"/>
          </a:p>
        </p:txBody>
      </p:sp>
      <p:sp>
        <p:nvSpPr>
          <p:cNvPr id="8" name="Shape 4"/>
          <p:cNvSpPr/>
          <p:nvPr/>
        </p:nvSpPr>
        <p:spPr>
          <a:xfrm>
            <a:off x="1362298" y="3857179"/>
            <a:ext cx="2099072" cy="1003771"/>
          </a:xfrm>
          <a:prstGeom prst="roundRect">
            <a:avLst>
              <a:gd name="adj" fmla="val 3893"/>
            </a:avLst>
          </a:prstGeom>
          <a:solidFill>
            <a:srgbClr val="000018">
              <a:alpha val="95000"/>
            </a:srgbClr>
          </a:solidFill>
          <a:ln w="9525">
            <a:solidFill>
              <a:srgbClr val="313E80"/>
            </a:solidFill>
            <a:prstDash val="solid"/>
          </a:ln>
        </p:spPr>
        <p:txBody>
          <a:bodyPr/>
          <a:lstStyle/>
          <a:p>
            <a:endParaRPr lang="hu-HU"/>
          </a:p>
        </p:txBody>
      </p:sp>
      <p:sp>
        <p:nvSpPr>
          <p:cNvPr id="9" name="Shape 5"/>
          <p:cNvSpPr/>
          <p:nvPr/>
        </p:nvSpPr>
        <p:spPr>
          <a:xfrm>
            <a:off x="1371823" y="3866704"/>
            <a:ext cx="2080022" cy="279053"/>
          </a:xfrm>
          <a:prstGeom prst="roundRect">
            <a:avLst>
              <a:gd name="adj" fmla="val 9907"/>
            </a:avLst>
          </a:prstGeom>
          <a:solidFill>
            <a:srgbClr val="182567"/>
          </a:solidFill>
          <a:ln/>
        </p:spPr>
        <p:txBody>
          <a:bodyPr/>
          <a:lstStyle/>
          <a:p>
            <a:endParaRPr lang="hu-HU"/>
          </a:p>
        </p:txBody>
      </p:sp>
      <p:sp>
        <p:nvSpPr>
          <p:cNvPr id="10" name="Text 6"/>
          <p:cNvSpPr/>
          <p:nvPr/>
        </p:nvSpPr>
        <p:spPr>
          <a:xfrm>
            <a:off x="2342034" y="3916635"/>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CFD0D8"/>
                </a:solidFill>
                <a:latin typeface="Roboto Medium" pitchFamily="34" charset="0"/>
                <a:ea typeface="Roboto Medium" pitchFamily="34" charset="-122"/>
                <a:cs typeface="Roboto Medium" pitchFamily="34" charset="-120"/>
              </a:rPr>
              <a:t>1</a:t>
            </a:r>
            <a:endParaRPr lang="en-US" sz="1050" dirty="0"/>
          </a:p>
        </p:txBody>
      </p:sp>
      <p:sp>
        <p:nvSpPr>
          <p:cNvPr id="11" name="Text 7"/>
          <p:cNvSpPr/>
          <p:nvPr/>
        </p:nvSpPr>
        <p:spPr>
          <a:xfrm>
            <a:off x="1464841" y="4206776"/>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8 Connected Tables</a:t>
            </a:r>
            <a:endParaRPr lang="en-US" sz="900" dirty="0"/>
          </a:p>
        </p:txBody>
      </p:sp>
      <p:sp>
        <p:nvSpPr>
          <p:cNvPr id="12" name="Text 8"/>
          <p:cNvSpPr/>
          <p:nvPr/>
        </p:nvSpPr>
        <p:spPr>
          <a:xfrm>
            <a:off x="1464841" y="4388718"/>
            <a:ext cx="1893987" cy="246459"/>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CFD0D8"/>
                </a:solidFill>
                <a:latin typeface="Roboto" pitchFamily="34" charset="0"/>
                <a:ea typeface="Roboto" pitchFamily="34" charset="-122"/>
                <a:cs typeface="Roboto" pitchFamily="34" charset="-120"/>
              </a:rPr>
              <a:t>Users, products, categories, orders, reviews, favorites, and support tickets.</a:t>
            </a:r>
            <a:endParaRPr lang="en-US" sz="700" dirty="0"/>
          </a:p>
        </p:txBody>
      </p:sp>
      <p:sp>
        <p:nvSpPr>
          <p:cNvPr id="13" name="Shape 9"/>
          <p:cNvSpPr/>
          <p:nvPr/>
        </p:nvSpPr>
        <p:spPr>
          <a:xfrm>
            <a:off x="3522390" y="3857179"/>
            <a:ext cx="2099146" cy="1003771"/>
          </a:xfrm>
          <a:prstGeom prst="roundRect">
            <a:avLst>
              <a:gd name="adj" fmla="val 3893"/>
            </a:avLst>
          </a:prstGeom>
          <a:solidFill>
            <a:srgbClr val="000018">
              <a:alpha val="95000"/>
            </a:srgbClr>
          </a:solidFill>
          <a:ln w="9525">
            <a:solidFill>
              <a:srgbClr val="313E80"/>
            </a:solidFill>
            <a:prstDash val="solid"/>
          </a:ln>
        </p:spPr>
        <p:txBody>
          <a:bodyPr/>
          <a:lstStyle/>
          <a:p>
            <a:endParaRPr lang="hu-HU"/>
          </a:p>
        </p:txBody>
      </p:sp>
      <p:sp>
        <p:nvSpPr>
          <p:cNvPr id="14" name="Shape 10"/>
          <p:cNvSpPr/>
          <p:nvPr/>
        </p:nvSpPr>
        <p:spPr>
          <a:xfrm>
            <a:off x="3531915" y="3866704"/>
            <a:ext cx="2080096" cy="279053"/>
          </a:xfrm>
          <a:prstGeom prst="roundRect">
            <a:avLst>
              <a:gd name="adj" fmla="val 9907"/>
            </a:avLst>
          </a:prstGeom>
          <a:solidFill>
            <a:srgbClr val="182567"/>
          </a:solidFill>
          <a:ln/>
        </p:spPr>
        <p:txBody>
          <a:bodyPr/>
          <a:lstStyle/>
          <a:p>
            <a:endParaRPr lang="hu-HU"/>
          </a:p>
        </p:txBody>
      </p:sp>
      <p:sp>
        <p:nvSpPr>
          <p:cNvPr id="15" name="Text 11"/>
          <p:cNvSpPr/>
          <p:nvPr/>
        </p:nvSpPr>
        <p:spPr>
          <a:xfrm>
            <a:off x="4502200" y="3916635"/>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CFD0D8"/>
                </a:solidFill>
                <a:latin typeface="Roboto Medium" pitchFamily="34" charset="0"/>
                <a:ea typeface="Roboto Medium" pitchFamily="34" charset="-122"/>
                <a:cs typeface="Roboto Medium" pitchFamily="34" charset="-120"/>
              </a:rPr>
              <a:t>2</a:t>
            </a:r>
            <a:endParaRPr lang="en-US" sz="1050" dirty="0"/>
          </a:p>
        </p:txBody>
      </p:sp>
      <p:sp>
        <p:nvSpPr>
          <p:cNvPr id="16" name="Text 12"/>
          <p:cNvSpPr/>
          <p:nvPr/>
        </p:nvSpPr>
        <p:spPr>
          <a:xfrm>
            <a:off x="3624932" y="4206776"/>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Relational Integrity</a:t>
            </a:r>
            <a:endParaRPr lang="en-US" sz="900" dirty="0"/>
          </a:p>
        </p:txBody>
      </p:sp>
      <p:sp>
        <p:nvSpPr>
          <p:cNvPr id="17" name="Text 13"/>
          <p:cNvSpPr/>
          <p:nvPr/>
        </p:nvSpPr>
        <p:spPr>
          <a:xfrm>
            <a:off x="3624932" y="4388718"/>
            <a:ext cx="1894061" cy="369689"/>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CFD0D8"/>
                </a:solidFill>
                <a:latin typeface="Roboto" pitchFamily="34" charset="0"/>
                <a:ea typeface="Roboto" pitchFamily="34" charset="-122"/>
                <a:cs typeface="Roboto" pitchFamily="34" charset="-120"/>
              </a:rPr>
              <a:t>PRIMARY KEY and FOREIGN KEY relationships enforcing consistent, clean data.</a:t>
            </a:r>
            <a:endParaRPr lang="en-US" sz="700" dirty="0"/>
          </a:p>
        </p:txBody>
      </p:sp>
      <p:sp>
        <p:nvSpPr>
          <p:cNvPr id="18" name="Shape 14"/>
          <p:cNvSpPr/>
          <p:nvPr/>
        </p:nvSpPr>
        <p:spPr>
          <a:xfrm>
            <a:off x="5682555" y="3857179"/>
            <a:ext cx="2099072" cy="1003771"/>
          </a:xfrm>
          <a:prstGeom prst="roundRect">
            <a:avLst>
              <a:gd name="adj" fmla="val 3893"/>
            </a:avLst>
          </a:prstGeom>
          <a:solidFill>
            <a:srgbClr val="000018">
              <a:alpha val="95000"/>
            </a:srgbClr>
          </a:solidFill>
          <a:ln w="9525">
            <a:solidFill>
              <a:srgbClr val="313E80"/>
            </a:solidFill>
            <a:prstDash val="solid"/>
          </a:ln>
        </p:spPr>
        <p:txBody>
          <a:bodyPr/>
          <a:lstStyle/>
          <a:p>
            <a:endParaRPr lang="hu-HU"/>
          </a:p>
        </p:txBody>
      </p:sp>
      <p:sp>
        <p:nvSpPr>
          <p:cNvPr id="19" name="Shape 15"/>
          <p:cNvSpPr/>
          <p:nvPr/>
        </p:nvSpPr>
        <p:spPr>
          <a:xfrm>
            <a:off x="5692080" y="3866704"/>
            <a:ext cx="2080022" cy="279053"/>
          </a:xfrm>
          <a:prstGeom prst="roundRect">
            <a:avLst>
              <a:gd name="adj" fmla="val 9907"/>
            </a:avLst>
          </a:prstGeom>
          <a:solidFill>
            <a:srgbClr val="182567"/>
          </a:solidFill>
          <a:ln/>
        </p:spPr>
        <p:txBody>
          <a:bodyPr/>
          <a:lstStyle/>
          <a:p>
            <a:endParaRPr lang="hu-HU"/>
          </a:p>
        </p:txBody>
      </p:sp>
      <p:sp>
        <p:nvSpPr>
          <p:cNvPr id="20" name="Text 16"/>
          <p:cNvSpPr/>
          <p:nvPr/>
        </p:nvSpPr>
        <p:spPr>
          <a:xfrm>
            <a:off x="6662291" y="3916635"/>
            <a:ext cx="139526" cy="174427"/>
          </a:xfrm>
          <a:prstGeom prst="rect">
            <a:avLst/>
          </a:prstGeom>
          <a:noFill/>
          <a:ln/>
        </p:spPr>
        <p:txBody>
          <a:bodyPr wrap="none" lIns="0" tIns="0" rIns="0" bIns="0" rtlCol="0" anchor="ctr"/>
          <a:lstStyle/>
          <a:p>
            <a:pPr marL="0" indent="0" algn="ctr">
              <a:lnSpc>
                <a:spcPct val="100000"/>
              </a:lnSpc>
              <a:buNone/>
            </a:pPr>
            <a:r>
              <a:rPr lang="en-US" sz="1050" dirty="0">
                <a:solidFill>
                  <a:srgbClr val="CFD0D8"/>
                </a:solidFill>
                <a:latin typeface="Roboto Medium" pitchFamily="34" charset="0"/>
                <a:ea typeface="Roboto Medium" pitchFamily="34" charset="-122"/>
                <a:cs typeface="Roboto Medium" pitchFamily="34" charset="-120"/>
              </a:rPr>
              <a:t>3</a:t>
            </a:r>
            <a:endParaRPr lang="en-US" sz="1050" dirty="0"/>
          </a:p>
        </p:txBody>
      </p:sp>
      <p:sp>
        <p:nvSpPr>
          <p:cNvPr id="21" name="Text 17"/>
          <p:cNvSpPr/>
          <p:nvPr/>
        </p:nvSpPr>
        <p:spPr>
          <a:xfrm>
            <a:off x="5785098" y="4206776"/>
            <a:ext cx="1162869" cy="145331"/>
          </a:xfrm>
          <a:prstGeom prst="rect">
            <a:avLst/>
          </a:prstGeom>
          <a:noFill/>
          <a:ln/>
        </p:spPr>
        <p:txBody>
          <a:bodyPr wrap="none" lIns="0" tIns="0" rIns="0" bIns="0" rtlCol="0" anchor="t"/>
          <a:lstStyle/>
          <a:p>
            <a:pPr marL="0" indent="0" algn="l">
              <a:lnSpc>
                <a:spcPct val="104000"/>
              </a:lnSpc>
              <a:buNone/>
            </a:pPr>
            <a:r>
              <a:rPr lang="en-US" sz="900" dirty="0">
                <a:solidFill>
                  <a:srgbClr val="CFD0D8"/>
                </a:solidFill>
                <a:latin typeface="Roboto Medium" pitchFamily="34" charset="0"/>
                <a:ea typeface="Roboto Medium" pitchFamily="34" charset="-122"/>
                <a:cs typeface="Roboto Medium" pitchFamily="34" charset="-120"/>
              </a:rPr>
              <a:t>SQL JOIN Queries</a:t>
            </a:r>
            <a:endParaRPr lang="en-US" sz="900" dirty="0"/>
          </a:p>
        </p:txBody>
      </p:sp>
      <p:sp>
        <p:nvSpPr>
          <p:cNvPr id="22" name="Text 18"/>
          <p:cNvSpPr/>
          <p:nvPr/>
        </p:nvSpPr>
        <p:spPr>
          <a:xfrm>
            <a:off x="5785098" y="4388718"/>
            <a:ext cx="1893987" cy="246459"/>
          </a:xfrm>
          <a:prstGeom prst="rect">
            <a:avLst/>
          </a:prstGeom>
          <a:noFill/>
          <a:ln/>
        </p:spPr>
        <p:txBody>
          <a:bodyPr wrap="square" lIns="0" tIns="0" rIns="0" bIns="0" rtlCol="0" anchor="t">
            <a:normAutofit/>
          </a:bodyPr>
          <a:lstStyle/>
          <a:p>
            <a:pPr marL="0" indent="0" algn="l">
              <a:lnSpc>
                <a:spcPct val="110000"/>
              </a:lnSpc>
              <a:buNone/>
            </a:pPr>
            <a:r>
              <a:rPr lang="en-US" sz="700" dirty="0">
                <a:solidFill>
                  <a:srgbClr val="CFD0D8"/>
                </a:solidFill>
                <a:latin typeface="Roboto" pitchFamily="34" charset="0"/>
                <a:ea typeface="Roboto" pitchFamily="34" charset="-122"/>
                <a:cs typeface="Roboto" pitchFamily="34" charset="-120"/>
              </a:rPr>
              <a:t>Calculated ratings and aggregated data retrieved efficiently via</a:t>
            </a:r>
            <a:endParaRPr lang="en-US" sz="700" dirty="0"/>
          </a:p>
        </p:txBody>
      </p:sp>
      <p:sp>
        <p:nvSpPr>
          <p:cNvPr id="23" name="Téglalap 22">
            <a:extLst>
              <a:ext uri="{FF2B5EF4-FFF2-40B4-BE49-F238E27FC236}">
                <a16:creationId xmlns:a16="http://schemas.microsoft.com/office/drawing/2014/main" id="{6848A1D0-2B7D-9461-8EE1-A94A6CC50E4B}"/>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0F16BA24-F2D0-0F95-4E0A-DD8818196C4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69966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hape 0">
            <a:extLst>
              <a:ext uri="{FF2B5EF4-FFF2-40B4-BE49-F238E27FC236}">
                <a16:creationId xmlns:a16="http://schemas.microsoft.com/office/drawing/2014/main" id="{C56AE9B4-8C4F-5B21-DA9C-203B9BDE884E}"/>
              </a:ext>
            </a:extLst>
          </p:cNvPr>
          <p:cNvSpPr/>
          <p:nvPr/>
        </p:nvSpPr>
        <p:spPr>
          <a:xfrm>
            <a:off x="480640" y="401687"/>
            <a:ext cx="941859" cy="264765"/>
          </a:xfrm>
          <a:prstGeom prst="roundRect">
            <a:avLst>
              <a:gd name="adj" fmla="val 17429"/>
            </a:avLst>
          </a:prstGeom>
          <a:noFill/>
          <a:ln w="4763">
            <a:solidFill>
              <a:srgbClr val="5A6ED8"/>
            </a:solidFill>
            <a:prstDash val="solid"/>
          </a:ln>
        </p:spPr>
        <p:txBody>
          <a:bodyPr/>
          <a:lstStyle/>
          <a:p>
            <a:endParaRPr lang="hu-HU"/>
          </a:p>
        </p:txBody>
      </p:sp>
      <p:sp>
        <p:nvSpPr>
          <p:cNvPr id="27" name="Text 1">
            <a:extLst>
              <a:ext uri="{FF2B5EF4-FFF2-40B4-BE49-F238E27FC236}">
                <a16:creationId xmlns:a16="http://schemas.microsoft.com/office/drawing/2014/main" id="{1E2798A5-AB8D-6FD0-2A6F-026B346F86D3}"/>
              </a:ext>
            </a:extLst>
          </p:cNvPr>
          <p:cNvSpPr/>
          <p:nvPr/>
        </p:nvSpPr>
        <p:spPr>
          <a:xfrm>
            <a:off x="567779" y="447601"/>
            <a:ext cx="1224781" cy="172938"/>
          </a:xfrm>
          <a:prstGeom prst="rect">
            <a:avLst/>
          </a:prstGeom>
          <a:noFill/>
          <a:ln/>
        </p:spPr>
        <p:txBody>
          <a:bodyPr wrap="none" lIns="0" tIns="0" rIns="0" bIns="0" rtlCol="0" anchor="t"/>
          <a:lstStyle/>
          <a:p>
            <a:pPr marL="0" indent="0" algn="l">
              <a:lnSpc>
                <a:spcPct val="131000"/>
              </a:lnSpc>
              <a:buNone/>
            </a:pPr>
            <a:r>
              <a:rPr lang="en-US" sz="850" dirty="0">
                <a:solidFill>
                  <a:srgbClr val="5A6ED8"/>
                </a:solidFill>
                <a:latin typeface="Roboto" pitchFamily="34" charset="0"/>
                <a:ea typeface="Roboto" pitchFamily="34" charset="-122"/>
                <a:cs typeface="Roboto" pitchFamily="34" charset="-120"/>
              </a:rPr>
              <a:t>DEVELOPMENT</a:t>
            </a:r>
            <a:endParaRPr lang="en-US" sz="850" dirty="0"/>
          </a:p>
        </p:txBody>
      </p:sp>
      <p:sp>
        <p:nvSpPr>
          <p:cNvPr id="28" name="Text 2">
            <a:extLst>
              <a:ext uri="{FF2B5EF4-FFF2-40B4-BE49-F238E27FC236}">
                <a16:creationId xmlns:a16="http://schemas.microsoft.com/office/drawing/2014/main" id="{A31D5C93-C1AE-73AD-E6E0-FE65B74156E0}"/>
              </a:ext>
            </a:extLst>
          </p:cNvPr>
          <p:cNvSpPr/>
          <p:nvPr/>
        </p:nvSpPr>
        <p:spPr>
          <a:xfrm>
            <a:off x="480640" y="719658"/>
            <a:ext cx="3890590" cy="429146"/>
          </a:xfrm>
          <a:prstGeom prst="rect">
            <a:avLst/>
          </a:prstGeom>
          <a:noFill/>
          <a:ln/>
        </p:spPr>
        <p:txBody>
          <a:bodyPr wrap="none" lIns="0" tIns="0" rIns="0" bIns="0" rtlCol="0" anchor="t"/>
          <a:lstStyle/>
          <a:p>
            <a:pPr marL="0" indent="0" algn="l">
              <a:lnSpc>
                <a:spcPct val="104000"/>
              </a:lnSpc>
              <a:buNone/>
            </a:pPr>
            <a:r>
              <a:rPr lang="en-US" sz="2700" dirty="0">
                <a:solidFill>
                  <a:srgbClr val="FFFFFF"/>
                </a:solidFill>
                <a:latin typeface="Roboto Medium" pitchFamily="34" charset="0"/>
                <a:ea typeface="Roboto Medium" pitchFamily="34" charset="-122"/>
                <a:cs typeface="Roboto Medium" pitchFamily="34" charset="-120"/>
              </a:rPr>
              <a:t>Development Process</a:t>
            </a:r>
            <a:endParaRPr lang="en-US" sz="2700" dirty="0"/>
          </a:p>
        </p:txBody>
      </p:sp>
      <p:sp>
        <p:nvSpPr>
          <p:cNvPr id="29" name="Text 3">
            <a:extLst>
              <a:ext uri="{FF2B5EF4-FFF2-40B4-BE49-F238E27FC236}">
                <a16:creationId xmlns:a16="http://schemas.microsoft.com/office/drawing/2014/main" id="{B1457E5B-E9C6-BFCA-1862-A00B2BD97EBE}"/>
              </a:ext>
            </a:extLst>
          </p:cNvPr>
          <p:cNvSpPr/>
          <p:nvPr/>
        </p:nvSpPr>
        <p:spPr>
          <a:xfrm>
            <a:off x="480640" y="1348308"/>
            <a:ext cx="8639919" cy="216322"/>
          </a:xfrm>
          <a:prstGeom prst="rect">
            <a:avLst/>
          </a:prstGeom>
          <a:noFill/>
          <a:ln/>
        </p:spPr>
        <p:txBody>
          <a:bodyPr wrap="none" lIns="0" tIns="0" rIns="0" bIns="0" rtlCol="0" anchor="t"/>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How the RaktarPro team collaborated, tracked progress, and delivered a complete full-stack system.</a:t>
            </a:r>
            <a:endParaRPr lang="en-US" sz="1050" dirty="0"/>
          </a:p>
        </p:txBody>
      </p:sp>
      <p:sp>
        <p:nvSpPr>
          <p:cNvPr id="30" name="Shape 4">
            <a:extLst>
              <a:ext uri="{FF2B5EF4-FFF2-40B4-BE49-F238E27FC236}">
                <a16:creationId xmlns:a16="http://schemas.microsoft.com/office/drawing/2014/main" id="{059DE492-AA05-D3B9-5130-AC1412B8BA0C}"/>
              </a:ext>
            </a:extLst>
          </p:cNvPr>
          <p:cNvSpPr/>
          <p:nvPr/>
        </p:nvSpPr>
        <p:spPr>
          <a:xfrm>
            <a:off x="480640" y="1714277"/>
            <a:ext cx="4024833" cy="1447279"/>
          </a:xfrm>
          <a:prstGeom prst="roundRect">
            <a:avLst>
              <a:gd name="adj" fmla="val 3986"/>
            </a:avLst>
          </a:prstGeom>
          <a:solidFill>
            <a:srgbClr val="000018">
              <a:alpha val="95000"/>
            </a:srgbClr>
          </a:solidFill>
          <a:ln w="19050">
            <a:solidFill>
              <a:srgbClr val="313E80"/>
            </a:solidFill>
            <a:prstDash val="solid"/>
          </a:ln>
        </p:spPr>
        <p:txBody>
          <a:bodyPr/>
          <a:lstStyle/>
          <a:p>
            <a:endParaRPr lang="hu-HU"/>
          </a:p>
        </p:txBody>
      </p:sp>
      <p:sp>
        <p:nvSpPr>
          <p:cNvPr id="31" name="Shape 5">
            <a:extLst>
              <a:ext uri="{FF2B5EF4-FFF2-40B4-BE49-F238E27FC236}">
                <a16:creationId xmlns:a16="http://schemas.microsoft.com/office/drawing/2014/main" id="{E2EBA989-D0A8-4008-DC8C-5F95F702FEB3}"/>
              </a:ext>
            </a:extLst>
          </p:cNvPr>
          <p:cNvSpPr/>
          <p:nvPr/>
        </p:nvSpPr>
        <p:spPr>
          <a:xfrm>
            <a:off x="499690" y="1733327"/>
            <a:ext cx="3986733" cy="411956"/>
          </a:xfrm>
          <a:prstGeom prst="roundRect">
            <a:avLst>
              <a:gd name="adj" fmla="val 8453"/>
            </a:avLst>
          </a:prstGeom>
          <a:solidFill>
            <a:srgbClr val="182567"/>
          </a:solidFill>
          <a:ln/>
        </p:spPr>
        <p:txBody>
          <a:bodyPr/>
          <a:lstStyle/>
          <a:p>
            <a:endParaRPr lang="hu-HU"/>
          </a:p>
        </p:txBody>
      </p:sp>
      <p:sp>
        <p:nvSpPr>
          <p:cNvPr id="32" name="Text 6">
            <a:extLst>
              <a:ext uri="{FF2B5EF4-FFF2-40B4-BE49-F238E27FC236}">
                <a16:creationId xmlns:a16="http://schemas.microsoft.com/office/drawing/2014/main" id="{13B78C66-2B6C-2F08-81B0-1F101ABD6EC2}"/>
              </a:ext>
            </a:extLst>
          </p:cNvPr>
          <p:cNvSpPr/>
          <p:nvPr/>
        </p:nvSpPr>
        <p:spPr>
          <a:xfrm>
            <a:off x="2390031" y="1808187"/>
            <a:ext cx="205978" cy="257473"/>
          </a:xfrm>
          <a:prstGeom prst="rect">
            <a:avLst/>
          </a:prstGeom>
          <a:noFill/>
          <a:ln/>
        </p:spPr>
        <p:txBody>
          <a:bodyPr wrap="none" lIns="0" tIns="0" rIns="0" bIns="0" rtlCol="0" anchor="ctr"/>
          <a:lstStyle/>
          <a:p>
            <a:pPr marL="0" indent="0" algn="ctr">
              <a:lnSpc>
                <a:spcPct val="100000"/>
              </a:lnSpc>
              <a:buNone/>
            </a:pPr>
            <a:r>
              <a:rPr lang="en-US" sz="1600" dirty="0">
                <a:solidFill>
                  <a:srgbClr val="CFD0D8"/>
                </a:solidFill>
                <a:latin typeface="Roboto Medium" pitchFamily="34" charset="0"/>
                <a:ea typeface="Roboto Medium" pitchFamily="34" charset="-122"/>
                <a:cs typeface="Roboto Medium" pitchFamily="34" charset="-120"/>
              </a:rPr>
              <a:t>1</a:t>
            </a:r>
            <a:endParaRPr lang="en-US" sz="1600" dirty="0"/>
          </a:p>
        </p:txBody>
      </p:sp>
      <p:sp>
        <p:nvSpPr>
          <p:cNvPr id="33" name="Text 7">
            <a:extLst>
              <a:ext uri="{FF2B5EF4-FFF2-40B4-BE49-F238E27FC236}">
                <a16:creationId xmlns:a16="http://schemas.microsoft.com/office/drawing/2014/main" id="{72333EFF-5376-442F-6F7B-5E28F9BA2E56}"/>
              </a:ext>
            </a:extLst>
          </p:cNvPr>
          <p:cNvSpPr/>
          <p:nvPr/>
        </p:nvSpPr>
        <p:spPr>
          <a:xfrm>
            <a:off x="636984" y="2278261"/>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Team Collaboration</a:t>
            </a:r>
            <a:endParaRPr lang="en-US" sz="1350" dirty="0"/>
          </a:p>
        </p:txBody>
      </p:sp>
      <p:sp>
        <p:nvSpPr>
          <p:cNvPr id="34" name="Text 8">
            <a:extLst>
              <a:ext uri="{FF2B5EF4-FFF2-40B4-BE49-F238E27FC236}">
                <a16:creationId xmlns:a16="http://schemas.microsoft.com/office/drawing/2014/main" id="{BB3F38E5-B325-1FF1-8BF6-2E71F8C3C6E7}"/>
              </a:ext>
            </a:extLst>
          </p:cNvPr>
          <p:cNvSpPr/>
          <p:nvPr/>
        </p:nvSpPr>
        <p:spPr>
          <a:xfrm>
            <a:off x="636984" y="2572569"/>
            <a:ext cx="3712146"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Structured task distribution across frontend, backend, and database roles to ensure parallel progress.</a:t>
            </a:r>
            <a:endParaRPr lang="en-US" sz="1050" dirty="0"/>
          </a:p>
        </p:txBody>
      </p:sp>
      <p:sp>
        <p:nvSpPr>
          <p:cNvPr id="35" name="Shape 9">
            <a:extLst>
              <a:ext uri="{FF2B5EF4-FFF2-40B4-BE49-F238E27FC236}">
                <a16:creationId xmlns:a16="http://schemas.microsoft.com/office/drawing/2014/main" id="{0FCB58DC-0C87-C3F9-A686-79FF863EAEC3}"/>
              </a:ext>
            </a:extLst>
          </p:cNvPr>
          <p:cNvSpPr/>
          <p:nvPr/>
        </p:nvSpPr>
        <p:spPr>
          <a:xfrm>
            <a:off x="4638452" y="1714277"/>
            <a:ext cx="4024908" cy="1447279"/>
          </a:xfrm>
          <a:prstGeom prst="roundRect">
            <a:avLst>
              <a:gd name="adj" fmla="val 3986"/>
            </a:avLst>
          </a:prstGeom>
          <a:solidFill>
            <a:srgbClr val="000018">
              <a:alpha val="95000"/>
            </a:srgbClr>
          </a:solidFill>
          <a:ln w="19050">
            <a:solidFill>
              <a:srgbClr val="313E80"/>
            </a:solidFill>
            <a:prstDash val="solid"/>
          </a:ln>
        </p:spPr>
        <p:txBody>
          <a:bodyPr/>
          <a:lstStyle/>
          <a:p>
            <a:endParaRPr lang="hu-HU"/>
          </a:p>
        </p:txBody>
      </p:sp>
      <p:sp>
        <p:nvSpPr>
          <p:cNvPr id="36" name="Shape 10">
            <a:extLst>
              <a:ext uri="{FF2B5EF4-FFF2-40B4-BE49-F238E27FC236}">
                <a16:creationId xmlns:a16="http://schemas.microsoft.com/office/drawing/2014/main" id="{112F3BFC-8BBC-172D-79AD-59FA8536F0E1}"/>
              </a:ext>
            </a:extLst>
          </p:cNvPr>
          <p:cNvSpPr/>
          <p:nvPr/>
        </p:nvSpPr>
        <p:spPr>
          <a:xfrm>
            <a:off x="4657502" y="1733327"/>
            <a:ext cx="3986808" cy="411956"/>
          </a:xfrm>
          <a:prstGeom prst="roundRect">
            <a:avLst>
              <a:gd name="adj" fmla="val 8453"/>
            </a:avLst>
          </a:prstGeom>
          <a:solidFill>
            <a:srgbClr val="182567"/>
          </a:solidFill>
          <a:ln/>
        </p:spPr>
        <p:txBody>
          <a:bodyPr/>
          <a:lstStyle/>
          <a:p>
            <a:endParaRPr lang="hu-HU"/>
          </a:p>
        </p:txBody>
      </p:sp>
      <p:sp>
        <p:nvSpPr>
          <p:cNvPr id="37" name="Text 11">
            <a:extLst>
              <a:ext uri="{FF2B5EF4-FFF2-40B4-BE49-F238E27FC236}">
                <a16:creationId xmlns:a16="http://schemas.microsoft.com/office/drawing/2014/main" id="{FBDA1FA7-82E8-E8E8-A488-246AC3F6F4DB}"/>
              </a:ext>
            </a:extLst>
          </p:cNvPr>
          <p:cNvSpPr/>
          <p:nvPr/>
        </p:nvSpPr>
        <p:spPr>
          <a:xfrm>
            <a:off x="6547917" y="1808187"/>
            <a:ext cx="205978" cy="257473"/>
          </a:xfrm>
          <a:prstGeom prst="rect">
            <a:avLst/>
          </a:prstGeom>
          <a:noFill/>
          <a:ln/>
        </p:spPr>
        <p:txBody>
          <a:bodyPr wrap="none" lIns="0" tIns="0" rIns="0" bIns="0" rtlCol="0" anchor="ctr"/>
          <a:lstStyle/>
          <a:p>
            <a:pPr marL="0" indent="0" algn="ctr">
              <a:lnSpc>
                <a:spcPct val="100000"/>
              </a:lnSpc>
              <a:buNone/>
            </a:pPr>
            <a:r>
              <a:rPr lang="en-US" sz="1600" dirty="0">
                <a:solidFill>
                  <a:srgbClr val="CFD0D8"/>
                </a:solidFill>
                <a:latin typeface="Roboto Medium" pitchFamily="34" charset="0"/>
                <a:ea typeface="Roboto Medium" pitchFamily="34" charset="-122"/>
                <a:cs typeface="Roboto Medium" pitchFamily="34" charset="-120"/>
              </a:rPr>
              <a:t>2</a:t>
            </a:r>
            <a:endParaRPr lang="en-US" sz="1600" dirty="0"/>
          </a:p>
        </p:txBody>
      </p:sp>
      <p:sp>
        <p:nvSpPr>
          <p:cNvPr id="38" name="Text 12">
            <a:extLst>
              <a:ext uri="{FF2B5EF4-FFF2-40B4-BE49-F238E27FC236}">
                <a16:creationId xmlns:a16="http://schemas.microsoft.com/office/drawing/2014/main" id="{437D8DC8-08F5-A2B4-6763-9C1A8362A1F1}"/>
              </a:ext>
            </a:extLst>
          </p:cNvPr>
          <p:cNvSpPr/>
          <p:nvPr/>
        </p:nvSpPr>
        <p:spPr>
          <a:xfrm>
            <a:off x="4794796" y="2278261"/>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Git Version Control</a:t>
            </a:r>
            <a:endParaRPr lang="en-US" sz="1350" dirty="0"/>
          </a:p>
        </p:txBody>
      </p:sp>
      <p:sp>
        <p:nvSpPr>
          <p:cNvPr id="39" name="Text 13">
            <a:extLst>
              <a:ext uri="{FF2B5EF4-FFF2-40B4-BE49-F238E27FC236}">
                <a16:creationId xmlns:a16="http://schemas.microsoft.com/office/drawing/2014/main" id="{4C636850-C850-3856-6089-B384248AFBE5}"/>
              </a:ext>
            </a:extLst>
          </p:cNvPr>
          <p:cNvSpPr/>
          <p:nvPr/>
        </p:nvSpPr>
        <p:spPr>
          <a:xfrm>
            <a:off x="4794796" y="2572569"/>
            <a:ext cx="3712220"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All code changes tracked via Git with consistent commit history and branch management.</a:t>
            </a:r>
            <a:endParaRPr lang="en-US" sz="1050" dirty="0"/>
          </a:p>
        </p:txBody>
      </p:sp>
      <p:sp>
        <p:nvSpPr>
          <p:cNvPr id="40" name="Shape 14">
            <a:extLst>
              <a:ext uri="{FF2B5EF4-FFF2-40B4-BE49-F238E27FC236}">
                <a16:creationId xmlns:a16="http://schemas.microsoft.com/office/drawing/2014/main" id="{70036C41-CE6A-0761-631F-2049DAEB03BA}"/>
              </a:ext>
            </a:extLst>
          </p:cNvPr>
          <p:cNvSpPr/>
          <p:nvPr/>
        </p:nvSpPr>
        <p:spPr>
          <a:xfrm>
            <a:off x="480640" y="3294534"/>
            <a:ext cx="4024833" cy="1447279"/>
          </a:xfrm>
          <a:prstGeom prst="roundRect">
            <a:avLst>
              <a:gd name="adj" fmla="val 3986"/>
            </a:avLst>
          </a:prstGeom>
          <a:solidFill>
            <a:srgbClr val="000018">
              <a:alpha val="95000"/>
            </a:srgbClr>
          </a:solidFill>
          <a:ln w="19050">
            <a:solidFill>
              <a:srgbClr val="313E80"/>
            </a:solidFill>
            <a:prstDash val="solid"/>
          </a:ln>
        </p:spPr>
        <p:txBody>
          <a:bodyPr/>
          <a:lstStyle/>
          <a:p>
            <a:endParaRPr lang="hu-HU"/>
          </a:p>
        </p:txBody>
      </p:sp>
      <p:sp>
        <p:nvSpPr>
          <p:cNvPr id="41" name="Shape 15">
            <a:extLst>
              <a:ext uri="{FF2B5EF4-FFF2-40B4-BE49-F238E27FC236}">
                <a16:creationId xmlns:a16="http://schemas.microsoft.com/office/drawing/2014/main" id="{926F5A88-3D37-5BE1-7D12-114B1155F2FB}"/>
              </a:ext>
            </a:extLst>
          </p:cNvPr>
          <p:cNvSpPr/>
          <p:nvPr/>
        </p:nvSpPr>
        <p:spPr>
          <a:xfrm>
            <a:off x="499690" y="3313584"/>
            <a:ext cx="3986733" cy="411956"/>
          </a:xfrm>
          <a:prstGeom prst="roundRect">
            <a:avLst>
              <a:gd name="adj" fmla="val 8453"/>
            </a:avLst>
          </a:prstGeom>
          <a:solidFill>
            <a:srgbClr val="182567"/>
          </a:solidFill>
          <a:ln/>
        </p:spPr>
        <p:txBody>
          <a:bodyPr/>
          <a:lstStyle/>
          <a:p>
            <a:endParaRPr lang="hu-HU"/>
          </a:p>
        </p:txBody>
      </p:sp>
      <p:sp>
        <p:nvSpPr>
          <p:cNvPr id="42" name="Text 16">
            <a:extLst>
              <a:ext uri="{FF2B5EF4-FFF2-40B4-BE49-F238E27FC236}">
                <a16:creationId xmlns:a16="http://schemas.microsoft.com/office/drawing/2014/main" id="{A6332DD0-D7BC-3FAF-3694-3227FB206F69}"/>
              </a:ext>
            </a:extLst>
          </p:cNvPr>
          <p:cNvSpPr/>
          <p:nvPr/>
        </p:nvSpPr>
        <p:spPr>
          <a:xfrm>
            <a:off x="2390031" y="3388444"/>
            <a:ext cx="205978" cy="257473"/>
          </a:xfrm>
          <a:prstGeom prst="rect">
            <a:avLst/>
          </a:prstGeom>
          <a:noFill/>
          <a:ln/>
        </p:spPr>
        <p:txBody>
          <a:bodyPr wrap="none" lIns="0" tIns="0" rIns="0" bIns="0" rtlCol="0" anchor="ctr"/>
          <a:lstStyle/>
          <a:p>
            <a:pPr marL="0" indent="0" algn="ctr">
              <a:lnSpc>
                <a:spcPct val="100000"/>
              </a:lnSpc>
              <a:buNone/>
            </a:pPr>
            <a:r>
              <a:rPr lang="en-US" sz="1600" dirty="0">
                <a:solidFill>
                  <a:srgbClr val="CFD0D8"/>
                </a:solidFill>
                <a:latin typeface="Roboto Medium" pitchFamily="34" charset="0"/>
                <a:ea typeface="Roboto Medium" pitchFamily="34" charset="-122"/>
                <a:cs typeface="Roboto Medium" pitchFamily="34" charset="-120"/>
              </a:rPr>
              <a:t>3</a:t>
            </a:r>
            <a:endParaRPr lang="en-US" sz="1600" dirty="0"/>
          </a:p>
        </p:txBody>
      </p:sp>
      <p:sp>
        <p:nvSpPr>
          <p:cNvPr id="43" name="Text 17">
            <a:extLst>
              <a:ext uri="{FF2B5EF4-FFF2-40B4-BE49-F238E27FC236}">
                <a16:creationId xmlns:a16="http://schemas.microsoft.com/office/drawing/2014/main" id="{02AD08B5-22D6-40FC-B8BB-3568151C9305}"/>
              </a:ext>
            </a:extLst>
          </p:cNvPr>
          <p:cNvSpPr/>
          <p:nvPr/>
        </p:nvSpPr>
        <p:spPr>
          <a:xfrm>
            <a:off x="636984" y="3858518"/>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Worklogs &amp; Timeline</a:t>
            </a:r>
            <a:endParaRPr lang="en-US" sz="1350" dirty="0"/>
          </a:p>
        </p:txBody>
      </p:sp>
      <p:sp>
        <p:nvSpPr>
          <p:cNvPr id="44" name="Text 18">
            <a:extLst>
              <a:ext uri="{FF2B5EF4-FFF2-40B4-BE49-F238E27FC236}">
                <a16:creationId xmlns:a16="http://schemas.microsoft.com/office/drawing/2014/main" id="{87E2A350-EDF5-E0A2-E918-983019283328}"/>
              </a:ext>
            </a:extLst>
          </p:cNvPr>
          <p:cNvSpPr/>
          <p:nvPr/>
        </p:nvSpPr>
        <p:spPr>
          <a:xfrm>
            <a:off x="636984" y="4152826"/>
            <a:ext cx="3712146"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Development milestones documented through detailed worklogs and a structured project timeline.</a:t>
            </a:r>
            <a:endParaRPr lang="en-US" sz="1050" dirty="0"/>
          </a:p>
        </p:txBody>
      </p:sp>
      <p:sp>
        <p:nvSpPr>
          <p:cNvPr id="45" name="Shape 19">
            <a:extLst>
              <a:ext uri="{FF2B5EF4-FFF2-40B4-BE49-F238E27FC236}">
                <a16:creationId xmlns:a16="http://schemas.microsoft.com/office/drawing/2014/main" id="{4D6983AF-1DF1-D3BE-9887-192E6B4A4BBE}"/>
              </a:ext>
            </a:extLst>
          </p:cNvPr>
          <p:cNvSpPr/>
          <p:nvPr/>
        </p:nvSpPr>
        <p:spPr>
          <a:xfrm>
            <a:off x="4638452" y="3294534"/>
            <a:ext cx="4024908" cy="1447279"/>
          </a:xfrm>
          <a:prstGeom prst="roundRect">
            <a:avLst>
              <a:gd name="adj" fmla="val 3986"/>
            </a:avLst>
          </a:prstGeom>
          <a:solidFill>
            <a:srgbClr val="000018">
              <a:alpha val="95000"/>
            </a:srgbClr>
          </a:solidFill>
          <a:ln w="19050">
            <a:solidFill>
              <a:srgbClr val="313E80"/>
            </a:solidFill>
            <a:prstDash val="solid"/>
          </a:ln>
        </p:spPr>
        <p:txBody>
          <a:bodyPr/>
          <a:lstStyle/>
          <a:p>
            <a:endParaRPr lang="hu-HU"/>
          </a:p>
        </p:txBody>
      </p:sp>
      <p:sp>
        <p:nvSpPr>
          <p:cNvPr id="46" name="Shape 20">
            <a:extLst>
              <a:ext uri="{FF2B5EF4-FFF2-40B4-BE49-F238E27FC236}">
                <a16:creationId xmlns:a16="http://schemas.microsoft.com/office/drawing/2014/main" id="{660BDBFB-0FDA-1346-D5CD-1A294D7C2A4C}"/>
              </a:ext>
            </a:extLst>
          </p:cNvPr>
          <p:cNvSpPr/>
          <p:nvPr/>
        </p:nvSpPr>
        <p:spPr>
          <a:xfrm>
            <a:off x="4657502" y="3313584"/>
            <a:ext cx="3986808" cy="411956"/>
          </a:xfrm>
          <a:prstGeom prst="roundRect">
            <a:avLst>
              <a:gd name="adj" fmla="val 8453"/>
            </a:avLst>
          </a:prstGeom>
          <a:solidFill>
            <a:srgbClr val="182567"/>
          </a:solidFill>
          <a:ln/>
        </p:spPr>
        <p:txBody>
          <a:bodyPr/>
          <a:lstStyle/>
          <a:p>
            <a:endParaRPr lang="hu-HU"/>
          </a:p>
        </p:txBody>
      </p:sp>
      <p:sp>
        <p:nvSpPr>
          <p:cNvPr id="47" name="Text 21">
            <a:extLst>
              <a:ext uri="{FF2B5EF4-FFF2-40B4-BE49-F238E27FC236}">
                <a16:creationId xmlns:a16="http://schemas.microsoft.com/office/drawing/2014/main" id="{FA671F48-08AA-9482-AF1B-102A9B1DEEA5}"/>
              </a:ext>
            </a:extLst>
          </p:cNvPr>
          <p:cNvSpPr/>
          <p:nvPr/>
        </p:nvSpPr>
        <p:spPr>
          <a:xfrm>
            <a:off x="6547917" y="3388444"/>
            <a:ext cx="205978" cy="257473"/>
          </a:xfrm>
          <a:prstGeom prst="rect">
            <a:avLst/>
          </a:prstGeom>
          <a:noFill/>
          <a:ln/>
        </p:spPr>
        <p:txBody>
          <a:bodyPr wrap="none" lIns="0" tIns="0" rIns="0" bIns="0" rtlCol="0" anchor="ctr"/>
          <a:lstStyle/>
          <a:p>
            <a:pPr marL="0" indent="0" algn="ctr">
              <a:lnSpc>
                <a:spcPct val="100000"/>
              </a:lnSpc>
              <a:buNone/>
            </a:pPr>
            <a:r>
              <a:rPr lang="en-US" sz="1600" dirty="0">
                <a:solidFill>
                  <a:srgbClr val="CFD0D8"/>
                </a:solidFill>
                <a:latin typeface="Roboto Medium" pitchFamily="34" charset="0"/>
                <a:ea typeface="Roboto Medium" pitchFamily="34" charset="-122"/>
                <a:cs typeface="Roboto Medium" pitchFamily="34" charset="-120"/>
              </a:rPr>
              <a:t>4</a:t>
            </a:r>
            <a:endParaRPr lang="en-US" sz="1600" dirty="0"/>
          </a:p>
        </p:txBody>
      </p:sp>
      <p:sp>
        <p:nvSpPr>
          <p:cNvPr id="48" name="Text 22">
            <a:extLst>
              <a:ext uri="{FF2B5EF4-FFF2-40B4-BE49-F238E27FC236}">
                <a16:creationId xmlns:a16="http://schemas.microsoft.com/office/drawing/2014/main" id="{927DF824-79FA-766C-7DA0-207E63852E83}"/>
              </a:ext>
            </a:extLst>
          </p:cNvPr>
          <p:cNvSpPr/>
          <p:nvPr/>
        </p:nvSpPr>
        <p:spPr>
          <a:xfrm>
            <a:off x="4794796" y="3858518"/>
            <a:ext cx="1716658" cy="21453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Continuous Testing</a:t>
            </a:r>
            <a:endParaRPr lang="en-US" sz="1350" dirty="0"/>
          </a:p>
        </p:txBody>
      </p:sp>
      <p:sp>
        <p:nvSpPr>
          <p:cNvPr id="49" name="Text 23">
            <a:extLst>
              <a:ext uri="{FF2B5EF4-FFF2-40B4-BE49-F238E27FC236}">
                <a16:creationId xmlns:a16="http://schemas.microsoft.com/office/drawing/2014/main" id="{0FEF7952-17DE-9B26-4E12-6EE8CF97728B}"/>
              </a:ext>
            </a:extLst>
          </p:cNvPr>
          <p:cNvSpPr/>
          <p:nvPr/>
        </p:nvSpPr>
        <p:spPr>
          <a:xfrm>
            <a:off x="4794796" y="4152826"/>
            <a:ext cx="3712220"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CFD0D8"/>
                </a:solidFill>
                <a:latin typeface="Roboto" pitchFamily="34" charset="0"/>
                <a:ea typeface="Roboto" pitchFamily="34" charset="-122"/>
                <a:cs typeface="Roboto" pitchFamily="34" charset="-120"/>
              </a:rPr>
              <a:t>Testing integrated throughout the development cycle to catch issues early and ensure stability.</a:t>
            </a:r>
            <a:endParaRPr lang="en-US" sz="1050" dirty="0"/>
          </a:p>
        </p:txBody>
      </p:sp>
      <p:sp>
        <p:nvSpPr>
          <p:cNvPr id="50" name="Téglalap 49">
            <a:extLst>
              <a:ext uri="{FF2B5EF4-FFF2-40B4-BE49-F238E27FC236}">
                <a16:creationId xmlns:a16="http://schemas.microsoft.com/office/drawing/2014/main" id="{9B5B0DA8-BA8E-C347-7486-80F5E700BDA6}"/>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0">
            <a:extLst>
              <a:ext uri="{FF2B5EF4-FFF2-40B4-BE49-F238E27FC236}">
                <a16:creationId xmlns:a16="http://schemas.microsoft.com/office/drawing/2014/main" id="{C1F28403-01AD-0A48-4A9C-0CEB1BA54DD0}"/>
              </a:ext>
            </a:extLst>
          </p:cNvPr>
          <p:cNvSpPr/>
          <p:nvPr/>
        </p:nvSpPr>
        <p:spPr>
          <a:xfrm>
            <a:off x="496119" y="965746"/>
            <a:ext cx="901303" cy="266402"/>
          </a:xfrm>
          <a:prstGeom prst="roundRect">
            <a:avLst>
              <a:gd name="adj" fmla="val 17880"/>
            </a:avLst>
          </a:prstGeom>
          <a:solidFill>
            <a:srgbClr val="0F163E"/>
          </a:solidFill>
          <a:ln/>
        </p:spPr>
        <p:txBody>
          <a:bodyPr/>
          <a:lstStyle/>
          <a:p>
            <a:endParaRPr lang="hu-HU"/>
          </a:p>
        </p:txBody>
      </p:sp>
      <p:sp>
        <p:nvSpPr>
          <p:cNvPr id="22" name="Text 1">
            <a:extLst>
              <a:ext uri="{FF2B5EF4-FFF2-40B4-BE49-F238E27FC236}">
                <a16:creationId xmlns:a16="http://schemas.microsoft.com/office/drawing/2014/main" id="{E3E7208B-449A-28BE-788D-87F29E02E7F0}"/>
              </a:ext>
            </a:extLst>
          </p:cNvPr>
          <p:cNvSpPr/>
          <p:nvPr/>
        </p:nvSpPr>
        <p:spPr>
          <a:xfrm>
            <a:off x="581174" y="1008236"/>
            <a:ext cx="1188393" cy="181421"/>
          </a:xfrm>
          <a:prstGeom prst="rect">
            <a:avLst/>
          </a:prstGeom>
          <a:noFill/>
          <a:ln/>
        </p:spPr>
        <p:txBody>
          <a:bodyPr wrap="none" lIns="0" tIns="0" rIns="0" bIns="0" rtlCol="0" anchor="t"/>
          <a:lstStyle/>
          <a:p>
            <a:pPr marL="0" indent="0" algn="l">
              <a:lnSpc>
                <a:spcPct val="133000"/>
              </a:lnSpc>
              <a:buNone/>
            </a:pPr>
            <a:r>
              <a:rPr lang="en-US" sz="850" dirty="0">
                <a:solidFill>
                  <a:srgbClr val="CFD0D8"/>
                </a:solidFill>
                <a:latin typeface="Roboto" pitchFamily="34" charset="0"/>
                <a:ea typeface="Roboto" pitchFamily="34" charset="-122"/>
                <a:cs typeface="Roboto" pitchFamily="34" charset="-120"/>
              </a:rPr>
              <a:t>ADMIN PANEL</a:t>
            </a:r>
            <a:endParaRPr lang="en-US" sz="850" dirty="0"/>
          </a:p>
        </p:txBody>
      </p:sp>
      <p:sp>
        <p:nvSpPr>
          <p:cNvPr id="23" name="Text 2">
            <a:extLst>
              <a:ext uri="{FF2B5EF4-FFF2-40B4-BE49-F238E27FC236}">
                <a16:creationId xmlns:a16="http://schemas.microsoft.com/office/drawing/2014/main" id="{E86E8F38-897D-61E8-98D2-CA7A5052650A}"/>
              </a:ext>
            </a:extLst>
          </p:cNvPr>
          <p:cNvSpPr/>
          <p:nvPr/>
        </p:nvSpPr>
        <p:spPr>
          <a:xfrm>
            <a:off x="496119" y="1288852"/>
            <a:ext cx="4922341"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Key Features &amp; Admin Panel</a:t>
            </a:r>
            <a:endParaRPr lang="en-US" sz="2750" dirty="0"/>
          </a:p>
        </p:txBody>
      </p:sp>
      <p:sp>
        <p:nvSpPr>
          <p:cNvPr id="24" name="Text 3">
            <a:extLst>
              <a:ext uri="{FF2B5EF4-FFF2-40B4-BE49-F238E27FC236}">
                <a16:creationId xmlns:a16="http://schemas.microsoft.com/office/drawing/2014/main" id="{D11A87BE-7246-BC5E-961A-F2E4AC824297}"/>
              </a:ext>
            </a:extLst>
          </p:cNvPr>
          <p:cNvSpPr/>
          <p:nvPr/>
        </p:nvSpPr>
        <p:spPr>
          <a:xfrm>
            <a:off x="496119" y="1944439"/>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RaktarPro's admin panel provides powerful tools for managing every aspect of the webshop and warehouse operations.</a:t>
            </a:r>
            <a:endParaRPr lang="en-US" sz="1100" dirty="0"/>
          </a:p>
        </p:txBody>
      </p:sp>
      <p:sp>
        <p:nvSpPr>
          <p:cNvPr id="25" name="Shape 4">
            <a:extLst>
              <a:ext uri="{FF2B5EF4-FFF2-40B4-BE49-F238E27FC236}">
                <a16:creationId xmlns:a16="http://schemas.microsoft.com/office/drawing/2014/main" id="{B92270C1-E942-B49C-46F4-52C53EEAE042}"/>
              </a:ext>
            </a:extLst>
          </p:cNvPr>
          <p:cNvSpPr/>
          <p:nvPr/>
        </p:nvSpPr>
        <p:spPr>
          <a:xfrm>
            <a:off x="496119" y="2330723"/>
            <a:ext cx="2622724" cy="1847031"/>
          </a:xfrm>
          <a:prstGeom prst="roundRect">
            <a:avLst>
              <a:gd name="adj" fmla="val 3224"/>
            </a:avLst>
          </a:prstGeom>
          <a:solidFill>
            <a:srgbClr val="182567"/>
          </a:solidFill>
          <a:ln w="4763">
            <a:solidFill>
              <a:srgbClr val="313E80"/>
            </a:solidFill>
            <a:prstDash val="solid"/>
          </a:ln>
        </p:spPr>
        <p:txBody>
          <a:bodyPr/>
          <a:lstStyle/>
          <a:p>
            <a:endParaRPr lang="hu-HU"/>
          </a:p>
        </p:txBody>
      </p:sp>
      <p:sp>
        <p:nvSpPr>
          <p:cNvPr id="26" name="Shape 5">
            <a:extLst>
              <a:ext uri="{FF2B5EF4-FFF2-40B4-BE49-F238E27FC236}">
                <a16:creationId xmlns:a16="http://schemas.microsoft.com/office/drawing/2014/main" id="{25A2315F-377D-54A3-7AB1-4A34DA053694}"/>
              </a:ext>
            </a:extLst>
          </p:cNvPr>
          <p:cNvSpPr/>
          <p:nvPr/>
        </p:nvSpPr>
        <p:spPr>
          <a:xfrm>
            <a:off x="642640" y="2477244"/>
            <a:ext cx="425276" cy="425276"/>
          </a:xfrm>
          <a:prstGeom prst="roundRect">
            <a:avLst>
              <a:gd name="adj" fmla="val 13436988"/>
            </a:avLst>
          </a:prstGeom>
          <a:solidFill>
            <a:srgbClr val="5A6ED8"/>
          </a:solidFill>
          <a:ln/>
        </p:spPr>
        <p:txBody>
          <a:bodyPr/>
          <a:lstStyle/>
          <a:p>
            <a:endParaRPr lang="hu-HU"/>
          </a:p>
        </p:txBody>
      </p:sp>
      <p:pic>
        <p:nvPicPr>
          <p:cNvPr id="27" name="Image 0" descr="preencoded.png">
            <a:extLst>
              <a:ext uri="{FF2B5EF4-FFF2-40B4-BE49-F238E27FC236}">
                <a16:creationId xmlns:a16="http://schemas.microsoft.com/office/drawing/2014/main" id="{4E72D43A-3BFD-F667-6B0F-5B1C3F913C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9619" y="2594149"/>
            <a:ext cx="191319" cy="191319"/>
          </a:xfrm>
          <a:prstGeom prst="rect">
            <a:avLst/>
          </a:prstGeom>
        </p:spPr>
      </p:pic>
      <p:sp>
        <p:nvSpPr>
          <p:cNvPr id="28" name="Text 6">
            <a:extLst>
              <a:ext uri="{FF2B5EF4-FFF2-40B4-BE49-F238E27FC236}">
                <a16:creationId xmlns:a16="http://schemas.microsoft.com/office/drawing/2014/main" id="{1E197256-5040-752D-7AD2-A95747DC335F}"/>
              </a:ext>
            </a:extLst>
          </p:cNvPr>
          <p:cNvSpPr/>
          <p:nvPr/>
        </p:nvSpPr>
        <p:spPr>
          <a:xfrm>
            <a:off x="642640" y="3044279"/>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Product Management</a:t>
            </a:r>
            <a:endParaRPr lang="en-US" sz="1350" dirty="0"/>
          </a:p>
        </p:txBody>
      </p:sp>
      <p:sp>
        <p:nvSpPr>
          <p:cNvPr id="29" name="Text 7">
            <a:extLst>
              <a:ext uri="{FF2B5EF4-FFF2-40B4-BE49-F238E27FC236}">
                <a16:creationId xmlns:a16="http://schemas.microsoft.com/office/drawing/2014/main" id="{3C89AB4A-9D76-47C3-5000-17DE1FB90F5E}"/>
              </a:ext>
            </a:extLst>
          </p:cNvPr>
          <p:cNvSpPr/>
          <p:nvPr/>
        </p:nvSpPr>
        <p:spPr>
          <a:xfrm>
            <a:off x="642640" y="3350791"/>
            <a:ext cx="2329681"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Manage products, prices, stock levels, images, and categories from a unified interface.</a:t>
            </a:r>
            <a:endParaRPr lang="en-US" sz="1100" dirty="0"/>
          </a:p>
        </p:txBody>
      </p:sp>
      <p:sp>
        <p:nvSpPr>
          <p:cNvPr id="30" name="Shape 8">
            <a:extLst>
              <a:ext uri="{FF2B5EF4-FFF2-40B4-BE49-F238E27FC236}">
                <a16:creationId xmlns:a16="http://schemas.microsoft.com/office/drawing/2014/main" id="{1C159377-0347-1B2B-906F-F1AE5EF0193A}"/>
              </a:ext>
            </a:extLst>
          </p:cNvPr>
          <p:cNvSpPr/>
          <p:nvPr/>
        </p:nvSpPr>
        <p:spPr>
          <a:xfrm>
            <a:off x="3260601" y="2330723"/>
            <a:ext cx="2622724" cy="1847031"/>
          </a:xfrm>
          <a:prstGeom prst="roundRect">
            <a:avLst>
              <a:gd name="adj" fmla="val 3224"/>
            </a:avLst>
          </a:prstGeom>
          <a:solidFill>
            <a:srgbClr val="182567"/>
          </a:solidFill>
          <a:ln w="4763">
            <a:solidFill>
              <a:srgbClr val="313E80"/>
            </a:solidFill>
            <a:prstDash val="solid"/>
          </a:ln>
        </p:spPr>
        <p:txBody>
          <a:bodyPr/>
          <a:lstStyle/>
          <a:p>
            <a:endParaRPr lang="hu-HU"/>
          </a:p>
        </p:txBody>
      </p:sp>
      <p:sp>
        <p:nvSpPr>
          <p:cNvPr id="31" name="Shape 9">
            <a:extLst>
              <a:ext uri="{FF2B5EF4-FFF2-40B4-BE49-F238E27FC236}">
                <a16:creationId xmlns:a16="http://schemas.microsoft.com/office/drawing/2014/main" id="{C4B4B05B-7366-9DA4-AC8A-9209D0B821DB}"/>
              </a:ext>
            </a:extLst>
          </p:cNvPr>
          <p:cNvSpPr/>
          <p:nvPr/>
        </p:nvSpPr>
        <p:spPr>
          <a:xfrm>
            <a:off x="3407122" y="2477244"/>
            <a:ext cx="425276" cy="425276"/>
          </a:xfrm>
          <a:prstGeom prst="roundRect">
            <a:avLst>
              <a:gd name="adj" fmla="val 13436988"/>
            </a:avLst>
          </a:prstGeom>
          <a:solidFill>
            <a:srgbClr val="5A6ED8"/>
          </a:solidFill>
          <a:ln/>
        </p:spPr>
        <p:txBody>
          <a:bodyPr/>
          <a:lstStyle/>
          <a:p>
            <a:endParaRPr lang="hu-HU"/>
          </a:p>
        </p:txBody>
      </p:sp>
      <p:pic>
        <p:nvPicPr>
          <p:cNvPr id="32" name="Image 1" descr="preencoded.png">
            <a:extLst>
              <a:ext uri="{FF2B5EF4-FFF2-40B4-BE49-F238E27FC236}">
                <a16:creationId xmlns:a16="http://schemas.microsoft.com/office/drawing/2014/main" id="{A9DADC5E-0FCD-F629-C13C-481FD7188F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24101" y="2594149"/>
            <a:ext cx="191319" cy="191319"/>
          </a:xfrm>
          <a:prstGeom prst="rect">
            <a:avLst/>
          </a:prstGeom>
        </p:spPr>
      </p:pic>
      <p:sp>
        <p:nvSpPr>
          <p:cNvPr id="33" name="Text 10">
            <a:extLst>
              <a:ext uri="{FF2B5EF4-FFF2-40B4-BE49-F238E27FC236}">
                <a16:creationId xmlns:a16="http://schemas.microsoft.com/office/drawing/2014/main" id="{C927CC09-1C3C-430A-3C90-D39601571834}"/>
              </a:ext>
            </a:extLst>
          </p:cNvPr>
          <p:cNvSpPr/>
          <p:nvPr/>
        </p:nvSpPr>
        <p:spPr>
          <a:xfrm>
            <a:off x="3407122" y="3044279"/>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Order Management</a:t>
            </a:r>
            <a:endParaRPr lang="en-US" sz="1350" dirty="0"/>
          </a:p>
        </p:txBody>
      </p:sp>
      <p:sp>
        <p:nvSpPr>
          <p:cNvPr id="34" name="Text 11">
            <a:extLst>
              <a:ext uri="{FF2B5EF4-FFF2-40B4-BE49-F238E27FC236}">
                <a16:creationId xmlns:a16="http://schemas.microsoft.com/office/drawing/2014/main" id="{DB9FAE4F-6C2F-2538-2A00-8ABE590A9C24}"/>
              </a:ext>
            </a:extLst>
          </p:cNvPr>
          <p:cNvSpPr/>
          <p:nvPr/>
        </p:nvSpPr>
        <p:spPr>
          <a:xfrm>
            <a:off x="3407122" y="3350791"/>
            <a:ext cx="2329681"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Track customer orders, monitor revenue streams, and access detailed financial summaries.</a:t>
            </a:r>
            <a:endParaRPr lang="en-US" sz="1100" dirty="0"/>
          </a:p>
        </p:txBody>
      </p:sp>
      <p:sp>
        <p:nvSpPr>
          <p:cNvPr id="35" name="Shape 12">
            <a:extLst>
              <a:ext uri="{FF2B5EF4-FFF2-40B4-BE49-F238E27FC236}">
                <a16:creationId xmlns:a16="http://schemas.microsoft.com/office/drawing/2014/main" id="{29C005DB-82C6-E5C5-CF12-1C408B47098E}"/>
              </a:ext>
            </a:extLst>
          </p:cNvPr>
          <p:cNvSpPr/>
          <p:nvPr/>
        </p:nvSpPr>
        <p:spPr>
          <a:xfrm>
            <a:off x="6025083" y="2330723"/>
            <a:ext cx="2622724" cy="1847031"/>
          </a:xfrm>
          <a:prstGeom prst="roundRect">
            <a:avLst>
              <a:gd name="adj" fmla="val 3224"/>
            </a:avLst>
          </a:prstGeom>
          <a:solidFill>
            <a:srgbClr val="182567"/>
          </a:solidFill>
          <a:ln w="4763">
            <a:solidFill>
              <a:srgbClr val="313E80"/>
            </a:solidFill>
            <a:prstDash val="solid"/>
          </a:ln>
        </p:spPr>
        <p:txBody>
          <a:bodyPr/>
          <a:lstStyle/>
          <a:p>
            <a:endParaRPr lang="hu-HU"/>
          </a:p>
        </p:txBody>
      </p:sp>
      <p:sp>
        <p:nvSpPr>
          <p:cNvPr id="36" name="Shape 13">
            <a:extLst>
              <a:ext uri="{FF2B5EF4-FFF2-40B4-BE49-F238E27FC236}">
                <a16:creationId xmlns:a16="http://schemas.microsoft.com/office/drawing/2014/main" id="{83D99637-C303-00EE-E4F5-3EB06F043EC3}"/>
              </a:ext>
            </a:extLst>
          </p:cNvPr>
          <p:cNvSpPr/>
          <p:nvPr/>
        </p:nvSpPr>
        <p:spPr>
          <a:xfrm>
            <a:off x="6171605" y="2477244"/>
            <a:ext cx="425276" cy="425276"/>
          </a:xfrm>
          <a:prstGeom prst="roundRect">
            <a:avLst>
              <a:gd name="adj" fmla="val 13436988"/>
            </a:avLst>
          </a:prstGeom>
          <a:solidFill>
            <a:srgbClr val="5A6ED8"/>
          </a:solidFill>
          <a:ln/>
        </p:spPr>
        <p:txBody>
          <a:bodyPr/>
          <a:lstStyle/>
          <a:p>
            <a:endParaRPr lang="hu-HU"/>
          </a:p>
        </p:txBody>
      </p:sp>
      <p:pic>
        <p:nvPicPr>
          <p:cNvPr id="37" name="Image 2" descr="preencoded.png">
            <a:extLst>
              <a:ext uri="{FF2B5EF4-FFF2-40B4-BE49-F238E27FC236}">
                <a16:creationId xmlns:a16="http://schemas.microsoft.com/office/drawing/2014/main" id="{F6EFFE7F-FD11-1FAC-F696-B736654BB4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8584" y="2594149"/>
            <a:ext cx="191319" cy="191319"/>
          </a:xfrm>
          <a:prstGeom prst="rect">
            <a:avLst/>
          </a:prstGeom>
        </p:spPr>
      </p:pic>
      <p:sp>
        <p:nvSpPr>
          <p:cNvPr id="38" name="Text 14">
            <a:extLst>
              <a:ext uri="{FF2B5EF4-FFF2-40B4-BE49-F238E27FC236}">
                <a16:creationId xmlns:a16="http://schemas.microsoft.com/office/drawing/2014/main" id="{3E5D6FB0-6D9C-A019-9E2E-9B8E95249A70}"/>
              </a:ext>
            </a:extLst>
          </p:cNvPr>
          <p:cNvSpPr/>
          <p:nvPr/>
        </p:nvSpPr>
        <p:spPr>
          <a:xfrm>
            <a:off x="6171605" y="3044279"/>
            <a:ext cx="1827758"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Admin Support System</a:t>
            </a:r>
            <a:endParaRPr lang="en-US" sz="1350" dirty="0"/>
          </a:p>
        </p:txBody>
      </p:sp>
      <p:sp>
        <p:nvSpPr>
          <p:cNvPr id="39" name="Text 15">
            <a:extLst>
              <a:ext uri="{FF2B5EF4-FFF2-40B4-BE49-F238E27FC236}">
                <a16:creationId xmlns:a16="http://schemas.microsoft.com/office/drawing/2014/main" id="{0484F648-E899-B011-F4D1-5E77089BE9F2}"/>
              </a:ext>
            </a:extLst>
          </p:cNvPr>
          <p:cNvSpPr/>
          <p:nvPr/>
        </p:nvSpPr>
        <p:spPr>
          <a:xfrm>
            <a:off x="6171605" y="3350791"/>
            <a:ext cx="2329681"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Handle support tickets and manage customer requests efficiently through a centralized system.</a:t>
            </a:r>
            <a:endParaRPr lang="en-US" sz="1100" dirty="0"/>
          </a:p>
        </p:txBody>
      </p:sp>
      <p:sp>
        <p:nvSpPr>
          <p:cNvPr id="40" name="Téglalap 39">
            <a:extLst>
              <a:ext uri="{FF2B5EF4-FFF2-40B4-BE49-F238E27FC236}">
                <a16:creationId xmlns:a16="http://schemas.microsoft.com/office/drawing/2014/main" id="{3CF9A005-AA7C-9948-1CD8-45FF32E4F03E}"/>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0">
            <a:extLst>
              <a:ext uri="{FF2B5EF4-FFF2-40B4-BE49-F238E27FC236}">
                <a16:creationId xmlns:a16="http://schemas.microsoft.com/office/drawing/2014/main" id="{377B0D4D-D3DA-F818-4E82-3DE9666ED5F8}"/>
              </a:ext>
            </a:extLst>
          </p:cNvPr>
          <p:cNvSpPr/>
          <p:nvPr/>
        </p:nvSpPr>
        <p:spPr>
          <a:xfrm>
            <a:off x="521643" y="357113"/>
            <a:ext cx="692869" cy="207690"/>
          </a:xfrm>
          <a:prstGeom prst="roundRect">
            <a:avLst>
              <a:gd name="adj" fmla="val 18993"/>
            </a:avLst>
          </a:prstGeom>
          <a:solidFill>
            <a:srgbClr val="0F163E"/>
          </a:solidFill>
          <a:ln/>
        </p:spPr>
        <p:txBody>
          <a:bodyPr/>
          <a:lstStyle/>
          <a:p>
            <a:endParaRPr lang="hu-HU"/>
          </a:p>
        </p:txBody>
      </p:sp>
      <p:sp>
        <p:nvSpPr>
          <p:cNvPr id="47" name="Text 1">
            <a:extLst>
              <a:ext uri="{FF2B5EF4-FFF2-40B4-BE49-F238E27FC236}">
                <a16:creationId xmlns:a16="http://schemas.microsoft.com/office/drawing/2014/main" id="{414B9696-B99F-5094-A2EF-4DC95C1D65E9}"/>
              </a:ext>
            </a:extLst>
          </p:cNvPr>
          <p:cNvSpPr/>
          <p:nvPr/>
        </p:nvSpPr>
        <p:spPr>
          <a:xfrm>
            <a:off x="592038" y="392311"/>
            <a:ext cx="1009278" cy="137294"/>
          </a:xfrm>
          <a:prstGeom prst="rect">
            <a:avLst/>
          </a:prstGeom>
          <a:noFill/>
          <a:ln/>
        </p:spPr>
        <p:txBody>
          <a:bodyPr wrap="none" lIns="0" tIns="0" rIns="0" bIns="0" rtlCol="0" anchor="t"/>
          <a:lstStyle/>
          <a:p>
            <a:pPr marL="0" indent="0" algn="l">
              <a:lnSpc>
                <a:spcPct val="122000"/>
              </a:lnSpc>
              <a:buNone/>
            </a:pPr>
            <a:r>
              <a:rPr lang="en-US" sz="700" dirty="0">
                <a:solidFill>
                  <a:srgbClr val="CFD0D8"/>
                </a:solidFill>
                <a:latin typeface="Roboto" pitchFamily="34" charset="0"/>
                <a:ea typeface="Roboto" pitchFamily="34" charset="-122"/>
                <a:cs typeface="Roboto" pitchFamily="34" charset="-120"/>
              </a:rPr>
              <a:t>UX &amp; DESIGN</a:t>
            </a:r>
            <a:endParaRPr lang="en-US" sz="700" dirty="0"/>
          </a:p>
        </p:txBody>
      </p:sp>
      <p:sp>
        <p:nvSpPr>
          <p:cNvPr id="48" name="Text 2">
            <a:extLst>
              <a:ext uri="{FF2B5EF4-FFF2-40B4-BE49-F238E27FC236}">
                <a16:creationId xmlns:a16="http://schemas.microsoft.com/office/drawing/2014/main" id="{D191C97A-1BF6-44C2-6A02-23FBABF65C81}"/>
              </a:ext>
            </a:extLst>
          </p:cNvPr>
          <p:cNvSpPr/>
          <p:nvPr/>
        </p:nvSpPr>
        <p:spPr>
          <a:xfrm>
            <a:off x="521643" y="603647"/>
            <a:ext cx="3816921" cy="366861"/>
          </a:xfrm>
          <a:prstGeom prst="rect">
            <a:avLst/>
          </a:prstGeom>
          <a:noFill/>
          <a:ln/>
        </p:spPr>
        <p:txBody>
          <a:bodyPr wrap="none" lIns="0" tIns="0" rIns="0" bIns="0" rtlCol="0" anchor="t"/>
          <a:lstStyle/>
          <a:p>
            <a:pPr marL="0" indent="0" algn="l">
              <a:lnSpc>
                <a:spcPct val="104000"/>
              </a:lnSpc>
              <a:buNone/>
            </a:pPr>
            <a:r>
              <a:rPr lang="en-US" sz="2300" dirty="0">
                <a:solidFill>
                  <a:srgbClr val="FFFFFF"/>
                </a:solidFill>
                <a:latin typeface="Roboto Medium" pitchFamily="34" charset="0"/>
                <a:ea typeface="Roboto Medium" pitchFamily="34" charset="-122"/>
                <a:cs typeface="Roboto Medium" pitchFamily="34" charset="-120"/>
              </a:rPr>
              <a:t>User Experience &amp; Design</a:t>
            </a:r>
            <a:endParaRPr lang="en-US" sz="2300" dirty="0"/>
          </a:p>
        </p:txBody>
      </p:sp>
      <p:sp>
        <p:nvSpPr>
          <p:cNvPr id="49" name="Text 3">
            <a:extLst>
              <a:ext uri="{FF2B5EF4-FFF2-40B4-BE49-F238E27FC236}">
                <a16:creationId xmlns:a16="http://schemas.microsoft.com/office/drawing/2014/main" id="{DC541520-8264-16EC-125D-2C3693DF25B1}"/>
              </a:ext>
            </a:extLst>
          </p:cNvPr>
          <p:cNvSpPr/>
          <p:nvPr/>
        </p:nvSpPr>
        <p:spPr>
          <a:xfrm>
            <a:off x="521643" y="1116285"/>
            <a:ext cx="8557840" cy="171673"/>
          </a:xfrm>
          <a:prstGeom prst="rect">
            <a:avLst/>
          </a:prstGeom>
          <a:noFill/>
          <a:ln/>
        </p:spPr>
        <p:txBody>
          <a:bodyPr wrap="none" lIns="0" tIns="0" rIns="0" bIns="0" rtlCol="0" anchor="t"/>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RaktarPro was built with the end user in mind — delivering a fast, accessible, and visually polished experience across all devices.</a:t>
            </a:r>
            <a:endParaRPr lang="en-US" sz="900" dirty="0"/>
          </a:p>
        </p:txBody>
      </p:sp>
      <p:pic>
        <p:nvPicPr>
          <p:cNvPr id="50" name="Image 0" descr="preencoded.png">
            <a:extLst>
              <a:ext uri="{FF2B5EF4-FFF2-40B4-BE49-F238E27FC236}">
                <a16:creationId xmlns:a16="http://schemas.microsoft.com/office/drawing/2014/main" id="{DD5B1CF9-FEF4-C84B-3917-2F1D97EFCE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1643" y="1397273"/>
            <a:ext cx="293489" cy="293489"/>
          </a:xfrm>
          <a:prstGeom prst="rect">
            <a:avLst/>
          </a:prstGeom>
        </p:spPr>
      </p:pic>
      <p:sp>
        <p:nvSpPr>
          <p:cNvPr id="51" name="Text 4">
            <a:extLst>
              <a:ext uri="{FF2B5EF4-FFF2-40B4-BE49-F238E27FC236}">
                <a16:creationId xmlns:a16="http://schemas.microsoft.com/office/drawing/2014/main" id="{AEB031D5-20F4-7AD5-6647-23814E694E96}"/>
              </a:ext>
            </a:extLst>
          </p:cNvPr>
          <p:cNvSpPr/>
          <p:nvPr/>
        </p:nvSpPr>
        <p:spPr>
          <a:xfrm>
            <a:off x="521643" y="1812280"/>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Fast &amp; Responsive</a:t>
            </a:r>
            <a:endParaRPr lang="en-US" sz="1150" dirty="0"/>
          </a:p>
        </p:txBody>
      </p:sp>
      <p:sp>
        <p:nvSpPr>
          <p:cNvPr id="52" name="Text 5">
            <a:extLst>
              <a:ext uri="{FF2B5EF4-FFF2-40B4-BE49-F238E27FC236}">
                <a16:creationId xmlns:a16="http://schemas.microsoft.com/office/drawing/2014/main" id="{4E4BF163-534B-453F-2B5F-3CF14B2C3949}"/>
              </a:ext>
            </a:extLst>
          </p:cNvPr>
          <p:cNvSpPr/>
          <p:nvPr/>
        </p:nvSpPr>
        <p:spPr>
          <a:xfrm>
            <a:off x="521643" y="2053977"/>
            <a:ext cx="3989561" cy="171673"/>
          </a:xfrm>
          <a:prstGeom prst="rect">
            <a:avLst/>
          </a:prstGeom>
          <a:noFill/>
          <a:ln/>
        </p:spPr>
        <p:txBody>
          <a:bodyPr wrap="none" lIns="0" tIns="0" rIns="0" bIns="0" rtlCol="0" anchor="t"/>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Optimized interface that loads quickly and adapts fluidly to any screen size.</a:t>
            </a:r>
            <a:endParaRPr lang="en-US" sz="900" dirty="0"/>
          </a:p>
        </p:txBody>
      </p:sp>
      <p:pic>
        <p:nvPicPr>
          <p:cNvPr id="53" name="Image 1" descr="preencoded.png">
            <a:extLst>
              <a:ext uri="{FF2B5EF4-FFF2-40B4-BE49-F238E27FC236}">
                <a16:creationId xmlns:a16="http://schemas.microsoft.com/office/drawing/2014/main" id="{A0C74ECA-5CC7-FD37-9535-38A93B8B72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32722" y="1397273"/>
            <a:ext cx="293489" cy="293489"/>
          </a:xfrm>
          <a:prstGeom prst="rect">
            <a:avLst/>
          </a:prstGeom>
        </p:spPr>
      </p:pic>
      <p:sp>
        <p:nvSpPr>
          <p:cNvPr id="54" name="Text 6">
            <a:extLst>
              <a:ext uri="{FF2B5EF4-FFF2-40B4-BE49-F238E27FC236}">
                <a16:creationId xmlns:a16="http://schemas.microsoft.com/office/drawing/2014/main" id="{81DF183F-A991-F636-C2BE-5E012F494A1E}"/>
              </a:ext>
            </a:extLst>
          </p:cNvPr>
          <p:cNvSpPr/>
          <p:nvPr/>
        </p:nvSpPr>
        <p:spPr>
          <a:xfrm>
            <a:off x="4632722" y="1812280"/>
            <a:ext cx="1670224"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Product Details &amp; Ratings</a:t>
            </a:r>
            <a:endParaRPr lang="en-US" sz="1150" dirty="0"/>
          </a:p>
        </p:txBody>
      </p:sp>
      <p:sp>
        <p:nvSpPr>
          <p:cNvPr id="55" name="Text 7">
            <a:extLst>
              <a:ext uri="{FF2B5EF4-FFF2-40B4-BE49-F238E27FC236}">
                <a16:creationId xmlns:a16="http://schemas.microsoft.com/office/drawing/2014/main" id="{2C194458-ACAC-BC0B-B8A9-02731FB1FDD7}"/>
              </a:ext>
            </a:extLst>
          </p:cNvPr>
          <p:cNvSpPr/>
          <p:nvPr/>
        </p:nvSpPr>
        <p:spPr>
          <a:xfrm>
            <a:off x="4632722" y="2053977"/>
            <a:ext cx="3989561"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Rich product pages with ratings, stock information, and detailed descriptions.</a:t>
            </a:r>
            <a:endParaRPr lang="en-US" sz="900" dirty="0"/>
          </a:p>
        </p:txBody>
      </p:sp>
      <p:pic>
        <p:nvPicPr>
          <p:cNvPr id="56" name="Image 2" descr="preencoded.png">
            <a:extLst>
              <a:ext uri="{FF2B5EF4-FFF2-40B4-BE49-F238E27FC236}">
                <a16:creationId xmlns:a16="http://schemas.microsoft.com/office/drawing/2014/main" id="{782B6C90-B105-1888-23B0-587336759E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1643" y="2591767"/>
            <a:ext cx="293489" cy="293489"/>
          </a:xfrm>
          <a:prstGeom prst="rect">
            <a:avLst/>
          </a:prstGeom>
        </p:spPr>
      </p:pic>
      <p:sp>
        <p:nvSpPr>
          <p:cNvPr id="57" name="Text 8">
            <a:extLst>
              <a:ext uri="{FF2B5EF4-FFF2-40B4-BE49-F238E27FC236}">
                <a16:creationId xmlns:a16="http://schemas.microsoft.com/office/drawing/2014/main" id="{ADBF933E-B871-4AE7-85A5-1127C9341142}"/>
              </a:ext>
            </a:extLst>
          </p:cNvPr>
          <p:cNvSpPr/>
          <p:nvPr/>
        </p:nvSpPr>
        <p:spPr>
          <a:xfrm>
            <a:off x="521643" y="3006775"/>
            <a:ext cx="1505769"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Mobile-Friendly Design</a:t>
            </a:r>
            <a:endParaRPr lang="en-US" sz="1150" dirty="0"/>
          </a:p>
        </p:txBody>
      </p:sp>
      <p:sp>
        <p:nvSpPr>
          <p:cNvPr id="58" name="Text 9">
            <a:extLst>
              <a:ext uri="{FF2B5EF4-FFF2-40B4-BE49-F238E27FC236}">
                <a16:creationId xmlns:a16="http://schemas.microsoft.com/office/drawing/2014/main" id="{1F824937-CFE8-1C75-B77C-F986179C1BD2}"/>
              </a:ext>
            </a:extLst>
          </p:cNvPr>
          <p:cNvSpPr/>
          <p:nvPr/>
        </p:nvSpPr>
        <p:spPr>
          <a:xfrm>
            <a:off x="521643" y="3248471"/>
            <a:ext cx="3989561"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Fully responsive layout ensuring a seamless experience on smartphones and tablets.</a:t>
            </a:r>
            <a:endParaRPr lang="en-US" sz="900" dirty="0"/>
          </a:p>
        </p:txBody>
      </p:sp>
      <p:pic>
        <p:nvPicPr>
          <p:cNvPr id="59" name="Image 3" descr="preencoded.png">
            <a:extLst>
              <a:ext uri="{FF2B5EF4-FFF2-40B4-BE49-F238E27FC236}">
                <a16:creationId xmlns:a16="http://schemas.microsoft.com/office/drawing/2014/main" id="{56FC844A-408D-FED7-C179-03C12B7BDB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32722" y="2591767"/>
            <a:ext cx="293489" cy="293489"/>
          </a:xfrm>
          <a:prstGeom prst="rect">
            <a:avLst/>
          </a:prstGeom>
        </p:spPr>
      </p:pic>
      <p:sp>
        <p:nvSpPr>
          <p:cNvPr id="60" name="Text 10">
            <a:extLst>
              <a:ext uri="{FF2B5EF4-FFF2-40B4-BE49-F238E27FC236}">
                <a16:creationId xmlns:a16="http://schemas.microsoft.com/office/drawing/2014/main" id="{CCBC7998-D5E4-827B-E8B3-0B292430B9C0}"/>
              </a:ext>
            </a:extLst>
          </p:cNvPr>
          <p:cNvSpPr/>
          <p:nvPr/>
        </p:nvSpPr>
        <p:spPr>
          <a:xfrm>
            <a:off x="4632722" y="3006775"/>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Dark &amp; Light Mode</a:t>
            </a:r>
            <a:endParaRPr lang="en-US" sz="1150" dirty="0"/>
          </a:p>
        </p:txBody>
      </p:sp>
      <p:sp>
        <p:nvSpPr>
          <p:cNvPr id="61" name="Text 11">
            <a:extLst>
              <a:ext uri="{FF2B5EF4-FFF2-40B4-BE49-F238E27FC236}">
                <a16:creationId xmlns:a16="http://schemas.microsoft.com/office/drawing/2014/main" id="{FBDFA30F-78B0-87B5-70B4-8DF3985CD765}"/>
              </a:ext>
            </a:extLst>
          </p:cNvPr>
          <p:cNvSpPr/>
          <p:nvPr/>
        </p:nvSpPr>
        <p:spPr>
          <a:xfrm>
            <a:off x="4632722" y="3248471"/>
            <a:ext cx="3989561" cy="171673"/>
          </a:xfrm>
          <a:prstGeom prst="rect">
            <a:avLst/>
          </a:prstGeom>
          <a:noFill/>
          <a:ln/>
        </p:spPr>
        <p:txBody>
          <a:bodyPr wrap="none" lIns="0" tIns="0" rIns="0" bIns="0" rtlCol="0" anchor="t"/>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User-selectable theme support for comfortable viewing in any environment.</a:t>
            </a:r>
            <a:endParaRPr lang="en-US" sz="900" dirty="0"/>
          </a:p>
        </p:txBody>
      </p:sp>
      <p:pic>
        <p:nvPicPr>
          <p:cNvPr id="62" name="Image 4" descr="preencoded.png">
            <a:extLst>
              <a:ext uri="{FF2B5EF4-FFF2-40B4-BE49-F238E27FC236}">
                <a16:creationId xmlns:a16="http://schemas.microsoft.com/office/drawing/2014/main" id="{06F11792-9C19-B151-2944-D4B3AD54056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1643" y="3786262"/>
            <a:ext cx="293489" cy="293489"/>
          </a:xfrm>
          <a:prstGeom prst="rect">
            <a:avLst/>
          </a:prstGeom>
        </p:spPr>
      </p:pic>
      <p:sp>
        <p:nvSpPr>
          <p:cNvPr id="63" name="Text 12">
            <a:extLst>
              <a:ext uri="{FF2B5EF4-FFF2-40B4-BE49-F238E27FC236}">
                <a16:creationId xmlns:a16="http://schemas.microsoft.com/office/drawing/2014/main" id="{AB665788-9BC7-5462-8649-8CD384897465}"/>
              </a:ext>
            </a:extLst>
          </p:cNvPr>
          <p:cNvSpPr/>
          <p:nvPr/>
        </p:nvSpPr>
        <p:spPr>
          <a:xfrm>
            <a:off x="521643" y="4201269"/>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Navigation &amp; Filtering</a:t>
            </a:r>
            <a:endParaRPr lang="en-US" sz="1150" dirty="0"/>
          </a:p>
        </p:txBody>
      </p:sp>
      <p:sp>
        <p:nvSpPr>
          <p:cNvPr id="64" name="Text 13">
            <a:extLst>
              <a:ext uri="{FF2B5EF4-FFF2-40B4-BE49-F238E27FC236}">
                <a16:creationId xmlns:a16="http://schemas.microsoft.com/office/drawing/2014/main" id="{B18D55B8-FA01-AC70-BB7F-87907F803CFE}"/>
              </a:ext>
            </a:extLst>
          </p:cNvPr>
          <p:cNvSpPr/>
          <p:nvPr/>
        </p:nvSpPr>
        <p:spPr>
          <a:xfrm>
            <a:off x="521643" y="4442966"/>
            <a:ext cx="3989561"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Clear, intuitive navigation with powerful filtering tools to find products instantly.</a:t>
            </a:r>
            <a:endParaRPr lang="en-US" sz="900" dirty="0"/>
          </a:p>
        </p:txBody>
      </p:sp>
      <p:pic>
        <p:nvPicPr>
          <p:cNvPr id="65" name="Image 5" descr="preencoded.png">
            <a:extLst>
              <a:ext uri="{FF2B5EF4-FFF2-40B4-BE49-F238E27FC236}">
                <a16:creationId xmlns:a16="http://schemas.microsoft.com/office/drawing/2014/main" id="{97398761-962C-7FAF-174B-91290D9583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32722" y="3786262"/>
            <a:ext cx="293489" cy="293489"/>
          </a:xfrm>
          <a:prstGeom prst="rect">
            <a:avLst/>
          </a:prstGeom>
        </p:spPr>
      </p:pic>
      <p:sp>
        <p:nvSpPr>
          <p:cNvPr id="66" name="Text 14">
            <a:extLst>
              <a:ext uri="{FF2B5EF4-FFF2-40B4-BE49-F238E27FC236}">
                <a16:creationId xmlns:a16="http://schemas.microsoft.com/office/drawing/2014/main" id="{1A9DB7F7-762E-8746-6279-CAF7CC53F6B8}"/>
              </a:ext>
            </a:extLst>
          </p:cNvPr>
          <p:cNvSpPr/>
          <p:nvPr/>
        </p:nvSpPr>
        <p:spPr>
          <a:xfrm>
            <a:off x="4632722" y="4201269"/>
            <a:ext cx="1467445" cy="183431"/>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Instant Feedback</a:t>
            </a:r>
            <a:endParaRPr lang="en-US" sz="1150" dirty="0"/>
          </a:p>
        </p:txBody>
      </p:sp>
      <p:sp>
        <p:nvSpPr>
          <p:cNvPr id="67" name="Text 15">
            <a:extLst>
              <a:ext uri="{FF2B5EF4-FFF2-40B4-BE49-F238E27FC236}">
                <a16:creationId xmlns:a16="http://schemas.microsoft.com/office/drawing/2014/main" id="{1A3C9E1A-E442-86FF-A229-5A7F5BB7BA60}"/>
              </a:ext>
            </a:extLst>
          </p:cNvPr>
          <p:cNvSpPr/>
          <p:nvPr/>
        </p:nvSpPr>
        <p:spPr>
          <a:xfrm>
            <a:off x="4632722" y="4442966"/>
            <a:ext cx="3989561"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CFD0D8"/>
                </a:solidFill>
                <a:latin typeface="Roboto" pitchFamily="34" charset="0"/>
                <a:ea typeface="Roboto" pitchFamily="34" charset="-122"/>
                <a:cs typeface="Roboto" pitchFamily="34" charset="-120"/>
              </a:rPr>
              <a:t>Real-time user notifications and feedback for every action taken in the system.</a:t>
            </a:r>
            <a:endParaRPr lang="en-US" sz="900" dirty="0"/>
          </a:p>
        </p:txBody>
      </p:sp>
      <p:sp>
        <p:nvSpPr>
          <p:cNvPr id="68" name="Téglalap 67">
            <a:extLst>
              <a:ext uri="{FF2B5EF4-FFF2-40B4-BE49-F238E27FC236}">
                <a16:creationId xmlns:a16="http://schemas.microsoft.com/office/drawing/2014/main" id="{1653F92C-DBCE-1CC6-0DE5-B67A49A6674C}"/>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hape 0">
            <a:extLst>
              <a:ext uri="{FF2B5EF4-FFF2-40B4-BE49-F238E27FC236}">
                <a16:creationId xmlns:a16="http://schemas.microsoft.com/office/drawing/2014/main" id="{012377FB-3B70-F9ED-15C9-CCF1CFC1D0E1}"/>
              </a:ext>
            </a:extLst>
          </p:cNvPr>
          <p:cNvSpPr/>
          <p:nvPr/>
        </p:nvSpPr>
        <p:spPr>
          <a:xfrm>
            <a:off x="501511" y="325041"/>
            <a:ext cx="647774" cy="197197"/>
          </a:xfrm>
          <a:prstGeom prst="roundRect">
            <a:avLst>
              <a:gd name="adj" fmla="val 18494"/>
            </a:avLst>
          </a:prstGeom>
          <a:noFill/>
          <a:ln w="4763">
            <a:solidFill>
              <a:srgbClr val="5A6ED8"/>
            </a:solidFill>
            <a:prstDash val="solid"/>
          </a:ln>
        </p:spPr>
        <p:txBody>
          <a:bodyPr/>
          <a:lstStyle/>
          <a:p>
            <a:endParaRPr lang="hu-HU"/>
          </a:p>
        </p:txBody>
      </p:sp>
      <p:sp>
        <p:nvSpPr>
          <p:cNvPr id="45" name="Text 1">
            <a:extLst>
              <a:ext uri="{FF2B5EF4-FFF2-40B4-BE49-F238E27FC236}">
                <a16:creationId xmlns:a16="http://schemas.microsoft.com/office/drawing/2014/main" id="{479FF042-C341-016B-503A-3FD27AF90548}"/>
              </a:ext>
            </a:extLst>
          </p:cNvPr>
          <p:cNvSpPr/>
          <p:nvPr/>
        </p:nvSpPr>
        <p:spPr>
          <a:xfrm>
            <a:off x="571385" y="362322"/>
            <a:ext cx="965225" cy="122634"/>
          </a:xfrm>
          <a:prstGeom prst="rect">
            <a:avLst/>
          </a:prstGeom>
          <a:noFill/>
          <a:ln/>
        </p:spPr>
        <p:txBody>
          <a:bodyPr wrap="none" lIns="0" tIns="0" rIns="0" bIns="0" rtlCol="0" anchor="t"/>
          <a:lstStyle/>
          <a:p>
            <a:pPr marL="0" indent="0" algn="l">
              <a:lnSpc>
                <a:spcPct val="118000"/>
              </a:lnSpc>
              <a:buNone/>
            </a:pPr>
            <a:r>
              <a:rPr lang="en-US" sz="650" dirty="0">
                <a:solidFill>
                  <a:srgbClr val="5A6ED8"/>
                </a:solidFill>
                <a:latin typeface="Roboto" pitchFamily="34" charset="0"/>
                <a:ea typeface="Roboto" pitchFamily="34" charset="-122"/>
                <a:cs typeface="Roboto" pitchFamily="34" charset="-120"/>
              </a:rPr>
              <a:t>TECH STACK</a:t>
            </a:r>
            <a:endParaRPr lang="en-US" sz="650" dirty="0"/>
          </a:p>
        </p:txBody>
      </p:sp>
      <p:sp>
        <p:nvSpPr>
          <p:cNvPr id="46" name="Text 2">
            <a:extLst>
              <a:ext uri="{FF2B5EF4-FFF2-40B4-BE49-F238E27FC236}">
                <a16:creationId xmlns:a16="http://schemas.microsoft.com/office/drawing/2014/main" id="{CEE81314-7DCA-270B-8D0E-2DBDD45D4E9C}"/>
              </a:ext>
            </a:extLst>
          </p:cNvPr>
          <p:cNvSpPr/>
          <p:nvPr/>
        </p:nvSpPr>
        <p:spPr>
          <a:xfrm>
            <a:off x="501511" y="555427"/>
            <a:ext cx="3170709" cy="339179"/>
          </a:xfrm>
          <a:prstGeom prst="rect">
            <a:avLst/>
          </a:prstGeom>
          <a:noFill/>
          <a:ln/>
        </p:spPr>
        <p:txBody>
          <a:bodyPr wrap="none" lIns="0" tIns="0" rIns="0" bIns="0" rtlCol="0" anchor="t"/>
          <a:lstStyle/>
          <a:p>
            <a:pPr marL="0" indent="0" algn="l">
              <a:lnSpc>
                <a:spcPct val="104000"/>
              </a:lnSpc>
              <a:buNone/>
            </a:pPr>
            <a:r>
              <a:rPr lang="en-US" sz="2100" dirty="0">
                <a:solidFill>
                  <a:srgbClr val="FFFFFF"/>
                </a:solidFill>
                <a:latin typeface="Roboto Medium" pitchFamily="34" charset="0"/>
                <a:ea typeface="Roboto Medium" pitchFamily="34" charset="-122"/>
                <a:cs typeface="Roboto Medium" pitchFamily="34" charset="-120"/>
              </a:rPr>
              <a:t>Technologies Used</a:t>
            </a:r>
            <a:endParaRPr lang="en-US" sz="2100" dirty="0"/>
          </a:p>
        </p:txBody>
      </p:sp>
      <p:sp>
        <p:nvSpPr>
          <p:cNvPr id="49" name="Shape 3">
            <a:extLst>
              <a:ext uri="{FF2B5EF4-FFF2-40B4-BE49-F238E27FC236}">
                <a16:creationId xmlns:a16="http://schemas.microsoft.com/office/drawing/2014/main" id="{AFDFF778-1BB2-EE5D-EC8F-850042E26B41}"/>
              </a:ext>
            </a:extLst>
          </p:cNvPr>
          <p:cNvSpPr/>
          <p:nvPr/>
        </p:nvSpPr>
        <p:spPr>
          <a:xfrm>
            <a:off x="5350196" y="1979712"/>
            <a:ext cx="1764581" cy="974229"/>
          </a:xfrm>
          <a:prstGeom prst="roundRect">
            <a:avLst>
              <a:gd name="adj" fmla="val 7039"/>
            </a:avLst>
          </a:prstGeom>
          <a:solidFill>
            <a:srgbClr val="000018">
              <a:alpha val="95000"/>
            </a:srgbClr>
          </a:solidFill>
          <a:ln w="14288">
            <a:solidFill>
              <a:srgbClr val="313E80"/>
            </a:solidFill>
            <a:prstDash val="solid"/>
          </a:ln>
        </p:spPr>
        <p:txBody>
          <a:bodyPr/>
          <a:lstStyle/>
          <a:p>
            <a:endParaRPr lang="hu-HU"/>
          </a:p>
        </p:txBody>
      </p:sp>
      <p:sp>
        <p:nvSpPr>
          <p:cNvPr id="50" name="Shape 4">
            <a:extLst>
              <a:ext uri="{FF2B5EF4-FFF2-40B4-BE49-F238E27FC236}">
                <a16:creationId xmlns:a16="http://schemas.microsoft.com/office/drawing/2014/main" id="{2EFE7F2C-0E5E-00ED-4244-13276BFF4610}"/>
              </a:ext>
            </a:extLst>
          </p:cNvPr>
          <p:cNvSpPr/>
          <p:nvPr/>
        </p:nvSpPr>
        <p:spPr>
          <a:xfrm>
            <a:off x="5335908" y="1979712"/>
            <a:ext cx="57150" cy="974229"/>
          </a:xfrm>
          <a:prstGeom prst="roundRect">
            <a:avLst>
              <a:gd name="adj" fmla="val 79767"/>
            </a:avLst>
          </a:prstGeom>
          <a:solidFill>
            <a:srgbClr val="5A6ED8"/>
          </a:solidFill>
          <a:ln/>
        </p:spPr>
        <p:txBody>
          <a:bodyPr/>
          <a:lstStyle/>
          <a:p>
            <a:endParaRPr lang="hu-HU"/>
          </a:p>
        </p:txBody>
      </p:sp>
      <p:sp>
        <p:nvSpPr>
          <p:cNvPr id="51" name="Text 5">
            <a:extLst>
              <a:ext uri="{FF2B5EF4-FFF2-40B4-BE49-F238E27FC236}">
                <a16:creationId xmlns:a16="http://schemas.microsoft.com/office/drawing/2014/main" id="{092985AB-AF03-CEFA-A2CE-1F89C59C0CEA}"/>
              </a:ext>
            </a:extLst>
          </p:cNvPr>
          <p:cNvSpPr/>
          <p:nvPr/>
        </p:nvSpPr>
        <p:spPr>
          <a:xfrm>
            <a:off x="5515841" y="2102495"/>
            <a:ext cx="1476152" cy="339030"/>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Frontend — Molnár Dániel</a:t>
            </a:r>
            <a:endParaRPr lang="en-US" sz="1050" dirty="0"/>
          </a:p>
        </p:txBody>
      </p:sp>
      <p:sp>
        <p:nvSpPr>
          <p:cNvPr id="52" name="Text 6">
            <a:extLst>
              <a:ext uri="{FF2B5EF4-FFF2-40B4-BE49-F238E27FC236}">
                <a16:creationId xmlns:a16="http://schemas.microsoft.com/office/drawing/2014/main" id="{4C476599-EC07-5E02-57FC-80097D119307}"/>
              </a:ext>
            </a:extLst>
          </p:cNvPr>
          <p:cNvSpPr/>
          <p:nvPr/>
        </p:nvSpPr>
        <p:spPr>
          <a:xfrm>
            <a:off x="5515841" y="2524571"/>
            <a:ext cx="1476152"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CFD0D8"/>
                </a:solidFill>
                <a:latin typeface="Roboto" pitchFamily="34" charset="0"/>
                <a:ea typeface="Roboto" pitchFamily="34" charset="-122"/>
                <a:cs typeface="Roboto" pitchFamily="34" charset="-120"/>
              </a:rPr>
              <a:t>HTML5, CSS3, JavaScript ES6+, Bootstrap</a:t>
            </a:r>
            <a:endParaRPr lang="en-US" sz="850" dirty="0"/>
          </a:p>
        </p:txBody>
      </p:sp>
      <p:sp>
        <p:nvSpPr>
          <p:cNvPr id="53" name="Shape 7">
            <a:extLst>
              <a:ext uri="{FF2B5EF4-FFF2-40B4-BE49-F238E27FC236}">
                <a16:creationId xmlns:a16="http://schemas.microsoft.com/office/drawing/2014/main" id="{371957AA-DD94-881A-99F2-762E113466EA}"/>
              </a:ext>
            </a:extLst>
          </p:cNvPr>
          <p:cNvSpPr/>
          <p:nvPr/>
        </p:nvSpPr>
        <p:spPr>
          <a:xfrm>
            <a:off x="7197822" y="1979712"/>
            <a:ext cx="1764581" cy="974229"/>
          </a:xfrm>
          <a:prstGeom prst="roundRect">
            <a:avLst>
              <a:gd name="adj" fmla="val 7039"/>
            </a:avLst>
          </a:prstGeom>
          <a:solidFill>
            <a:srgbClr val="000018">
              <a:alpha val="95000"/>
            </a:srgbClr>
          </a:solidFill>
          <a:ln w="14288">
            <a:solidFill>
              <a:srgbClr val="313E80"/>
            </a:solidFill>
            <a:prstDash val="solid"/>
          </a:ln>
        </p:spPr>
        <p:txBody>
          <a:bodyPr/>
          <a:lstStyle/>
          <a:p>
            <a:endParaRPr lang="hu-HU"/>
          </a:p>
        </p:txBody>
      </p:sp>
      <p:sp>
        <p:nvSpPr>
          <p:cNvPr id="54" name="Shape 8">
            <a:extLst>
              <a:ext uri="{FF2B5EF4-FFF2-40B4-BE49-F238E27FC236}">
                <a16:creationId xmlns:a16="http://schemas.microsoft.com/office/drawing/2014/main" id="{3C4EB97D-CFEA-E640-BAFD-D01B23A33A63}"/>
              </a:ext>
            </a:extLst>
          </p:cNvPr>
          <p:cNvSpPr/>
          <p:nvPr/>
        </p:nvSpPr>
        <p:spPr>
          <a:xfrm>
            <a:off x="7183535" y="1979712"/>
            <a:ext cx="57150" cy="974229"/>
          </a:xfrm>
          <a:prstGeom prst="roundRect">
            <a:avLst>
              <a:gd name="adj" fmla="val 79767"/>
            </a:avLst>
          </a:prstGeom>
          <a:solidFill>
            <a:srgbClr val="5A6ED8"/>
          </a:solidFill>
          <a:ln/>
        </p:spPr>
        <p:txBody>
          <a:bodyPr/>
          <a:lstStyle/>
          <a:p>
            <a:endParaRPr lang="hu-HU"/>
          </a:p>
        </p:txBody>
      </p:sp>
      <p:sp>
        <p:nvSpPr>
          <p:cNvPr id="55" name="Text 9">
            <a:extLst>
              <a:ext uri="{FF2B5EF4-FFF2-40B4-BE49-F238E27FC236}">
                <a16:creationId xmlns:a16="http://schemas.microsoft.com/office/drawing/2014/main" id="{4A111040-BEF6-4CCD-C9E7-A84AFDFB2786}"/>
              </a:ext>
            </a:extLst>
          </p:cNvPr>
          <p:cNvSpPr/>
          <p:nvPr/>
        </p:nvSpPr>
        <p:spPr>
          <a:xfrm>
            <a:off x="7363468" y="2102495"/>
            <a:ext cx="1476152" cy="339030"/>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Database — Molnár Máté</a:t>
            </a:r>
            <a:endParaRPr lang="en-US" sz="1050" dirty="0"/>
          </a:p>
        </p:txBody>
      </p:sp>
      <p:sp>
        <p:nvSpPr>
          <p:cNvPr id="56" name="Text 10">
            <a:extLst>
              <a:ext uri="{FF2B5EF4-FFF2-40B4-BE49-F238E27FC236}">
                <a16:creationId xmlns:a16="http://schemas.microsoft.com/office/drawing/2014/main" id="{9AE82FB8-618E-AA46-1B7C-F2E964273515}"/>
              </a:ext>
            </a:extLst>
          </p:cNvPr>
          <p:cNvSpPr/>
          <p:nvPr/>
        </p:nvSpPr>
        <p:spPr>
          <a:xfrm>
            <a:off x="7363468" y="2524571"/>
            <a:ext cx="1476152"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CFD0D8"/>
                </a:solidFill>
                <a:latin typeface="Roboto" pitchFamily="34" charset="0"/>
                <a:ea typeface="Roboto" pitchFamily="34" charset="-122"/>
                <a:cs typeface="Roboto" pitchFamily="34" charset="-120"/>
              </a:rPr>
              <a:t>MySQL relational database system</a:t>
            </a:r>
            <a:endParaRPr lang="en-US" sz="850" dirty="0"/>
          </a:p>
        </p:txBody>
      </p:sp>
      <p:sp>
        <p:nvSpPr>
          <p:cNvPr id="57" name="Shape 11">
            <a:extLst>
              <a:ext uri="{FF2B5EF4-FFF2-40B4-BE49-F238E27FC236}">
                <a16:creationId xmlns:a16="http://schemas.microsoft.com/office/drawing/2014/main" id="{5F3C69C6-E9F4-1D2D-DA3D-E6A72EF83CB4}"/>
              </a:ext>
            </a:extLst>
          </p:cNvPr>
          <p:cNvSpPr/>
          <p:nvPr/>
        </p:nvSpPr>
        <p:spPr>
          <a:xfrm>
            <a:off x="5350196" y="3036987"/>
            <a:ext cx="1764581" cy="820936"/>
          </a:xfrm>
          <a:prstGeom prst="roundRect">
            <a:avLst>
              <a:gd name="adj" fmla="val 8354"/>
            </a:avLst>
          </a:prstGeom>
          <a:solidFill>
            <a:srgbClr val="000018">
              <a:alpha val="95000"/>
            </a:srgbClr>
          </a:solidFill>
          <a:ln w="14288">
            <a:solidFill>
              <a:srgbClr val="313E80"/>
            </a:solidFill>
            <a:prstDash val="solid"/>
          </a:ln>
        </p:spPr>
        <p:txBody>
          <a:bodyPr/>
          <a:lstStyle/>
          <a:p>
            <a:endParaRPr lang="hu-HU"/>
          </a:p>
        </p:txBody>
      </p:sp>
      <p:sp>
        <p:nvSpPr>
          <p:cNvPr id="58" name="Shape 12">
            <a:extLst>
              <a:ext uri="{FF2B5EF4-FFF2-40B4-BE49-F238E27FC236}">
                <a16:creationId xmlns:a16="http://schemas.microsoft.com/office/drawing/2014/main" id="{9B8251C3-40CD-6B7E-0E99-338B7C006EEA}"/>
              </a:ext>
            </a:extLst>
          </p:cNvPr>
          <p:cNvSpPr/>
          <p:nvPr/>
        </p:nvSpPr>
        <p:spPr>
          <a:xfrm>
            <a:off x="5335908" y="3036987"/>
            <a:ext cx="57150" cy="820936"/>
          </a:xfrm>
          <a:prstGeom prst="roundRect">
            <a:avLst>
              <a:gd name="adj" fmla="val 79767"/>
            </a:avLst>
          </a:prstGeom>
          <a:solidFill>
            <a:srgbClr val="5A6ED8"/>
          </a:solidFill>
          <a:ln/>
        </p:spPr>
        <p:txBody>
          <a:bodyPr/>
          <a:lstStyle/>
          <a:p>
            <a:endParaRPr lang="hu-HU"/>
          </a:p>
        </p:txBody>
      </p:sp>
      <p:sp>
        <p:nvSpPr>
          <p:cNvPr id="59" name="Text 13">
            <a:extLst>
              <a:ext uri="{FF2B5EF4-FFF2-40B4-BE49-F238E27FC236}">
                <a16:creationId xmlns:a16="http://schemas.microsoft.com/office/drawing/2014/main" id="{4CC98EEF-C135-8723-57B5-5A323FE3A636}"/>
              </a:ext>
            </a:extLst>
          </p:cNvPr>
          <p:cNvSpPr/>
          <p:nvPr/>
        </p:nvSpPr>
        <p:spPr>
          <a:xfrm>
            <a:off x="5515841" y="3159770"/>
            <a:ext cx="1476152" cy="339030"/>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Backend — Trubics Gorán</a:t>
            </a:r>
            <a:endParaRPr lang="en-US" sz="1050" dirty="0"/>
          </a:p>
        </p:txBody>
      </p:sp>
      <p:sp>
        <p:nvSpPr>
          <p:cNvPr id="60" name="Text 14">
            <a:extLst>
              <a:ext uri="{FF2B5EF4-FFF2-40B4-BE49-F238E27FC236}">
                <a16:creationId xmlns:a16="http://schemas.microsoft.com/office/drawing/2014/main" id="{E4D351B5-7010-C8A6-B8D8-E2D29FC0B2CA}"/>
              </a:ext>
            </a:extLst>
          </p:cNvPr>
          <p:cNvSpPr/>
          <p:nvPr/>
        </p:nvSpPr>
        <p:spPr>
          <a:xfrm>
            <a:off x="5515841" y="3581846"/>
            <a:ext cx="1476152" cy="153293"/>
          </a:xfrm>
          <a:prstGeom prst="rect">
            <a:avLst/>
          </a:prstGeom>
          <a:noFill/>
          <a:ln/>
        </p:spPr>
        <p:txBody>
          <a:bodyPr wrap="none" lIns="0" tIns="0" rIns="0" bIns="0" rtlCol="0" anchor="t"/>
          <a:lstStyle/>
          <a:p>
            <a:pPr marL="0" indent="0" algn="l">
              <a:lnSpc>
                <a:spcPct val="118000"/>
              </a:lnSpc>
              <a:buNone/>
            </a:pPr>
            <a:r>
              <a:rPr lang="en-US" sz="850" dirty="0">
                <a:solidFill>
                  <a:srgbClr val="CFD0D8"/>
                </a:solidFill>
                <a:latin typeface="Roboto" pitchFamily="34" charset="0"/>
                <a:ea typeface="Roboto" pitchFamily="34" charset="-122"/>
                <a:cs typeface="Roboto" pitchFamily="34" charset="-120"/>
              </a:rPr>
              <a:t>PHP REST API architecture</a:t>
            </a:r>
            <a:endParaRPr lang="en-US" sz="850" dirty="0"/>
          </a:p>
        </p:txBody>
      </p:sp>
      <p:sp>
        <p:nvSpPr>
          <p:cNvPr id="61" name="Shape 15">
            <a:extLst>
              <a:ext uri="{FF2B5EF4-FFF2-40B4-BE49-F238E27FC236}">
                <a16:creationId xmlns:a16="http://schemas.microsoft.com/office/drawing/2014/main" id="{5CAC63DF-C4CE-3341-AC85-DDF50EC4D509}"/>
              </a:ext>
            </a:extLst>
          </p:cNvPr>
          <p:cNvSpPr/>
          <p:nvPr/>
        </p:nvSpPr>
        <p:spPr>
          <a:xfrm>
            <a:off x="7197822" y="3036987"/>
            <a:ext cx="1764581" cy="820936"/>
          </a:xfrm>
          <a:prstGeom prst="roundRect">
            <a:avLst>
              <a:gd name="adj" fmla="val 8354"/>
            </a:avLst>
          </a:prstGeom>
          <a:solidFill>
            <a:srgbClr val="000018">
              <a:alpha val="95000"/>
            </a:srgbClr>
          </a:solidFill>
          <a:ln w="14288">
            <a:solidFill>
              <a:srgbClr val="313E80"/>
            </a:solidFill>
            <a:prstDash val="solid"/>
          </a:ln>
        </p:spPr>
        <p:txBody>
          <a:bodyPr/>
          <a:lstStyle/>
          <a:p>
            <a:endParaRPr lang="hu-HU"/>
          </a:p>
        </p:txBody>
      </p:sp>
      <p:sp>
        <p:nvSpPr>
          <p:cNvPr id="62" name="Shape 16">
            <a:extLst>
              <a:ext uri="{FF2B5EF4-FFF2-40B4-BE49-F238E27FC236}">
                <a16:creationId xmlns:a16="http://schemas.microsoft.com/office/drawing/2014/main" id="{4210D18A-FA63-302A-1656-08B480A25649}"/>
              </a:ext>
            </a:extLst>
          </p:cNvPr>
          <p:cNvSpPr/>
          <p:nvPr/>
        </p:nvSpPr>
        <p:spPr>
          <a:xfrm>
            <a:off x="7183535" y="3036987"/>
            <a:ext cx="57150" cy="820936"/>
          </a:xfrm>
          <a:prstGeom prst="roundRect">
            <a:avLst>
              <a:gd name="adj" fmla="val 79767"/>
            </a:avLst>
          </a:prstGeom>
          <a:solidFill>
            <a:srgbClr val="5A6ED8"/>
          </a:solidFill>
          <a:ln/>
        </p:spPr>
        <p:txBody>
          <a:bodyPr/>
          <a:lstStyle/>
          <a:p>
            <a:endParaRPr lang="hu-HU"/>
          </a:p>
        </p:txBody>
      </p:sp>
      <p:sp>
        <p:nvSpPr>
          <p:cNvPr id="63" name="Text 17">
            <a:extLst>
              <a:ext uri="{FF2B5EF4-FFF2-40B4-BE49-F238E27FC236}">
                <a16:creationId xmlns:a16="http://schemas.microsoft.com/office/drawing/2014/main" id="{EFBF3BCE-75AE-B053-CF9D-F83B961F62C3}"/>
              </a:ext>
            </a:extLst>
          </p:cNvPr>
          <p:cNvSpPr/>
          <p:nvPr/>
        </p:nvSpPr>
        <p:spPr>
          <a:xfrm>
            <a:off x="7363468" y="3159770"/>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Tools</a:t>
            </a:r>
            <a:endParaRPr lang="en-US" sz="1050" dirty="0"/>
          </a:p>
        </p:txBody>
      </p:sp>
      <p:sp>
        <p:nvSpPr>
          <p:cNvPr id="64" name="Text 18">
            <a:extLst>
              <a:ext uri="{FF2B5EF4-FFF2-40B4-BE49-F238E27FC236}">
                <a16:creationId xmlns:a16="http://schemas.microsoft.com/office/drawing/2014/main" id="{6340839F-8497-ED96-6D17-FEE3A695C967}"/>
              </a:ext>
            </a:extLst>
          </p:cNvPr>
          <p:cNvSpPr/>
          <p:nvPr/>
        </p:nvSpPr>
        <p:spPr>
          <a:xfrm>
            <a:off x="7363468" y="3412331"/>
            <a:ext cx="1476152"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CFD0D8"/>
                </a:solidFill>
                <a:latin typeface="Roboto" pitchFamily="34" charset="0"/>
                <a:ea typeface="Roboto" pitchFamily="34" charset="-122"/>
                <a:cs typeface="Roboto" pitchFamily="34" charset="-120"/>
              </a:rPr>
              <a:t>Git version control · Jira task management</a:t>
            </a:r>
            <a:endParaRPr lang="en-US" sz="850" dirty="0"/>
          </a:p>
        </p:txBody>
      </p:sp>
      <p:sp>
        <p:nvSpPr>
          <p:cNvPr id="65" name="Téglalap 64">
            <a:extLst>
              <a:ext uri="{FF2B5EF4-FFF2-40B4-BE49-F238E27FC236}">
                <a16:creationId xmlns:a16="http://schemas.microsoft.com/office/drawing/2014/main" id="{8A328FCD-481E-A483-EFBA-00985F4DD0CE}"/>
              </a:ext>
            </a:extLst>
          </p:cNvPr>
          <p:cNvSpPr/>
          <p:nvPr/>
        </p:nvSpPr>
        <p:spPr>
          <a:xfrm>
            <a:off x="8008877"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73" name="Kép 72">
            <a:extLst>
              <a:ext uri="{FF2B5EF4-FFF2-40B4-BE49-F238E27FC236}">
                <a16:creationId xmlns:a16="http://schemas.microsoft.com/office/drawing/2014/main" id="{76097BC2-5B3F-868B-BCD8-D43AFA13404B}"/>
              </a:ext>
            </a:extLst>
          </p:cNvPr>
          <p:cNvPicPr>
            <a:picLocks noChangeAspect="1"/>
          </p:cNvPicPr>
          <p:nvPr/>
        </p:nvPicPr>
        <p:blipFill>
          <a:blip r:embed="rId2"/>
          <a:stretch>
            <a:fillRect/>
          </a:stretch>
        </p:blipFill>
        <p:spPr>
          <a:xfrm>
            <a:off x="160177" y="1511747"/>
            <a:ext cx="4947801" cy="287106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0">
            <a:extLst>
              <a:ext uri="{FF2B5EF4-FFF2-40B4-BE49-F238E27FC236}">
                <a16:creationId xmlns:a16="http://schemas.microsoft.com/office/drawing/2014/main" id="{F5D19F04-00E5-EFE4-D62D-DE38AC2A1071}"/>
              </a:ext>
            </a:extLst>
          </p:cNvPr>
          <p:cNvSpPr/>
          <p:nvPr/>
        </p:nvSpPr>
        <p:spPr>
          <a:xfrm>
            <a:off x="827336" y="337393"/>
            <a:ext cx="516582" cy="197197"/>
          </a:xfrm>
          <a:prstGeom prst="roundRect">
            <a:avLst>
              <a:gd name="adj" fmla="val 18494"/>
            </a:avLst>
          </a:prstGeom>
          <a:noFill/>
          <a:ln w="4763">
            <a:solidFill>
              <a:srgbClr val="5A6ED8"/>
            </a:solidFill>
            <a:prstDash val="solid"/>
          </a:ln>
        </p:spPr>
        <p:txBody>
          <a:bodyPr/>
          <a:lstStyle/>
          <a:p>
            <a:endParaRPr lang="hu-HU"/>
          </a:p>
        </p:txBody>
      </p:sp>
      <p:sp>
        <p:nvSpPr>
          <p:cNvPr id="63" name="Text 1">
            <a:extLst>
              <a:ext uri="{FF2B5EF4-FFF2-40B4-BE49-F238E27FC236}">
                <a16:creationId xmlns:a16="http://schemas.microsoft.com/office/drawing/2014/main" id="{7BA79FBD-AF4B-EC1D-96FF-6D390631A969}"/>
              </a:ext>
            </a:extLst>
          </p:cNvPr>
          <p:cNvSpPr/>
          <p:nvPr/>
        </p:nvSpPr>
        <p:spPr>
          <a:xfrm>
            <a:off x="897210" y="374675"/>
            <a:ext cx="834033" cy="122634"/>
          </a:xfrm>
          <a:prstGeom prst="rect">
            <a:avLst/>
          </a:prstGeom>
          <a:noFill/>
          <a:ln/>
        </p:spPr>
        <p:txBody>
          <a:bodyPr wrap="none" lIns="0" tIns="0" rIns="0" bIns="0" rtlCol="0" anchor="t"/>
          <a:lstStyle/>
          <a:p>
            <a:pPr marL="0" indent="0" algn="l">
              <a:lnSpc>
                <a:spcPct val="118000"/>
              </a:lnSpc>
              <a:buNone/>
            </a:pPr>
            <a:r>
              <a:rPr lang="en-US" sz="650" dirty="0">
                <a:solidFill>
                  <a:srgbClr val="5A6ED8"/>
                </a:solidFill>
                <a:latin typeface="Roboto" pitchFamily="34" charset="0"/>
                <a:ea typeface="Roboto" pitchFamily="34" charset="-122"/>
                <a:cs typeface="Roboto" pitchFamily="34" charset="-120"/>
              </a:rPr>
              <a:t>WRAP-UP</a:t>
            </a:r>
            <a:endParaRPr lang="en-US" sz="650" dirty="0"/>
          </a:p>
        </p:txBody>
      </p:sp>
      <p:sp>
        <p:nvSpPr>
          <p:cNvPr id="64" name="Text 2">
            <a:extLst>
              <a:ext uri="{FF2B5EF4-FFF2-40B4-BE49-F238E27FC236}">
                <a16:creationId xmlns:a16="http://schemas.microsoft.com/office/drawing/2014/main" id="{8ADE2200-4D76-A510-2A51-206E5159C6C5}"/>
              </a:ext>
            </a:extLst>
          </p:cNvPr>
          <p:cNvSpPr/>
          <p:nvPr/>
        </p:nvSpPr>
        <p:spPr>
          <a:xfrm>
            <a:off x="827336" y="567779"/>
            <a:ext cx="3647554" cy="339179"/>
          </a:xfrm>
          <a:prstGeom prst="rect">
            <a:avLst/>
          </a:prstGeom>
          <a:noFill/>
          <a:ln/>
        </p:spPr>
        <p:txBody>
          <a:bodyPr wrap="none" lIns="0" tIns="0" rIns="0" bIns="0" rtlCol="0" anchor="t"/>
          <a:lstStyle/>
          <a:p>
            <a:pPr marL="0" indent="0" algn="l">
              <a:lnSpc>
                <a:spcPct val="104000"/>
              </a:lnSpc>
              <a:buNone/>
            </a:pPr>
            <a:r>
              <a:rPr lang="en-US" sz="2100" dirty="0">
                <a:solidFill>
                  <a:srgbClr val="FFFFFF"/>
                </a:solidFill>
                <a:latin typeface="Roboto Medium" pitchFamily="34" charset="0"/>
                <a:ea typeface="Roboto Medium" pitchFamily="34" charset="-122"/>
                <a:cs typeface="Roboto Medium" pitchFamily="34" charset="-120"/>
              </a:rPr>
              <a:t>Conclusion &amp; Future Plans</a:t>
            </a:r>
            <a:endParaRPr lang="en-US" sz="2100" dirty="0"/>
          </a:p>
        </p:txBody>
      </p:sp>
      <p:sp>
        <p:nvSpPr>
          <p:cNvPr id="92" name="Téglalap 91">
            <a:extLst>
              <a:ext uri="{FF2B5EF4-FFF2-40B4-BE49-F238E27FC236}">
                <a16:creationId xmlns:a16="http://schemas.microsoft.com/office/drawing/2014/main" id="{A8D0EB58-B2E7-1F77-38A4-D29330576A14}"/>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5" name="Szövegdoboz 94">
            <a:extLst>
              <a:ext uri="{FF2B5EF4-FFF2-40B4-BE49-F238E27FC236}">
                <a16:creationId xmlns:a16="http://schemas.microsoft.com/office/drawing/2014/main" id="{EBC821F1-0EE6-4EA8-0041-B57953D84606}"/>
              </a:ext>
            </a:extLst>
          </p:cNvPr>
          <p:cNvSpPr txBox="1"/>
          <p:nvPr/>
        </p:nvSpPr>
        <p:spPr>
          <a:xfrm>
            <a:off x="510266" y="3637248"/>
            <a:ext cx="8345214" cy="1077218"/>
          </a:xfrm>
          <a:prstGeom prst="rect">
            <a:avLst/>
          </a:prstGeom>
          <a:noFill/>
        </p:spPr>
        <p:txBody>
          <a:bodyPr wrap="square" rtlCol="0">
            <a:spAutoFit/>
          </a:bodyPr>
          <a:lstStyle/>
          <a:p>
            <a:r>
              <a:rPr lang="en-US" sz="1600" dirty="0" err="1">
                <a:solidFill>
                  <a:schemeClr val="bg1"/>
                </a:solidFill>
              </a:rPr>
              <a:t>RaktárPro</a:t>
            </a:r>
            <a:r>
              <a:rPr lang="en-US" sz="1600" dirty="0">
                <a:solidFill>
                  <a:schemeClr val="bg1"/>
                </a:solidFill>
              </a:rPr>
              <a:t> is not just a finished project — it's a foundation. We built a complete full-stack </a:t>
            </a:r>
            <a:r>
              <a:rPr lang="en-US" sz="1600" dirty="0" err="1">
                <a:solidFill>
                  <a:schemeClr val="bg1"/>
                </a:solidFill>
              </a:rPr>
              <a:t>webshop</a:t>
            </a:r>
            <a:r>
              <a:rPr lang="en-US" sz="1600" dirty="0">
                <a:solidFill>
                  <a:schemeClr val="bg1"/>
                </a:solidFill>
              </a:rPr>
              <a:t> where data flows from SQL through a PHP REST API all the way to the JavaScript frontend rendered with Bootstrap. Every layer communicates, errors are handled, and access is secured. The features you've seen are working and deployed — and the three plans above are where we'd take it next.</a:t>
            </a:r>
            <a:endParaRPr lang="hu-HU" sz="1600" dirty="0">
              <a:solidFill>
                <a:schemeClr val="bg1"/>
              </a:solidFill>
            </a:endParaRPr>
          </a:p>
        </p:txBody>
      </p:sp>
      <p:pic>
        <p:nvPicPr>
          <p:cNvPr id="97" name="Ábra 96">
            <a:extLst>
              <a:ext uri="{FF2B5EF4-FFF2-40B4-BE49-F238E27FC236}">
                <a16:creationId xmlns:a16="http://schemas.microsoft.com/office/drawing/2014/main" id="{A05760C4-5797-634E-AF35-36EABC1AFF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7336" y="0"/>
            <a:ext cx="7309684" cy="34959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descr="A képen képernyőkép, szöveg, diagram látható&#10;&#10;Előfordulhat, hogy az AI által létrehozott tartalom helytelen.">
            <a:extLst>
              <a:ext uri="{FF2B5EF4-FFF2-40B4-BE49-F238E27FC236}">
                <a16:creationId xmlns:a16="http://schemas.microsoft.com/office/drawing/2014/main" id="{E4F872EA-5F17-396B-8AB0-9000B94B0A8F}"/>
              </a:ext>
            </a:extLst>
          </p:cNvPr>
          <p:cNvPicPr>
            <a:picLocks noChangeAspect="1"/>
          </p:cNvPicPr>
          <p:nvPr/>
        </p:nvPicPr>
        <p:blipFill>
          <a:blip r:embed="rId2"/>
          <a:stretch>
            <a:fillRect/>
          </a:stretch>
        </p:blipFill>
        <p:spPr>
          <a:xfrm>
            <a:off x="5102481" y="941397"/>
            <a:ext cx="2736641" cy="3290685"/>
          </a:xfrm>
          <a:prstGeom prst="rect">
            <a:avLst/>
          </a:prstGeom>
        </p:spPr>
      </p:pic>
      <p:sp>
        <p:nvSpPr>
          <p:cNvPr id="4" name="Szövegdoboz 8">
            <a:extLst>
              <a:ext uri="{FF2B5EF4-FFF2-40B4-BE49-F238E27FC236}">
                <a16:creationId xmlns:a16="http://schemas.microsoft.com/office/drawing/2014/main" id="{1926C1A4-C1FB-3918-B29C-C6BCCDE911BB}"/>
              </a:ext>
            </a:extLst>
          </p:cNvPr>
          <p:cNvSpPr txBox="1"/>
          <p:nvPr/>
        </p:nvSpPr>
        <p:spPr>
          <a:xfrm>
            <a:off x="4572000" y="179138"/>
            <a:ext cx="4165600" cy="584775"/>
          </a:xfrm>
          <a:prstGeom prst="rect">
            <a:avLst/>
          </a:prstGeom>
          <a:noFill/>
        </p:spPr>
        <p:txBody>
          <a:bodyPr wrap="square" rtlCol="0">
            <a:spAutoFit/>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hu-HU" sz="3200" dirty="0" err="1">
                <a:solidFill>
                  <a:schemeClr val="bg1"/>
                </a:solidFill>
              </a:rPr>
              <a:t>Worklogs</a:t>
            </a:r>
            <a:r>
              <a:rPr lang="hu-HU" sz="3200" dirty="0">
                <a:solidFill>
                  <a:schemeClr val="bg1"/>
                </a:solidFill>
              </a:rPr>
              <a:t> and </a:t>
            </a:r>
            <a:r>
              <a:rPr lang="hu-HU" sz="3200" dirty="0" err="1">
                <a:solidFill>
                  <a:schemeClr val="bg1"/>
                </a:solidFill>
              </a:rPr>
              <a:t>commits</a:t>
            </a:r>
            <a:endParaRPr lang="hu-HU" sz="3200" dirty="0">
              <a:solidFill>
                <a:schemeClr val="bg1"/>
              </a:solidFill>
            </a:endParaRPr>
          </a:p>
        </p:txBody>
      </p:sp>
      <p:sp>
        <p:nvSpPr>
          <p:cNvPr id="5" name="Téglalap 4">
            <a:extLst>
              <a:ext uri="{FF2B5EF4-FFF2-40B4-BE49-F238E27FC236}">
                <a16:creationId xmlns:a16="http://schemas.microsoft.com/office/drawing/2014/main" id="{AE7C6280-15FE-B7DF-EF24-8353D43822DC}"/>
              </a:ext>
            </a:extLst>
          </p:cNvPr>
          <p:cNvSpPr/>
          <p:nvPr/>
        </p:nvSpPr>
        <p:spPr>
          <a:xfrm>
            <a:off x="8531253" y="7408858"/>
            <a:ext cx="970006" cy="342399"/>
          </a:xfrm>
          <a:prstGeom prst="rect">
            <a:avLst/>
          </a:prstGeom>
          <a:solidFill>
            <a:srgbClr val="242429"/>
          </a:solidFill>
          <a:ln>
            <a:solidFill>
              <a:srgbClr val="2424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hu-HU"/>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hu-HU"/>
          </a:p>
        </p:txBody>
      </p:sp>
      <p:graphicFrame>
        <p:nvGraphicFramePr>
          <p:cNvPr id="6" name="Diagram 5">
            <a:extLst>
              <a:ext uri="{FF2B5EF4-FFF2-40B4-BE49-F238E27FC236}">
                <a16:creationId xmlns:a16="http://schemas.microsoft.com/office/drawing/2014/main" id="{BFBBEF46-0561-FD10-5368-8A466C5072FD}"/>
              </a:ext>
            </a:extLst>
          </p:cNvPr>
          <p:cNvGraphicFramePr/>
          <p:nvPr>
            <p:extLst>
              <p:ext uri="{D42A27DB-BD31-4B8C-83A1-F6EECF244321}">
                <p14:modId xmlns:p14="http://schemas.microsoft.com/office/powerpoint/2010/main" val="2794993833"/>
              </p:ext>
            </p:extLst>
          </p:nvPr>
        </p:nvGraphicFramePr>
        <p:xfrm>
          <a:off x="-1436915" y="209119"/>
          <a:ext cx="7199086" cy="4755243"/>
        </p:xfrm>
        <a:graphic>
          <a:graphicData uri="http://schemas.openxmlformats.org/drawingml/2006/chart">
            <c:chart xmlns:c="http://schemas.openxmlformats.org/drawingml/2006/chart" xmlns:r="http://schemas.openxmlformats.org/officeDocument/2006/relationships" r:id="rId3"/>
          </a:graphicData>
        </a:graphic>
      </p:graphicFrame>
      <p:sp>
        <p:nvSpPr>
          <p:cNvPr id="7" name="Téglalap 6">
            <a:extLst>
              <a:ext uri="{FF2B5EF4-FFF2-40B4-BE49-F238E27FC236}">
                <a16:creationId xmlns:a16="http://schemas.microsoft.com/office/drawing/2014/main" id="{47724EF0-E79A-31CD-0068-D6AB83AF3662}"/>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3085920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004789" y="525735"/>
            <a:ext cx="4905747" cy="442987"/>
          </a:xfrm>
          <a:prstGeom prst="rect">
            <a:avLst/>
          </a:prstGeom>
          <a:noFill/>
          <a:ln/>
        </p:spPr>
        <p:txBody>
          <a:bodyPr wrap="none" lIns="0" tIns="0" rIns="0" bIns="0" rtlCol="0" anchor="t"/>
          <a:lstStyle/>
          <a:p>
            <a:pPr marL="0" indent="0" algn="ctr">
              <a:lnSpc>
                <a:spcPct val="104000"/>
              </a:lnSpc>
              <a:buNone/>
            </a:pPr>
            <a:r>
              <a:rPr lang="en-US" sz="2750" dirty="0">
                <a:solidFill>
                  <a:srgbClr val="FFFFFF"/>
                </a:solidFill>
                <a:latin typeface="Roboto Medium" pitchFamily="34" charset="0"/>
                <a:ea typeface="Roboto Medium" pitchFamily="34" charset="-122"/>
                <a:cs typeface="Roboto Medium" pitchFamily="34" charset="-120"/>
              </a:rPr>
              <a:t>Thank You for Your Attention!</a:t>
            </a:r>
            <a:endParaRPr lang="en-US" sz="2750" dirty="0"/>
          </a:p>
        </p:txBody>
      </p:sp>
      <p:sp>
        <p:nvSpPr>
          <p:cNvPr id="3" name="Text 1"/>
          <p:cNvSpPr/>
          <p:nvPr/>
        </p:nvSpPr>
        <p:spPr>
          <a:xfrm>
            <a:off x="799207" y="1181323"/>
            <a:ext cx="7316912" cy="886048"/>
          </a:xfrm>
          <a:prstGeom prst="rect">
            <a:avLst/>
          </a:prstGeom>
          <a:noFill/>
          <a:ln/>
        </p:spPr>
        <p:txBody>
          <a:bodyPr wrap="none" lIns="0" tIns="0" rIns="0" bIns="0" rtlCol="0" anchor="t"/>
          <a:lstStyle/>
          <a:p>
            <a:pPr marL="0" indent="0" algn="ctr">
              <a:lnSpc>
                <a:spcPct val="104000"/>
              </a:lnSpc>
              <a:buNone/>
            </a:pPr>
            <a:r>
              <a:rPr lang="en-US" sz="5550" dirty="0">
                <a:solidFill>
                  <a:srgbClr val="FFFFFF"/>
                </a:solidFill>
                <a:latin typeface="Roboto Medium" pitchFamily="34" charset="0"/>
                <a:ea typeface="Roboto Medium" pitchFamily="34" charset="-122"/>
                <a:cs typeface="Roboto Medium" pitchFamily="34" charset="-120"/>
              </a:rPr>
              <a:t>RaktarPro</a:t>
            </a:r>
            <a:endParaRPr lang="en-US" sz="5550" dirty="0"/>
          </a:p>
        </p:txBody>
      </p:sp>
      <p:sp>
        <p:nvSpPr>
          <p:cNvPr id="4" name="Text 2"/>
          <p:cNvSpPr/>
          <p:nvPr/>
        </p:nvSpPr>
        <p:spPr>
          <a:xfrm>
            <a:off x="267519" y="2279972"/>
            <a:ext cx="8380363" cy="226814"/>
          </a:xfrm>
          <a:prstGeom prst="rect">
            <a:avLst/>
          </a:prstGeom>
          <a:noFill/>
          <a:ln/>
        </p:spPr>
        <p:txBody>
          <a:bodyPr wrap="none" lIns="0" tIns="0" rIns="0" bIns="0" rtlCol="0" anchor="t"/>
          <a:lstStyle/>
          <a:p>
            <a:pPr marL="0" indent="0" algn="ctr">
              <a:lnSpc>
                <a:spcPct val="133000"/>
              </a:lnSpc>
              <a:buNone/>
            </a:pPr>
            <a:r>
              <a:rPr lang="en-US" sz="1100" dirty="0">
                <a:solidFill>
                  <a:srgbClr val="CFD0D8"/>
                </a:solidFill>
                <a:latin typeface="Roboto" pitchFamily="34" charset="0"/>
                <a:ea typeface="Roboto" pitchFamily="34" charset="-122"/>
                <a:cs typeface="Roboto" pitchFamily="34" charset="-120"/>
              </a:rPr>
              <a:t>A complete full-stack warehouse and webshop system — built with passion, precision, and teamwork.</a:t>
            </a:r>
            <a:endParaRPr lang="en-US" sz="1100" dirty="0"/>
          </a:p>
        </p:txBody>
      </p:sp>
      <p:sp>
        <p:nvSpPr>
          <p:cNvPr id="5" name="Shape 3"/>
          <p:cNvSpPr/>
          <p:nvPr/>
        </p:nvSpPr>
        <p:spPr>
          <a:xfrm>
            <a:off x="496119" y="2666256"/>
            <a:ext cx="8151763" cy="965597"/>
          </a:xfrm>
          <a:prstGeom prst="roundRect">
            <a:avLst>
              <a:gd name="adj" fmla="val 6166"/>
            </a:avLst>
          </a:prstGeom>
          <a:solidFill>
            <a:srgbClr val="0F163E"/>
          </a:solidFill>
          <a:ln/>
        </p:spPr>
        <p:txBody>
          <a:bodyPr/>
          <a:lstStyle/>
          <a:p>
            <a:endParaRPr lang="hu-HU"/>
          </a:p>
        </p:txBody>
      </p:sp>
      <p:sp>
        <p:nvSpPr>
          <p:cNvPr id="7" name="Text 4"/>
          <p:cNvSpPr/>
          <p:nvPr/>
        </p:nvSpPr>
        <p:spPr>
          <a:xfrm>
            <a:off x="1001092" y="2843436"/>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oboto Medium" pitchFamily="34" charset="0"/>
                <a:ea typeface="Roboto Medium" pitchFamily="34" charset="-122"/>
                <a:cs typeface="Roboto Medium" pitchFamily="34" charset="-120"/>
              </a:rPr>
              <a:t>Questions?</a:t>
            </a:r>
            <a:endParaRPr lang="en-US" sz="1350" dirty="0"/>
          </a:p>
        </p:txBody>
      </p:sp>
      <p:sp>
        <p:nvSpPr>
          <p:cNvPr id="8" name="Text 5"/>
          <p:cNvSpPr/>
          <p:nvPr/>
        </p:nvSpPr>
        <p:spPr>
          <a:xfrm>
            <a:off x="1001092" y="3206651"/>
            <a:ext cx="7962230" cy="226814"/>
          </a:xfrm>
          <a:prstGeom prst="rect">
            <a:avLst/>
          </a:prstGeom>
          <a:noFill/>
          <a:ln/>
        </p:spPr>
        <p:txBody>
          <a:bodyPr wrap="none" lIns="0" tIns="0" rIns="0" bIns="0" rtlCol="0" anchor="t"/>
          <a:lstStyle/>
          <a:p>
            <a:pPr marL="0" indent="0" algn="l">
              <a:lnSpc>
                <a:spcPct val="133000"/>
              </a:lnSpc>
              <a:buNone/>
            </a:pPr>
            <a:r>
              <a:rPr lang="en-US" sz="1100" dirty="0">
                <a:solidFill>
                  <a:srgbClr val="FFFFFF"/>
                </a:solidFill>
                <a:latin typeface="Roboto" pitchFamily="34" charset="0"/>
                <a:ea typeface="Roboto" pitchFamily="34" charset="-122"/>
                <a:cs typeface="Roboto" pitchFamily="34" charset="-120"/>
              </a:rPr>
              <a:t>We'd love to hear your thoughts and answer any questions about RaktarPro's architecture, features, or future roadmap.</a:t>
            </a:r>
            <a:endParaRPr lang="en-US" sz="1100" dirty="0"/>
          </a:p>
        </p:txBody>
      </p:sp>
      <p:sp>
        <p:nvSpPr>
          <p:cNvPr id="9" name="Shape 6"/>
          <p:cNvSpPr/>
          <p:nvPr/>
        </p:nvSpPr>
        <p:spPr>
          <a:xfrm>
            <a:off x="496119" y="3791322"/>
            <a:ext cx="8151763" cy="826368"/>
          </a:xfrm>
          <a:prstGeom prst="roundRect">
            <a:avLst>
              <a:gd name="adj" fmla="val 7205"/>
            </a:avLst>
          </a:prstGeom>
          <a:solidFill>
            <a:srgbClr val="182567"/>
          </a:solidFill>
          <a:ln w="4763">
            <a:solidFill>
              <a:srgbClr val="313E80"/>
            </a:solidFill>
            <a:prstDash val="solid"/>
          </a:ln>
        </p:spPr>
        <p:txBody>
          <a:bodyPr/>
          <a:lstStyle/>
          <a:p>
            <a:endParaRPr lang="hu-HU"/>
          </a:p>
        </p:txBody>
      </p:sp>
      <p:sp>
        <p:nvSpPr>
          <p:cNvPr id="10" name="Shape 7"/>
          <p:cNvSpPr/>
          <p:nvPr/>
        </p:nvSpPr>
        <p:spPr>
          <a:xfrm>
            <a:off x="500881" y="3796085"/>
            <a:ext cx="2714030" cy="816843"/>
          </a:xfrm>
          <a:prstGeom prst="roundRect">
            <a:avLst>
              <a:gd name="adj" fmla="val 7289"/>
            </a:avLst>
          </a:prstGeom>
          <a:solidFill>
            <a:srgbClr val="182567"/>
          </a:solidFill>
          <a:ln/>
        </p:spPr>
        <p:txBody>
          <a:bodyPr/>
          <a:lstStyle/>
          <a:p>
            <a:endParaRPr lang="hu-HU"/>
          </a:p>
        </p:txBody>
      </p:sp>
      <p:sp>
        <p:nvSpPr>
          <p:cNvPr id="11" name="Text 8"/>
          <p:cNvSpPr/>
          <p:nvPr/>
        </p:nvSpPr>
        <p:spPr>
          <a:xfrm>
            <a:off x="642640" y="393784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Frontend</a:t>
            </a:r>
            <a:endParaRPr lang="en-US" sz="1350" dirty="0"/>
          </a:p>
        </p:txBody>
      </p:sp>
      <p:sp>
        <p:nvSpPr>
          <p:cNvPr id="12" name="Text 9"/>
          <p:cNvSpPr/>
          <p:nvPr/>
        </p:nvSpPr>
        <p:spPr>
          <a:xfrm>
            <a:off x="642640" y="4244355"/>
            <a:ext cx="2430512"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Molnár Dániel</a:t>
            </a:r>
            <a:endParaRPr lang="en-US" sz="1100" dirty="0"/>
          </a:p>
        </p:txBody>
      </p:sp>
      <p:sp>
        <p:nvSpPr>
          <p:cNvPr id="13" name="Shape 10"/>
          <p:cNvSpPr/>
          <p:nvPr/>
        </p:nvSpPr>
        <p:spPr>
          <a:xfrm>
            <a:off x="3214911" y="3796085"/>
            <a:ext cx="2714104" cy="816843"/>
          </a:xfrm>
          <a:prstGeom prst="rect">
            <a:avLst/>
          </a:prstGeom>
          <a:solidFill>
            <a:srgbClr val="182567"/>
          </a:solidFill>
          <a:ln/>
        </p:spPr>
        <p:txBody>
          <a:bodyPr/>
          <a:lstStyle/>
          <a:p>
            <a:endParaRPr lang="hu-HU"/>
          </a:p>
        </p:txBody>
      </p:sp>
      <p:sp>
        <p:nvSpPr>
          <p:cNvPr id="14" name="Shape 11"/>
          <p:cNvSpPr/>
          <p:nvPr/>
        </p:nvSpPr>
        <p:spPr>
          <a:xfrm>
            <a:off x="3214911" y="3796085"/>
            <a:ext cx="19050" cy="816843"/>
          </a:xfrm>
          <a:prstGeom prst="roundRect">
            <a:avLst>
              <a:gd name="adj" fmla="val 312558"/>
            </a:avLst>
          </a:prstGeom>
          <a:solidFill>
            <a:srgbClr val="313E80"/>
          </a:solidFill>
          <a:ln/>
        </p:spPr>
        <p:txBody>
          <a:bodyPr/>
          <a:lstStyle/>
          <a:p>
            <a:endParaRPr lang="hu-HU"/>
          </a:p>
        </p:txBody>
      </p:sp>
      <p:sp>
        <p:nvSpPr>
          <p:cNvPr id="15" name="Text 12"/>
          <p:cNvSpPr/>
          <p:nvPr/>
        </p:nvSpPr>
        <p:spPr>
          <a:xfrm>
            <a:off x="3356670" y="393784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Database</a:t>
            </a:r>
            <a:endParaRPr lang="en-US" sz="1350" dirty="0"/>
          </a:p>
        </p:txBody>
      </p:sp>
      <p:sp>
        <p:nvSpPr>
          <p:cNvPr id="16" name="Text 13"/>
          <p:cNvSpPr/>
          <p:nvPr/>
        </p:nvSpPr>
        <p:spPr>
          <a:xfrm>
            <a:off x="3356670" y="4244355"/>
            <a:ext cx="2430587"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Molnár Máté</a:t>
            </a:r>
            <a:endParaRPr lang="en-US" sz="1100" dirty="0"/>
          </a:p>
        </p:txBody>
      </p:sp>
      <p:sp>
        <p:nvSpPr>
          <p:cNvPr id="17" name="Shape 14"/>
          <p:cNvSpPr/>
          <p:nvPr/>
        </p:nvSpPr>
        <p:spPr>
          <a:xfrm>
            <a:off x="5929015" y="3796085"/>
            <a:ext cx="2714104" cy="816843"/>
          </a:xfrm>
          <a:prstGeom prst="rect">
            <a:avLst/>
          </a:prstGeom>
          <a:solidFill>
            <a:srgbClr val="182567"/>
          </a:solidFill>
          <a:ln/>
        </p:spPr>
        <p:txBody>
          <a:bodyPr/>
          <a:lstStyle/>
          <a:p>
            <a:endParaRPr lang="hu-HU"/>
          </a:p>
        </p:txBody>
      </p:sp>
      <p:sp>
        <p:nvSpPr>
          <p:cNvPr id="18" name="Shape 15"/>
          <p:cNvSpPr/>
          <p:nvPr/>
        </p:nvSpPr>
        <p:spPr>
          <a:xfrm>
            <a:off x="5929015" y="3796085"/>
            <a:ext cx="19050" cy="816843"/>
          </a:xfrm>
          <a:prstGeom prst="roundRect">
            <a:avLst>
              <a:gd name="adj" fmla="val 312558"/>
            </a:avLst>
          </a:prstGeom>
          <a:solidFill>
            <a:srgbClr val="313E80"/>
          </a:solidFill>
          <a:ln/>
        </p:spPr>
        <p:txBody>
          <a:bodyPr/>
          <a:lstStyle/>
          <a:p>
            <a:endParaRPr lang="hu-HU"/>
          </a:p>
        </p:txBody>
      </p:sp>
      <p:sp>
        <p:nvSpPr>
          <p:cNvPr id="19" name="Text 16"/>
          <p:cNvSpPr/>
          <p:nvPr/>
        </p:nvSpPr>
        <p:spPr>
          <a:xfrm>
            <a:off x="6070774" y="393784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Backend</a:t>
            </a:r>
            <a:endParaRPr lang="en-US" sz="1350" dirty="0"/>
          </a:p>
        </p:txBody>
      </p:sp>
      <p:sp>
        <p:nvSpPr>
          <p:cNvPr id="20" name="Text 17"/>
          <p:cNvSpPr/>
          <p:nvPr/>
        </p:nvSpPr>
        <p:spPr>
          <a:xfrm>
            <a:off x="6070774" y="4244355"/>
            <a:ext cx="2430587"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Trubics Gorán</a:t>
            </a:r>
            <a:endParaRPr lang="en-US" sz="1100" dirty="0"/>
          </a:p>
        </p:txBody>
      </p:sp>
      <p:sp>
        <p:nvSpPr>
          <p:cNvPr id="23" name="Téglalap 22">
            <a:extLst>
              <a:ext uri="{FF2B5EF4-FFF2-40B4-BE49-F238E27FC236}">
                <a16:creationId xmlns:a16="http://schemas.microsoft.com/office/drawing/2014/main" id="{0B1FAE56-CB34-BB8D-BC04-DDBA1737C330}"/>
              </a:ext>
            </a:extLst>
          </p:cNvPr>
          <p:cNvSpPr/>
          <p:nvPr/>
        </p:nvSpPr>
        <p:spPr>
          <a:xfrm>
            <a:off x="8029903" y="4855779"/>
            <a:ext cx="1114097" cy="287721"/>
          </a:xfrm>
          <a:prstGeom prst="rect">
            <a:avLst/>
          </a:prstGeom>
          <a:solidFill>
            <a:srgbClr val="000019"/>
          </a:solidFill>
          <a:ln>
            <a:solidFill>
              <a:srgbClr val="0000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1132</Words>
  <Application>Microsoft Office PowerPoint</Application>
  <PresentationFormat>Diavetítés a képernyőre (16:9 oldalarány)</PresentationFormat>
  <Paragraphs>171</Paragraphs>
  <Slides>16</Slides>
  <Notes>8</Notes>
  <HiddenSlides>0</HiddenSlides>
  <MMClips>0</MMClips>
  <ScaleCrop>false</ScaleCrop>
  <HeadingPairs>
    <vt:vector size="6" baseType="variant">
      <vt:variant>
        <vt:lpstr>Használt betűtípusok</vt:lpstr>
      </vt:variant>
      <vt:variant>
        <vt:i4>4</vt:i4>
      </vt:variant>
      <vt:variant>
        <vt:lpstr>Téma</vt:lpstr>
      </vt:variant>
      <vt:variant>
        <vt:i4>1</vt:i4>
      </vt:variant>
      <vt:variant>
        <vt:lpstr>Diacímek</vt:lpstr>
      </vt:variant>
      <vt:variant>
        <vt:i4>16</vt:i4>
      </vt:variant>
    </vt:vector>
  </HeadingPairs>
  <TitlesOfParts>
    <vt:vector size="21" baseType="lpstr">
      <vt:lpstr>Roboto</vt:lpstr>
      <vt:lpstr>Arial</vt:lpstr>
      <vt:lpstr>Roboto Medium</vt:lpstr>
      <vt:lpstr>Roboto Light</vt:lpstr>
      <vt:lpstr>Office Theme</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O365 felhasználó</cp:lastModifiedBy>
  <cp:revision>2</cp:revision>
  <dcterms:created xsi:type="dcterms:W3CDTF">2026-05-21T16:22:42Z</dcterms:created>
  <dcterms:modified xsi:type="dcterms:W3CDTF">2026-05-21T21:20:33Z</dcterms:modified>
</cp:coreProperties>
</file>